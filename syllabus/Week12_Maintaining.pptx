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3" r:id="rId1"/>
    <p:sldMasterId id="2147483659" r:id="rId2"/>
  </p:sldMasterIdLst>
  <p:notesMasterIdLst>
    <p:notesMasterId r:id="rId16"/>
  </p:notesMasterIdLst>
  <p:handoutMasterIdLst>
    <p:handoutMasterId r:id="rId17"/>
  </p:handoutMasterIdLst>
  <p:sldIdLst>
    <p:sldId id="270" r:id="rId3"/>
    <p:sldId id="471" r:id="rId4"/>
    <p:sldId id="464" r:id="rId5"/>
    <p:sldId id="472" r:id="rId6"/>
    <p:sldId id="520" r:id="rId7"/>
    <p:sldId id="465" r:id="rId8"/>
    <p:sldId id="466" r:id="rId9"/>
    <p:sldId id="526" r:id="rId10"/>
    <p:sldId id="527" r:id="rId11"/>
    <p:sldId id="545" r:id="rId12"/>
    <p:sldId id="537" r:id="rId13"/>
    <p:sldId id="546" r:id="rId14"/>
    <p:sldId id="547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effrey Holcomb" initials="" lastIdx="3" clrIdx="0"/>
  <p:cmAuthor id="1" name="Ruchi Sachdev" initials="" lastIdx="8" clrIdx="1"/>
  <p:cmAuthor id="2" name="Sarah Reusché" initials="" lastIdx="13" clrIdx="2"/>
  <p:cmAuthor id="3" name="Nitin Shankar" initials="" lastIdx="6" clrIdx="3"/>
  <p:cmAuthor id="4" name="Kristen Flathman" initials="" lastIdx="1" clrIdx="4"/>
  <p:cmAuthor id="5" name="Ben Schroeter" initials="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F9630F-82C1-40B7-BC3A-925EFCFF5E92}">
  <a:tblStyle styleId="{40F9630F-82C1-40B7-BC3A-925EFCFF5E9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5" autoAdjust="0"/>
    <p:restoredTop sz="92011" autoAdjust="0"/>
  </p:normalViewPr>
  <p:slideViewPr>
    <p:cSldViewPr snapToGrid="0" snapToObjects="1">
      <p:cViewPr varScale="1">
        <p:scale>
          <a:sx n="60" d="100"/>
          <a:sy n="60" d="100"/>
        </p:scale>
        <p:origin x="1536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31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346"/>
    </p:cViewPr>
  </p:sorterViewPr>
  <p:notesViewPr>
    <p:cSldViewPr snapToGrid="0" snapToObjects="1">
      <p:cViewPr varScale="1">
        <p:scale>
          <a:sx n="85" d="100"/>
          <a:sy n="85" d="100"/>
        </p:scale>
        <p:origin x="380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5CB01-6679-D646-ACB3-8B04B786C15F}" type="datetimeFigureOut">
              <a:rPr lang="en-US" smtClean="0"/>
              <a:t>12/7/2022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C0F4D-8A6F-1C4A-B6BF-1558431E4F7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063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710270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4943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/>
        </p:nvSpPr>
        <p:spPr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 w="25400" cap="flat" cmpd="sng">
            <a:solidFill>
              <a:srgbClr val="007FA3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Font typeface="Times New Roman"/>
              <a:buNone/>
              <a:defRPr sz="3600" b="1" i="0" u="none" strike="noStrike" cap="none">
                <a:solidFill>
                  <a:schemeClr val="lt1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674687" y="3962400"/>
            <a:ext cx="7794625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1" name="Shape 2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Shape 2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B9DA-1DAD-4AB4-94B2-688DFC8B09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4693" y="6407662"/>
            <a:ext cx="7194635" cy="334534"/>
          </a:xfrm>
        </p:spPr>
        <p:txBody>
          <a:bodyPr/>
          <a:lstStyle>
            <a:lvl1pPr marL="101600" indent="0" algn="r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copyright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C35AB9-24C4-47CB-AA83-05CAEBB6D99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3663" y="6407150"/>
            <a:ext cx="1401762" cy="334963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21594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CB993-AC2C-41C5-BFB7-F2499EC1A1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1512888"/>
            <a:ext cx="8232775" cy="34178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09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igure + Cap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33AD-BE5C-406D-991C-6AC56003E7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6B7D3D-89C9-4133-8D8A-D779EB3D31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481138"/>
            <a:ext cx="4484688" cy="440848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5A3C12-C176-4C2E-9820-6A6035C43A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2713" y="1481138"/>
            <a:ext cx="3592512" cy="37544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59F1CC-D06F-4B10-B166-6D6F2C78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2713" y="5399088"/>
            <a:ext cx="3592512" cy="490537"/>
          </a:xfrm>
        </p:spPr>
        <p:txBody>
          <a:bodyPr/>
          <a:lstStyle>
            <a:lvl1pPr marL="101600" indent="0">
              <a:buNone/>
              <a:defRPr sz="1200"/>
            </a:lvl1pPr>
          </a:lstStyle>
          <a:p>
            <a:pPr lvl="0"/>
            <a:r>
              <a:rPr lang="en-US" dirty="0"/>
              <a:t>Caption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D4E5D-00F7-4DC6-9BB0-713B8A0DA35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4094-2296-458C-908A-D778D0DF5AF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A6EBD-95B8-4957-AE05-FC01EF650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42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title" hasCustomPrompt="1"/>
          </p:nvPr>
        </p:nvSpPr>
        <p:spPr>
          <a:xfrm>
            <a:off x="685800" y="1447800"/>
            <a:ext cx="7772400" cy="215265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	</a:t>
            </a:r>
            <a:endParaRPr dirty="0"/>
          </a:p>
        </p:txBody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74687" y="3962400"/>
            <a:ext cx="7794626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60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6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300"/>
              </a:spcBef>
              <a:buClr>
                <a:srgbClr val="007FA3"/>
              </a:buClr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1" name="Shape 71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Shape 73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91D3-E16C-46AB-9A90-0F52CA81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title">
            <a:extLst>
              <a:ext uri="{FF2B5EF4-FFF2-40B4-BE49-F238E27FC236}">
                <a16:creationId xmlns:a16="http://schemas.microsoft.com/office/drawing/2014/main" id="{CB345607-C53C-44AF-8929-3BDC4C617A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2913" y="4359275"/>
            <a:ext cx="3482975" cy="60007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title</a:t>
            </a:r>
          </a:p>
        </p:txBody>
      </p:sp>
      <p:sp>
        <p:nvSpPr>
          <p:cNvPr id="9" name="Image">
            <a:extLst>
              <a:ext uri="{FF2B5EF4-FFF2-40B4-BE49-F238E27FC236}">
                <a16:creationId xmlns:a16="http://schemas.microsoft.com/office/drawing/2014/main" id="{C2661E64-2E71-47E6-A5A0-AC5348C08F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82912" y="1681163"/>
            <a:ext cx="3482975" cy="2559050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</a:t>
            </a:r>
          </a:p>
        </p:txBody>
      </p:sp>
      <p:sp>
        <p:nvSpPr>
          <p:cNvPr id="11" name="Label 1">
            <a:extLst>
              <a:ext uri="{FF2B5EF4-FFF2-40B4-BE49-F238E27FC236}">
                <a16:creationId xmlns:a16="http://schemas.microsoft.com/office/drawing/2014/main" id="{3D0F2ED9-E212-40DC-A528-BE4A28DE88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8109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</a:t>
            </a:r>
          </a:p>
        </p:txBody>
      </p:sp>
      <p:sp>
        <p:nvSpPr>
          <p:cNvPr id="13" name="Label 2">
            <a:extLst>
              <a:ext uri="{FF2B5EF4-FFF2-40B4-BE49-F238E27FC236}">
                <a16:creationId xmlns:a16="http://schemas.microsoft.com/office/drawing/2014/main" id="{E8D9AEEF-5E99-48D4-B8C3-C5A995764D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325" y="2643044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</a:t>
            </a:r>
          </a:p>
        </p:txBody>
      </p:sp>
      <p:sp>
        <p:nvSpPr>
          <p:cNvPr id="15" name="Label 3">
            <a:extLst>
              <a:ext uri="{FF2B5EF4-FFF2-40B4-BE49-F238E27FC236}">
                <a16:creationId xmlns:a16="http://schemas.microsoft.com/office/drawing/2014/main" id="{99D329CE-18C4-40A9-A508-1684979AC2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325" y="3613151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3</a:t>
            </a:r>
          </a:p>
        </p:txBody>
      </p:sp>
      <p:sp>
        <p:nvSpPr>
          <p:cNvPr id="17" name="Label 4">
            <a:extLst>
              <a:ext uri="{FF2B5EF4-FFF2-40B4-BE49-F238E27FC236}">
                <a16:creationId xmlns:a16="http://schemas.microsoft.com/office/drawing/2014/main" id="{AAE735D1-F9F4-4525-9ED5-F10A99DECC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9412" y="1681163"/>
            <a:ext cx="1957388" cy="62706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4</a:t>
            </a:r>
          </a:p>
        </p:txBody>
      </p:sp>
      <p:sp>
        <p:nvSpPr>
          <p:cNvPr id="19" name="Label 5">
            <a:extLst>
              <a:ext uri="{FF2B5EF4-FFF2-40B4-BE49-F238E27FC236}">
                <a16:creationId xmlns:a16="http://schemas.microsoft.com/office/drawing/2014/main" id="{43259E0C-9247-446E-9183-FBF70F8FD41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29413" y="2651910"/>
            <a:ext cx="1957387" cy="618196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5</a:t>
            </a:r>
          </a:p>
        </p:txBody>
      </p:sp>
      <p:sp>
        <p:nvSpPr>
          <p:cNvPr id="21" name="Label 6">
            <a:extLst>
              <a:ext uri="{FF2B5EF4-FFF2-40B4-BE49-F238E27FC236}">
                <a16:creationId xmlns:a16="http://schemas.microsoft.com/office/drawing/2014/main" id="{111F58DF-A1C1-4DD6-ADE5-FC54A39F67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29413" y="3613151"/>
            <a:ext cx="1957387" cy="627063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B7866-709E-4B26-BCD7-5CF284C134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9F10E-ACBA-4EA4-B23A-AC32FC5A681B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EC9E9-2CDA-42DF-A6E1-55B455A7E6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899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36A59-5DE4-46F3-8035-460E546D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Image 1 title">
            <a:extLst>
              <a:ext uri="{FF2B5EF4-FFF2-40B4-BE49-F238E27FC236}">
                <a16:creationId xmlns:a16="http://schemas.microsoft.com/office/drawing/2014/main" id="{2BEC12FB-EC67-436F-875F-0A306862EF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4392613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1 title</a:t>
            </a:r>
          </a:p>
        </p:txBody>
      </p:sp>
      <p:sp>
        <p:nvSpPr>
          <p:cNvPr id="9" name="Image 1">
            <a:extLst>
              <a:ext uri="{FF2B5EF4-FFF2-40B4-BE49-F238E27FC236}">
                <a16:creationId xmlns:a16="http://schemas.microsoft.com/office/drawing/2014/main" id="{1E9C9C32-F8ED-4AA8-AA00-26A2357E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1817688"/>
            <a:ext cx="2107324" cy="2386012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1</a:t>
            </a:r>
          </a:p>
        </p:txBody>
      </p:sp>
      <p:sp>
        <p:nvSpPr>
          <p:cNvPr id="11" name="Label 1.1">
            <a:extLst>
              <a:ext uri="{FF2B5EF4-FFF2-40B4-BE49-F238E27FC236}">
                <a16:creationId xmlns:a16="http://schemas.microsoft.com/office/drawing/2014/main" id="{BD50A136-2F5A-4764-ADDC-D48D703981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4622" y="1794947"/>
            <a:ext cx="1534619" cy="59185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1.1</a:t>
            </a:r>
          </a:p>
        </p:txBody>
      </p:sp>
      <p:sp>
        <p:nvSpPr>
          <p:cNvPr id="13" name="Label 1.2">
            <a:extLst>
              <a:ext uri="{FF2B5EF4-FFF2-40B4-BE49-F238E27FC236}">
                <a16:creationId xmlns:a16="http://schemas.microsoft.com/office/drawing/2014/main" id="{16926224-3F90-4884-9AC1-A5381D7880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4622" y="2707481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1.2</a:t>
            </a:r>
          </a:p>
        </p:txBody>
      </p:sp>
      <p:sp>
        <p:nvSpPr>
          <p:cNvPr id="15" name="Label 1.3">
            <a:extLst>
              <a:ext uri="{FF2B5EF4-FFF2-40B4-BE49-F238E27FC236}">
                <a16:creationId xmlns:a16="http://schemas.microsoft.com/office/drawing/2014/main" id="{D4719473-9C3F-493C-B20E-27CDBBA38B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4622" y="3597275"/>
            <a:ext cx="1534619" cy="6064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1.3</a:t>
            </a:r>
          </a:p>
        </p:txBody>
      </p:sp>
      <p:sp>
        <p:nvSpPr>
          <p:cNvPr id="17" name="Image 2 title">
            <a:extLst>
              <a:ext uri="{FF2B5EF4-FFF2-40B4-BE49-F238E27FC236}">
                <a16:creationId xmlns:a16="http://schemas.microsoft.com/office/drawing/2014/main" id="{DC526974-AF8C-4228-AAAA-33D0B8AB71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31596" y="4347439"/>
            <a:ext cx="2107323" cy="504825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Image 2 title</a:t>
            </a:r>
          </a:p>
        </p:txBody>
      </p:sp>
      <p:sp>
        <p:nvSpPr>
          <p:cNvPr id="19" name="Image 2">
            <a:extLst>
              <a:ext uri="{FF2B5EF4-FFF2-40B4-BE49-F238E27FC236}">
                <a16:creationId xmlns:a16="http://schemas.microsoft.com/office/drawing/2014/main" id="{812D2BB4-4991-47F8-9E82-9C9B41B052F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1596" y="1806537"/>
            <a:ext cx="2107323" cy="239716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r>
              <a:rPr lang="en-US" dirty="0"/>
              <a:t>Image 2</a:t>
            </a:r>
          </a:p>
        </p:txBody>
      </p:sp>
      <p:sp>
        <p:nvSpPr>
          <p:cNvPr id="21" name="Label 2.1">
            <a:extLst>
              <a:ext uri="{FF2B5EF4-FFF2-40B4-BE49-F238E27FC236}">
                <a16:creationId xmlns:a16="http://schemas.microsoft.com/office/drawing/2014/main" id="{15D9E78D-62D4-4D7C-8E37-E1A000DA23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04580" y="1794947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2.1</a:t>
            </a:r>
          </a:p>
        </p:txBody>
      </p:sp>
      <p:sp>
        <p:nvSpPr>
          <p:cNvPr id="23" name="Label 2.2">
            <a:extLst>
              <a:ext uri="{FF2B5EF4-FFF2-40B4-BE49-F238E27FC236}">
                <a16:creationId xmlns:a16="http://schemas.microsoft.com/office/drawing/2014/main" id="{0ECEA5DA-0702-46DA-A4DD-66B7E7FF42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04579" y="2707481"/>
            <a:ext cx="1534619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2.2</a:t>
            </a:r>
          </a:p>
        </p:txBody>
      </p:sp>
      <p:sp>
        <p:nvSpPr>
          <p:cNvPr id="25" name="Label 2.3">
            <a:extLst>
              <a:ext uri="{FF2B5EF4-FFF2-40B4-BE49-F238E27FC236}">
                <a16:creationId xmlns:a16="http://schemas.microsoft.com/office/drawing/2014/main" id="{64C63D68-E200-46DF-8E34-92DC66FE87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304579" y="3579818"/>
            <a:ext cx="1534620" cy="608524"/>
          </a:xfrm>
        </p:spPr>
        <p:txBody>
          <a:bodyPr/>
          <a:lstStyle>
            <a:lvl1pPr marL="101600" indent="0">
              <a:buNone/>
              <a:defRPr/>
            </a:lvl1pPr>
          </a:lstStyle>
          <a:p>
            <a:pPr lvl="0"/>
            <a:r>
              <a:rPr lang="en-US" dirty="0"/>
              <a:t>Label 2.3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76705-5AD3-4E05-9DCF-CA01EBF96B1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9933-5FC5-4C73-96ED-E1AC0FC867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4DA0A-BA94-4C4E-A521-FB23D113A8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2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Shape 27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764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igure + Caption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dirty="0"/>
              <a:t>Click to add figure number and title</a:t>
            </a:r>
            <a:endParaRPr dirty="0"/>
          </a:p>
        </p:txBody>
      </p:sp>
      <p:sp>
        <p:nvSpPr>
          <p:cNvPr id="55" name="Shape 55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5050971"/>
            <a:ext cx="8229600" cy="101836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caption</a:t>
            </a:r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1BB07C-705F-4113-A2C5-779D6EA64D9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6326"/>
            <a:ext cx="8229600" cy="339178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729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Learning Objectives and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 hasCustomPrompt="1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600" b="1" i="0" u="none" strike="noStrike" cap="none">
                <a:solidFill>
                  <a:srgbClr val="007FA3"/>
                </a:solidFill>
                <a:latin typeface="+mj-lt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816429"/>
            <a:ext cx="8229600" cy="40276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1600" b="0" i="0" u="none" strike="noStrike" cap="none">
                <a:solidFill>
                  <a:srgbClr val="007F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Clr>
                <a:srgbClr val="007FA3"/>
              </a:buClr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Clr>
                <a:srgbClr val="007FA3"/>
              </a:buClr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add Learning Objective(s)</a:t>
            </a:r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2"/>
          </p:nvPr>
        </p:nvSpPr>
        <p:spPr>
          <a:xfrm>
            <a:off x="457200" y="1358678"/>
            <a:ext cx="8229600" cy="47674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2769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66445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6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buClr>
                <a:srgbClr val="007FA3"/>
              </a:buClr>
              <a:buFont typeface="Times New Roman"/>
              <a:buNone/>
              <a:defRPr sz="3400" b="1" i="0" u="none" strike="noStrike" cap="none">
                <a:solidFill>
                  <a:srgbClr val="007FA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3600" dirty="0">
                <a:latin typeface="+mj-lt"/>
              </a:rPr>
              <a:t>Click to add title</a:t>
            </a:r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42841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56032" marR="0" lvl="0" indent="-154432" algn="l" rtl="0">
              <a:spcBef>
                <a:spcPts val="15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marR="0" lvl="1" indent="-18415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lvl="2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lvl="3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lvl="4" indent="-127000" algn="l" rtl="0">
              <a:spcBef>
                <a:spcPts val="6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lvl="5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27000" algn="l" rtl="0">
              <a:spcBef>
                <a:spcPts val="300"/>
              </a:spcBef>
              <a:buClr>
                <a:srgbClr val="007FA3"/>
              </a:buClr>
              <a:buSzPct val="100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-US" sz="9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Shape 15" descr="Pearson Logo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 txBox="1"/>
          <p:nvPr/>
        </p:nvSpPr>
        <p:spPr>
          <a:xfrm>
            <a:off x="1600200" y="6429344"/>
            <a:ext cx="7162799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dirty="0"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Copyright © 2020, 2017, 2014 Pearson Education, Inc. All Rights Reserved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A108E-B0AF-4869-B5B8-3D3BB7BC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028611"/>
            <a:ext cx="8229600" cy="2005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5" r:id="rId3"/>
    <p:sldLayoutId id="2147483656" r:id="rId4"/>
    <p:sldLayoutId id="2147483670" r:id="rId5"/>
    <p:sldLayoutId id="2147483669" r:id="rId6"/>
    <p:sldLayoutId id="2147483657" r:id="rId7"/>
    <p:sldLayoutId id="2147483674" r:id="rId8"/>
    <p:sldLayoutId id="2147483677" r:id="rId9"/>
    <p:sldLayoutId id="214748367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6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Week 12</a:t>
            </a:r>
            <a:endParaRPr lang="en-US" dirty="0"/>
          </a:p>
        </p:txBody>
      </p:sp>
      <p:sp>
        <p:nvSpPr>
          <p:cNvPr id="199" name="Shape 19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rgbClr val="007FA3"/>
              </a:buClr>
              <a:buSzPct val="25000"/>
              <a:buFont typeface="Arial"/>
              <a:buNone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Maintaining Information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5BA5C-0F87-44FE-BF50-BC4EC5DE9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1: Systems Development Life Cycle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F390C13-C4E9-4F05-9D6A-BA9FC63C4C5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091" b="40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1739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Information Systems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595937"/>
            <a:ext cx="8229600" cy="4530226"/>
          </a:xfrm>
        </p:spPr>
        <p:txBody>
          <a:bodyPr/>
          <a:lstStyle/>
          <a:p>
            <a:pPr marL="586232" indent="-514350"/>
            <a:r>
              <a:rPr lang="en-US" sz="2800" dirty="0"/>
              <a:t>Four major activities occur within maintenance: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Obtaining maintenance requests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Transforming requests into changes 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Designing changes </a:t>
            </a:r>
          </a:p>
          <a:p>
            <a:pPr marL="1073150" lvl="1" indent="-514350">
              <a:buFont typeface="+mj-lt"/>
              <a:buAutoNum type="arabicPeriod"/>
            </a:pPr>
            <a:r>
              <a:rPr lang="en-US" sz="2400" dirty="0"/>
              <a:t>Implementing changes </a:t>
            </a:r>
          </a:p>
        </p:txBody>
      </p:sp>
    </p:spTree>
    <p:extLst>
      <p:ext uri="{BB962C8B-B14F-4D97-AF65-F5344CB8AC3E}">
        <p14:creationId xmlns:p14="http://schemas.microsoft.com/office/powerpoint/2010/main" val="3073783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/>
              <a:t>Figure 2: System Service Request for Purchasing Fulfillment System (PVF)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D49EBC-2C3F-448B-B98B-7B39C81B553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2492774" y="1449852"/>
            <a:ext cx="4158451" cy="4655526"/>
          </a:xfrm>
        </p:spPr>
      </p:pic>
    </p:spTree>
    <p:extLst>
      <p:ext uri="{BB962C8B-B14F-4D97-AF65-F5344CB8AC3E}">
        <p14:creationId xmlns:p14="http://schemas.microsoft.com/office/powerpoint/2010/main" val="161263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3: Maintenance Activities Parallel Those of the SDLC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F8CA1E-F6C8-4CC9-B069-55D52462B68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340918" y="1555750"/>
            <a:ext cx="6462163" cy="4000988"/>
          </a:xfrm>
        </p:spPr>
      </p:pic>
    </p:spTree>
    <p:extLst>
      <p:ext uri="{BB962C8B-B14F-4D97-AF65-F5344CB8AC3E}">
        <p14:creationId xmlns:p14="http://schemas.microsoft.com/office/powerpoint/2010/main" val="28121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and Outcomes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595937"/>
            <a:ext cx="8229600" cy="4530226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SDLC maintenance phase is a subset of the activities of the entire development process</a:t>
            </a:r>
          </a:p>
          <a:p>
            <a:pPr eaLnBrk="1" hangingPunct="1"/>
            <a:r>
              <a:rPr lang="en-US" altLang="en-US" sz="2800" dirty="0"/>
              <a:t>Development of a new version of the software and new versions of all design documents created or modified during maintenance</a:t>
            </a:r>
          </a:p>
          <a:p>
            <a:pPr marL="586232" indent="-51435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298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Types of Maintenance </a:t>
            </a:r>
            <a:r>
              <a:rPr lang="en-US" sz="2000" dirty="0"/>
              <a:t>(1 of 2)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595937"/>
            <a:ext cx="8229600" cy="4530226"/>
          </a:xfrm>
        </p:spPr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Maintenance</a:t>
            </a:r>
            <a:r>
              <a:rPr lang="en-US" sz="2800" dirty="0"/>
              <a:t> refers to changes made to a system to fix or enhance its functionality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Corrective maintenance </a:t>
            </a:r>
            <a:r>
              <a:rPr lang="en-US" sz="2800" dirty="0">
                <a:solidFill>
                  <a:schemeClr val="tx1"/>
                </a:solidFill>
              </a:rPr>
              <a:t>refers to c</a:t>
            </a:r>
            <a:r>
              <a:rPr lang="en-US" sz="2800" dirty="0"/>
              <a:t>hanges made to a system to repair flaws in its design, coding, or implementation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Adaptive maintenance </a:t>
            </a:r>
            <a:r>
              <a:rPr lang="en-US" sz="2800" dirty="0"/>
              <a:t>refers to changes made to a system to evolve its functionality to changing business needs or technologies</a:t>
            </a:r>
          </a:p>
          <a:p>
            <a:pPr marL="586232" indent="-514350"/>
            <a:endParaRPr 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9692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Maintenance </a:t>
            </a:r>
            <a:r>
              <a:rPr lang="en-US" sz="2000" dirty="0"/>
              <a:t>(of 2)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595937"/>
            <a:ext cx="8229600" cy="4530226"/>
          </a:xfrm>
        </p:spPr>
        <p:txBody>
          <a:bodyPr/>
          <a:lstStyle/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Perfective maintenance</a:t>
            </a:r>
            <a:r>
              <a:rPr lang="en-US" sz="2800" dirty="0"/>
              <a:t> refers to changes made to a system to add new features or to improve performance</a:t>
            </a:r>
          </a:p>
          <a:p>
            <a:pPr marL="586232" indent="-514350"/>
            <a:r>
              <a:rPr lang="en-US" sz="2800" b="1" dirty="0">
                <a:solidFill>
                  <a:srgbClr val="007FA3"/>
                </a:solidFill>
              </a:rPr>
              <a:t>Preventative maintenance </a:t>
            </a:r>
            <a:r>
              <a:rPr lang="en-US" sz="2800" dirty="0">
                <a:solidFill>
                  <a:schemeClr val="tx1"/>
                </a:solidFill>
              </a:rPr>
              <a:t>refers to c</a:t>
            </a:r>
            <a:r>
              <a:rPr lang="en-US" sz="2800" dirty="0"/>
              <a:t>hanges  made to a system to avoid possible future problems</a:t>
            </a:r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787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8486775" cy="1095375"/>
          </a:xfrm>
        </p:spPr>
        <p:txBody>
          <a:bodyPr/>
          <a:lstStyle/>
          <a:p>
            <a:r>
              <a:rPr lang="en-US" sz="3300" dirty="0"/>
              <a:t>Figure 4: Value and Non-Value Adding of Different Types of Maintenance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8DF8-84F1-4D57-AF4D-552AD35BA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5715000"/>
            <a:ext cx="8229600" cy="354338"/>
          </a:xfrm>
        </p:spPr>
        <p:txBody>
          <a:bodyPr/>
          <a:lstStyle/>
          <a:p>
            <a:r>
              <a:rPr lang="en-US" i="1" dirty="0"/>
              <a:t>(Sources: Based on Andrews &amp; Leventhal, 1993; Pressman, 2005)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5D013C-5A37-4A98-997A-0EFD662B97C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249320" y="1555749"/>
            <a:ext cx="6645360" cy="3705567"/>
          </a:xfrm>
        </p:spPr>
      </p:pic>
    </p:spTree>
    <p:extLst>
      <p:ext uri="{BB962C8B-B14F-4D97-AF65-F5344CB8AC3E}">
        <p14:creationId xmlns:p14="http://schemas.microsoft.com/office/powerpoint/2010/main" val="4009598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Figure 5: How the Mean Time Between Failures Should Change Over Time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B2B9D3-8473-45DF-A5C6-00F36F8DFAC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671740" y="1555750"/>
            <a:ext cx="5800520" cy="3846244"/>
          </a:xfrm>
        </p:spPr>
      </p:pic>
    </p:spTree>
    <p:extLst>
      <p:ext uri="{BB962C8B-B14F-4D97-AF65-F5344CB8AC3E}">
        <p14:creationId xmlns:p14="http://schemas.microsoft.com/office/powerpoint/2010/main" val="2451388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06DDF-FA1B-4B0B-8F24-B6E9B8D1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Maintenance Requests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94513-D06D-4272-A330-F2E3FC702B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868117"/>
            <a:ext cx="8229600" cy="425804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Maintenance requests can be frequent</a:t>
            </a:r>
          </a:p>
          <a:p>
            <a:pPr eaLnBrk="1" hangingPunct="1"/>
            <a:r>
              <a:rPr lang="en-US" altLang="en-US" sz="2800" dirty="0"/>
              <a:t>Prioritize based on type and urgency of request</a:t>
            </a:r>
          </a:p>
          <a:p>
            <a:pPr eaLnBrk="1" hangingPunct="1"/>
            <a:r>
              <a:rPr lang="en-US" altLang="en-US" sz="2800" dirty="0"/>
              <a:t>Evaluations are based on feasibility analysis</a:t>
            </a:r>
          </a:p>
          <a:p>
            <a:pPr marL="586232" indent="-514350"/>
            <a:endParaRPr lang="en-US" sz="2800" dirty="0"/>
          </a:p>
          <a:p>
            <a:pPr marL="586232" indent="-514350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2546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6: How to Prioritize Maintenance Requests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86986CF-AED7-41FE-B6D3-5BBBD878A14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614905" y="1555750"/>
            <a:ext cx="5914189" cy="3944718"/>
          </a:xfrm>
        </p:spPr>
      </p:pic>
    </p:spTree>
    <p:extLst>
      <p:ext uri="{BB962C8B-B14F-4D97-AF65-F5344CB8AC3E}">
        <p14:creationId xmlns:p14="http://schemas.microsoft.com/office/powerpoint/2010/main" val="24133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3D0D-1A89-4B52-BB74-C77C0E81F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8429625" cy="1200150"/>
          </a:xfrm>
        </p:spPr>
        <p:txBody>
          <a:bodyPr/>
          <a:lstStyle/>
          <a:p>
            <a:r>
              <a:rPr lang="en-US" sz="3300" dirty="0"/>
              <a:t>Figure 7: How a Maintenance Request Moves Through an Organization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ED4BC0-90D7-476F-BCA8-C34B4FBA344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899793" y="1555750"/>
            <a:ext cx="7344413" cy="3392488"/>
          </a:xfrm>
        </p:spPr>
      </p:pic>
    </p:spTree>
    <p:extLst>
      <p:ext uri="{BB962C8B-B14F-4D97-AF65-F5344CB8AC3E}">
        <p14:creationId xmlns:p14="http://schemas.microsoft.com/office/powerpoint/2010/main" val="2468429068"/>
      </p:ext>
    </p:extLst>
  </p:cSld>
  <p:clrMapOvr>
    <a:masterClrMapping/>
  </p:clrMapOvr>
</p:sld>
</file>

<file path=ppt/theme/theme1.xml><?xml version="1.0" encoding="utf-8"?>
<a:theme xmlns:a="http://schemas.openxmlformats.org/drawingml/2006/main" name="1_508 Lectur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08 Lecture">
  <a:themeElements>
    <a:clrScheme name="Custom 40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33399"/>
      </a:hlink>
      <a:folHlink>
        <a:srgbClr val="703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35308</TotalTime>
  <Words>273</Words>
  <Application>Microsoft Office PowerPoint</Application>
  <PresentationFormat>On-screen Show (4:3)</PresentationFormat>
  <Paragraphs>30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Noto Sans Symbols</vt:lpstr>
      <vt:lpstr>Times New Roman</vt:lpstr>
      <vt:lpstr>Verdana</vt:lpstr>
      <vt:lpstr>1_508 Lecture</vt:lpstr>
      <vt:lpstr>508 Lecture</vt:lpstr>
      <vt:lpstr>Week 12</vt:lpstr>
      <vt:lpstr>Figure 1: Systems Development Life Cycle</vt:lpstr>
      <vt:lpstr>Maintaining Information Systems</vt:lpstr>
      <vt:lpstr>Figure 2: System Service Request for Purchasing Fulfillment System (PVF)</vt:lpstr>
      <vt:lpstr>Figure 3: Maintenance Activities Parallel Those of the SDLC</vt:lpstr>
      <vt:lpstr>Deliverables and Outcomes</vt:lpstr>
      <vt:lpstr>Types of Maintenance (1 of 2) </vt:lpstr>
      <vt:lpstr>Types of Maintenance (of 2) </vt:lpstr>
      <vt:lpstr>Figure 4: Value and Non-Value Adding of Different Types of Maintenance</vt:lpstr>
      <vt:lpstr>Figure 5: How the Mean Time Between Failures Should Change Over Time</vt:lpstr>
      <vt:lpstr>Controlling Maintenance Requests</vt:lpstr>
      <vt:lpstr>Figure 6: How to Prioritize Maintenance Requests</vt:lpstr>
      <vt:lpstr>Figure 7: How a Maintenance Request Moves Through an Organization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Accessible USHE Lecture PowerPoint Template</dc:title>
  <dc:subject>Psychology</dc:subject>
  <dc:creator>Crystal McCarthy</dc:creator>
  <cp:keywords>Psychology</cp:keywords>
  <cp:lastModifiedBy>NURUL FAZMIDAR BINTI MOHD NOOR</cp:lastModifiedBy>
  <cp:revision>343</cp:revision>
  <dcterms:modified xsi:type="dcterms:W3CDTF">2022-12-07T07:31:40Z</dcterms:modified>
</cp:coreProperties>
</file>