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  <p:sldMasterId id="2147483819" r:id="rId2"/>
  </p:sldMasterIdLst>
  <p:notesMasterIdLst>
    <p:notesMasterId r:id="rId37"/>
  </p:notesMasterIdLst>
  <p:handoutMasterIdLst>
    <p:handoutMasterId r:id="rId38"/>
  </p:handoutMasterIdLst>
  <p:sldIdLst>
    <p:sldId id="270" r:id="rId3"/>
    <p:sldId id="390" r:id="rId4"/>
    <p:sldId id="453" r:id="rId5"/>
    <p:sldId id="454" r:id="rId6"/>
    <p:sldId id="455" r:id="rId7"/>
    <p:sldId id="456" r:id="rId8"/>
    <p:sldId id="457" r:id="rId9"/>
    <p:sldId id="448" r:id="rId10"/>
    <p:sldId id="458" r:id="rId11"/>
    <p:sldId id="465" r:id="rId12"/>
    <p:sldId id="466" r:id="rId13"/>
    <p:sldId id="459" r:id="rId14"/>
    <p:sldId id="467" r:id="rId15"/>
    <p:sldId id="470" r:id="rId16"/>
    <p:sldId id="471" r:id="rId17"/>
    <p:sldId id="472" r:id="rId18"/>
    <p:sldId id="501" r:id="rId19"/>
    <p:sldId id="502" r:id="rId20"/>
    <p:sldId id="461" r:id="rId21"/>
    <p:sldId id="480" r:id="rId22"/>
    <p:sldId id="481" r:id="rId23"/>
    <p:sldId id="478" r:id="rId24"/>
    <p:sldId id="487" r:id="rId25"/>
    <p:sldId id="479" r:id="rId26"/>
    <p:sldId id="489" r:id="rId27"/>
    <p:sldId id="488" r:id="rId28"/>
    <p:sldId id="491" r:id="rId29"/>
    <p:sldId id="492" r:id="rId30"/>
    <p:sldId id="493" r:id="rId31"/>
    <p:sldId id="482" r:id="rId32"/>
    <p:sldId id="494" r:id="rId33"/>
    <p:sldId id="503" r:id="rId34"/>
    <p:sldId id="504" r:id="rId35"/>
    <p:sldId id="505" r:id="rId3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Holcomb" initials="" lastIdx="3" clrIdx="0"/>
  <p:cmAuthor id="7" name="Maureen Steddin" initials="MS [2]" lastIdx="1" clrIdx="7">
    <p:extLst/>
  </p:cmAuthor>
  <p:cmAuthor id="1" name="Ruchi Sachdev" initials="" lastIdx="8" clrIdx="1"/>
  <p:cmAuthor id="8" name="Maureen Steddin" initials="MS [3]" lastIdx="1" clrIdx="8">
    <p:extLst/>
  </p:cmAuthor>
  <p:cmAuthor id="2" name="Sarah Reusché" initials="" lastIdx="13" clrIdx="2"/>
  <p:cmAuthor id="9" name="Maureen Steddin" initials="MS [4]" lastIdx="1" clrIdx="9">
    <p:extLst/>
  </p:cmAuthor>
  <p:cmAuthor id="3" name="Nitin Shankar" initials="" lastIdx="6" clrIdx="3"/>
  <p:cmAuthor id="10" name="Maureen Steddin" initials="MS [5]" lastIdx="1" clrIdx="10">
    <p:extLst/>
  </p:cmAuthor>
  <p:cmAuthor id="4" name="Kristen Flathman" initials="" lastIdx="1" clrIdx="4"/>
  <p:cmAuthor id="11" name="Harold Wise" initials="HW" lastIdx="5" clrIdx="11">
    <p:extLst>
      <p:ext uri="{19B8F6BF-5375-455C-9EA6-DF929625EA0E}">
        <p15:presenceInfo xmlns:p15="http://schemas.microsoft.com/office/powerpoint/2012/main" userId="aa71e442b161ee55" providerId="Windows Live"/>
      </p:ext>
    </p:extLst>
  </p:cmAuthor>
  <p:cmAuthor id="5" name="Ben Schroeter" initials="" lastIdx="0" clrIdx="5"/>
  <p:cmAuthor id="6" name="Maureen Steddin" initials="MS" lastIdx="2" clrIdx="6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86551" autoAdjust="0"/>
  </p:normalViewPr>
  <p:slideViewPr>
    <p:cSldViewPr snapToGrid="0" snapToObjects="1">
      <p:cViewPr varScale="1">
        <p:scale>
          <a:sx n="63" d="100"/>
          <a:sy n="63" d="100"/>
        </p:scale>
        <p:origin x="15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311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0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11/16/2022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B9DA-1DAD-4AB4-94B2-688DFC8B0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4693" y="6407662"/>
            <a:ext cx="7194635" cy="334534"/>
          </a:xfrm>
        </p:spPr>
        <p:txBody>
          <a:bodyPr/>
          <a:lstStyle>
            <a:lvl1pPr marL="101600" indent="0"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copyright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C35AB9-24C4-47CB-AA83-05CAEBB6D99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663" y="6407150"/>
            <a:ext cx="1401762" cy="334963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360350"/>
            <a:ext cx="58074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897625" y="619995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454375" y="563880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27727" y="4597554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677050" y="6577875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972225" y="63340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79635" y="3373479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11843" y="79151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26322" y="1339872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104500" y="4963100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03950" y="5654657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96310" y="1990890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738050" y="271322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71659" y="2504485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4271584" y="474825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7729213" y="6127438"/>
            <a:ext cx="2538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4162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2034925"/>
            <a:ext cx="58326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710548"/>
            <a:ext cx="58326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>
                <a:solidFill>
                  <a:srgbClr val="607D8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None/>
              <a:defRPr sz="3000">
                <a:solidFill>
                  <a:srgbClr val="607D8B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12700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connections-0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5945" y="0"/>
            <a:ext cx="913210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215300" y="2501400"/>
            <a:ext cx="67134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57200" algn="ctr" rtl="0">
              <a:spcBef>
                <a:spcPts val="600"/>
              </a:spcBef>
              <a:spcAft>
                <a:spcPts val="0"/>
              </a:spcAft>
              <a:buClr>
                <a:srgbClr val="263238"/>
              </a:buClr>
              <a:buSzPts val="3600"/>
              <a:buChar char="◎"/>
              <a:defRPr sz="3600" i="1"/>
            </a:lvl1pPr>
            <a:lvl2pPr marL="914400" lvl="1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2pPr>
            <a:lvl3pPr marL="1371600" lvl="2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◉"/>
              <a:defRPr sz="3600" i="1"/>
            </a:lvl3pPr>
            <a:lvl4pPr marL="1828800" lvl="3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sz="3600" i="1"/>
            </a:lvl4pPr>
            <a:lvl5pPr marL="2286000" lvl="4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5pPr>
            <a:lvl6pPr marL="2743200" lvl="5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sz="3600" i="1"/>
            </a:lvl6pPr>
            <a:lvl7pPr marL="3200400" lvl="6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●"/>
              <a:defRPr sz="3600" i="1"/>
            </a:lvl7pPr>
            <a:lvl8pPr marL="3657600" lvl="7" indent="-457200" algn="ctr" rtl="0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○"/>
              <a:defRPr sz="3600" i="1"/>
            </a:lvl8pPr>
            <a:lvl9pPr marL="4114800" lvl="8" indent="-45720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Char char="■"/>
              <a:defRPr sz="3600" i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32" name="Google Shape;32;p4"/>
          <p:cNvGrpSpPr/>
          <p:nvPr/>
        </p:nvGrpSpPr>
        <p:grpSpPr>
          <a:xfrm>
            <a:off x="3593400" y="1074285"/>
            <a:ext cx="1957200" cy="1093200"/>
            <a:chOff x="3593400" y="1760085"/>
            <a:chExt cx="1957200" cy="109320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42095" y="871980"/>
            <a:ext cx="443400" cy="3624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114800" y="269685"/>
            <a:ext cx="457200" cy="80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4749075" y="753125"/>
            <a:ext cx="95100" cy="3489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87" y="6333125"/>
            <a:ext cx="91440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08728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786137" y="1600200"/>
            <a:ext cx="36753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◎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◉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682659" y="1600200"/>
            <a:ext cx="36753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◎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◉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85937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786150" y="1600200"/>
            <a:ext cx="24198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3329992" y="1600200"/>
            <a:ext cx="24198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5873834" y="1600200"/>
            <a:ext cx="24198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40169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45187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5407123"/>
            <a:ext cx="8229600" cy="491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-92" y="6333125"/>
            <a:ext cx="91440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2682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9800"/>
            <a:ext cx="91971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96708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896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9048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4551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481138"/>
            <a:ext cx="4484688" cy="44084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A3C12-C176-4C2E-9820-6A6035C43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13" y="1481138"/>
            <a:ext cx="3592512" cy="3754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59F1CC-D06F-4B10-B166-6D6F2C78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2713" y="5399088"/>
            <a:ext cx="3592512" cy="490537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6EBD-95B8-4957-AE05-FC01EF650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325" y="2643044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325" y="3613151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9412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29413" y="2651910"/>
            <a:ext cx="1957387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9413" y="3613151"/>
            <a:ext cx="1957387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7866-709E-4B26-BCD7-5CF284C13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6705-5AD3-4E05-9DCF-CA01EBF96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682267"/>
            <a:ext cx="7571700" cy="47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5295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4" r:id="rId4"/>
    <p:sldLayoutId id="2147483825" r:id="rId5"/>
    <p:sldLayoutId id="2147483826" r:id="rId6"/>
    <p:sldLayoutId id="2147483827" r:id="rId7"/>
    <p:sldLayoutId id="2147483829" r:id="rId8"/>
    <p:sldLayoutId id="2147483830" r:id="rId9"/>
    <p:sldLayoutId id="2147483832" r:id="rId10"/>
    <p:sldLayoutId id="2147483833" r:id="rId11"/>
    <p:sldLayoutId id="2147483673" r:id="rId12"/>
    <p:sldLayoutId id="2147483670" r:id="rId13"/>
    <p:sldLayoutId id="2147483669" r:id="rId14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1215300" y="3258145"/>
            <a:ext cx="6713400" cy="109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buClr>
                <a:srgbClr val="007FA3"/>
              </a:buClr>
              <a:buSzPct val="25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Initiating and Planning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Development Projects</a:t>
            </a:r>
          </a:p>
        </p:txBody>
      </p:sp>
      <p:sp>
        <p:nvSpPr>
          <p:cNvPr id="195" name="Shape 195"/>
          <p:cNvSpPr txBox="1">
            <a:spLocks noGrp="1"/>
          </p:cNvSpPr>
          <p:nvPr>
            <p:ph type="title" idx="4294967295"/>
          </p:nvPr>
        </p:nvSpPr>
        <p:spPr>
          <a:xfrm>
            <a:off x="1215300" y="2348734"/>
            <a:ext cx="6713400" cy="7191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lvl="0" algn="ctr">
              <a:buSzPct val="25000"/>
            </a:pPr>
            <a:r>
              <a:rPr lang="en-US" sz="4000" dirty="0" smtClean="0">
                <a:latin typeface="+mj-lt"/>
              </a:rPr>
              <a:t>Week </a:t>
            </a:r>
            <a:r>
              <a:rPr lang="en-US" sz="4000" dirty="0" smtClean="0">
                <a:latin typeface="+mj-lt"/>
              </a:rPr>
              <a:t>5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b="1" i="0" u="none" strike="noStrike" cap="none" dirty="0">
              <a:solidFill>
                <a:srgbClr val="007FA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2F01-146C-4CAD-A6E4-7D20202B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  <a:cs typeface="Calibri" panose="020F0502020204030204" pitchFamily="34" charset="0"/>
              </a:rPr>
              <a:t>Introduction</a:t>
            </a:r>
            <a:endParaRPr lang="en-US" sz="20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C61C0-F204-44D5-9F08-36A7BACD1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25488" indent="-630238"/>
            <a:r>
              <a:rPr lang="en-US" sz="3200" dirty="0"/>
              <a:t>Project initiation focuses on activities designed to assist in organizing a team to conduct project planning</a:t>
            </a:r>
          </a:p>
        </p:txBody>
      </p:sp>
    </p:spTree>
    <p:extLst>
      <p:ext uri="{BB962C8B-B14F-4D97-AF65-F5344CB8AC3E}">
        <p14:creationId xmlns:p14="http://schemas.microsoft.com/office/powerpoint/2010/main" val="60731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1F1D-7262-4253-BD72-BB31C502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Figure </a:t>
            </a:r>
            <a:r>
              <a:rPr lang="en-US" sz="2800" dirty="0" smtClean="0"/>
              <a:t>1</a:t>
            </a:r>
            <a:r>
              <a:rPr lang="en-US" sz="2800" dirty="0"/>
              <a:t>: Systems Development Life Cycle with Project Initiation and Planning Highlighted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64625F8F-DD55-4CE8-8A64-1C632D78333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227597" y="1555749"/>
            <a:ext cx="3923588" cy="4214429"/>
          </a:xfrm>
        </p:spPr>
      </p:pic>
    </p:spTree>
    <p:extLst>
      <p:ext uri="{BB962C8B-B14F-4D97-AF65-F5344CB8AC3E}">
        <p14:creationId xmlns:p14="http://schemas.microsoft.com/office/powerpoint/2010/main" val="90679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BE8D-E241-4A2F-B630-E06F44B3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1</a:t>
            </a:r>
            <a:r>
              <a:rPr lang="en-US" dirty="0"/>
              <a:t>: Elements of Project Initiation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AA4E01-E1B0-4105-BB67-26ACB78B4B3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983488171"/>
              </p:ext>
            </p:extLst>
          </p:nvPr>
        </p:nvGraphicFramePr>
        <p:xfrm>
          <a:off x="901337" y="1751693"/>
          <a:ext cx="7341325" cy="259588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7341325">
                  <a:extLst>
                    <a:ext uri="{9D8B030D-6E8A-4147-A177-3AD203B41FA5}">
                      <a16:colId xmlns:a16="http://schemas.microsoft.com/office/drawing/2014/main" val="1884949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Elements of Project Initiation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21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Establishing the project initiation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535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Establishing a relationship with the 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32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Establishing the project initiation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795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Establishing management procedures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532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Establishing the project management environment and project workbook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394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Developing the project charter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1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13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BD77-A581-4B51-BABD-A2A9B19B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2</a:t>
            </a:r>
            <a:r>
              <a:rPr lang="en-US" dirty="0"/>
              <a:t>: Elements of Project Planning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A9F02B-7AD7-48CB-B6FC-C0B18B13C40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68112927"/>
              </p:ext>
            </p:extLst>
          </p:nvPr>
        </p:nvGraphicFramePr>
        <p:xfrm>
          <a:off x="1466193" y="1555750"/>
          <a:ext cx="6025355" cy="4387845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6025355">
                  <a:extLst>
                    <a:ext uri="{9D8B030D-6E8A-4147-A177-3AD203B41FA5}">
                      <a16:colId xmlns:a16="http://schemas.microsoft.com/office/drawing/2014/main" val="4048312168"/>
                    </a:ext>
                  </a:extLst>
                </a:gridCol>
              </a:tblGrid>
              <a:tr h="398895">
                <a:tc>
                  <a:txBody>
                    <a:bodyPr/>
                    <a:lstStyle/>
                    <a:p>
                      <a:r>
                        <a:rPr lang="en-US" dirty="0"/>
                        <a:t>Elements of Project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678294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Describing the project scope, alternatives, and feasibility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57449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Dividing the project into manageable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465435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Estimating resources and creating a resource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651676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Developing a preliminary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584592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Developing a communication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303387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Determining project standards and procedures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261265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Identifying and assessing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94116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Creating a preliminary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48078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Developing the project scope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94341"/>
                  </a:ext>
                </a:extLst>
              </a:tr>
              <a:tr h="3988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Setting a baseline project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48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79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 and </a:t>
            </a:r>
            <a:r>
              <a:rPr lang="en-US" dirty="0" smtClean="0"/>
              <a:t>Outcomes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Business case </a:t>
            </a:r>
            <a:r>
              <a:rPr lang="en-US" sz="2800" dirty="0"/>
              <a:t>– justification for an information system, presented in terms of the tangible and intangible economic benefits and costs and the technical and organizational feasibility of the proposed system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Baseline Project Plan (BPP) </a:t>
            </a:r>
            <a:r>
              <a:rPr lang="en-US" sz="2800" dirty="0"/>
              <a:t>– major outcome and deliverable from the project initiation and planning phase that contains the best estimate of a project’s scope, benefits, costs, risks, and resource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3311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 and </a:t>
            </a:r>
            <a:r>
              <a:rPr lang="en-US" dirty="0" smtClean="0"/>
              <a:t>Outcomes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Project Scope Statement (PSS) </a:t>
            </a:r>
            <a:r>
              <a:rPr lang="en-US" sz="2800" dirty="0"/>
              <a:t>– document prepared for the customer that describes what the project will deliver and outlines generally at a high level all work required to complete the project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Project Feasibility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dirty="0"/>
              <a:t>Most feasibility factors are represented by the following categories:</a:t>
            </a:r>
          </a:p>
          <a:p>
            <a:pPr marL="1073150" lvl="1" indent="-514350"/>
            <a:r>
              <a:rPr lang="en-US" sz="2400" dirty="0"/>
              <a:t>Economic</a:t>
            </a:r>
          </a:p>
          <a:p>
            <a:pPr marL="1073150" lvl="1" indent="-514350"/>
            <a:r>
              <a:rPr lang="en-US" sz="2400" dirty="0"/>
              <a:t>Technical</a:t>
            </a:r>
          </a:p>
          <a:p>
            <a:pPr marL="1073150" lvl="1" indent="-514350"/>
            <a:r>
              <a:rPr lang="en-US" sz="2400" dirty="0"/>
              <a:t>Operational</a:t>
            </a:r>
          </a:p>
          <a:p>
            <a:pPr marL="1073150" lvl="1" indent="-514350"/>
            <a:r>
              <a:rPr lang="en-US" sz="2400" dirty="0"/>
              <a:t>Scheduling</a:t>
            </a:r>
          </a:p>
          <a:p>
            <a:pPr marL="1073150" lvl="1" indent="-514350"/>
            <a:r>
              <a:rPr lang="en-US" sz="2400" dirty="0"/>
              <a:t>Legal and contractual</a:t>
            </a:r>
          </a:p>
          <a:p>
            <a:pPr marL="1073150" lvl="1" indent="-514350"/>
            <a:r>
              <a:rPr lang="en-US" sz="2400" dirty="0"/>
              <a:t>Political</a:t>
            </a:r>
          </a:p>
        </p:txBody>
      </p:sp>
    </p:spTree>
    <p:extLst>
      <p:ext uri="{BB962C8B-B14F-4D97-AF65-F5344CB8AC3E}">
        <p14:creationId xmlns:p14="http://schemas.microsoft.com/office/powerpoint/2010/main" val="24392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Economic </a:t>
            </a:r>
            <a:r>
              <a:rPr lang="en-US" dirty="0" smtClean="0"/>
              <a:t>Feasibility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5015996"/>
          </a:xfrm>
        </p:spPr>
        <p:txBody>
          <a:bodyPr/>
          <a:lstStyle/>
          <a:p>
            <a:pPr marL="586232" indent="-514350"/>
            <a:r>
              <a:rPr lang="en-US" sz="2200" b="1" dirty="0">
                <a:solidFill>
                  <a:srgbClr val="007FA3"/>
                </a:solidFill>
              </a:rPr>
              <a:t>Economic feasibility </a:t>
            </a:r>
            <a:r>
              <a:rPr lang="en-US" sz="2200" dirty="0"/>
              <a:t>– process of identifying the financial benefits and costs associated with a development project</a:t>
            </a:r>
          </a:p>
          <a:p>
            <a:pPr marL="586232" indent="-514350"/>
            <a:r>
              <a:rPr lang="en-US" sz="2200" b="1" dirty="0">
                <a:solidFill>
                  <a:srgbClr val="007FA3"/>
                </a:solidFill>
              </a:rPr>
              <a:t>Tangible benefit </a:t>
            </a:r>
            <a:r>
              <a:rPr lang="en-US" sz="2200" dirty="0"/>
              <a:t>– benefit from the creation of an information system that can be measured in dollars and with certainty</a:t>
            </a:r>
          </a:p>
          <a:p>
            <a:pPr marL="586232" indent="-514350"/>
            <a:r>
              <a:rPr lang="en-US" sz="2200" dirty="0"/>
              <a:t>Most tangible benefits:</a:t>
            </a:r>
          </a:p>
          <a:p>
            <a:pPr marL="1073150" lvl="1" indent="-514350"/>
            <a:r>
              <a:rPr lang="en-US" sz="1800" dirty="0"/>
              <a:t>Cost reduction and avoidance</a:t>
            </a:r>
          </a:p>
          <a:p>
            <a:pPr marL="1073150" lvl="1" indent="-514350"/>
            <a:r>
              <a:rPr lang="en-US" sz="1800" dirty="0"/>
              <a:t>Error reduction</a:t>
            </a:r>
          </a:p>
          <a:p>
            <a:pPr marL="1073150" lvl="1" indent="-514350"/>
            <a:r>
              <a:rPr lang="en-US" sz="1800" dirty="0"/>
              <a:t>Increased flexibility	</a:t>
            </a:r>
          </a:p>
          <a:p>
            <a:pPr marL="1073150" lvl="1" indent="-514350"/>
            <a:r>
              <a:rPr lang="en-US" sz="1800" dirty="0"/>
              <a:t>Increased speed of activity</a:t>
            </a:r>
          </a:p>
          <a:p>
            <a:pPr marL="1073150" lvl="1" indent="-514350"/>
            <a:r>
              <a:rPr lang="en-US" sz="1800" dirty="0"/>
              <a:t>Improvement of management planning and control</a:t>
            </a:r>
          </a:p>
          <a:p>
            <a:pPr marL="1073150" lvl="1" indent="-514350"/>
            <a:r>
              <a:rPr lang="en-US" sz="1800" dirty="0"/>
              <a:t>Opening new markets and increasing sales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92721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Economic </a:t>
            </a:r>
            <a:r>
              <a:rPr lang="en-US" dirty="0" smtClean="0"/>
              <a:t>Feasibility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5015996"/>
          </a:xfrm>
        </p:spPr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Intangible benefit </a:t>
            </a:r>
            <a:r>
              <a:rPr lang="en-US" sz="2800" dirty="0"/>
              <a:t>– benefit derived from the creation of an information system that cannot be easily measured in dollars or with certainty  (See Table </a:t>
            </a:r>
            <a:r>
              <a:rPr lang="en-US" sz="2800" dirty="0" smtClean="0"/>
              <a:t>3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3232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BF3D-5358-4700-B78D-65AD0C99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400" dirty="0"/>
              <a:t>Table </a:t>
            </a:r>
            <a:r>
              <a:rPr lang="en-US" sz="3400" dirty="0" smtClean="0"/>
              <a:t>3</a:t>
            </a:r>
            <a:r>
              <a:rPr lang="en-US" sz="3400" dirty="0"/>
              <a:t>: Intangible Benefits from the Development of an Information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AE97D-2F60-436E-83F7-11BE22B58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08469"/>
            <a:ext cx="8229600" cy="360869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</a:t>
            </a:r>
            <a:r>
              <a:rPr lang="en-US" dirty="0"/>
              <a:t>: Based on Parker &amp; Benson, 1988; Brynjolfsson &amp; Yang, 1997; Keen, 2003; Cresswell, 2004)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A6559E-CC01-4A98-ABAE-90BBAFD480F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21443505"/>
              </p:ext>
            </p:extLst>
          </p:nvPr>
        </p:nvGraphicFramePr>
        <p:xfrm>
          <a:off x="457200" y="1555750"/>
          <a:ext cx="8229600" cy="408432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209114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46129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Intangible Benefits from the Development of an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Intangible Benefits from the Development of an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Competitive necessity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More confidence in decision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0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More timely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processing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6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organizational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asset 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62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Increased organizational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resource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94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Promotion of organizational learning and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Increased accuracy in clerical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281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Availability of new, better, or more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work process that can improve employee moral or customer satisfaction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92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Ability to investigate more alternatives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Positive impacts on society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1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Faster decision 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social 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731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Better usage of resources (“greener”)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3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89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Determining Project </a:t>
            </a:r>
            <a:r>
              <a:rPr lang="en-US" dirty="0" smtClean="0"/>
              <a:t>Costs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Tangible costs</a:t>
            </a:r>
            <a:r>
              <a:rPr lang="en-US" sz="2800" dirty="0"/>
              <a:t> – costs associated with an information system that can be measured in dollars and with certainty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Intangible costs </a:t>
            </a:r>
            <a:r>
              <a:rPr lang="en-US" sz="2800" dirty="0"/>
              <a:t>– costs associated with an information system that cannot be easily measured in terms of dollars or with certainty</a:t>
            </a:r>
            <a:endParaRPr lang="en-US" sz="20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227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7C7B-24C0-47C9-B09E-A73ECC12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4</a:t>
            </a:r>
            <a:r>
              <a:rPr lang="en-US" dirty="0"/>
              <a:t>: Possible Information Systems Costs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45363-D77C-4F94-9388-3F7DA42EF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695406"/>
            <a:ext cx="8229600" cy="373932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</a:t>
            </a:r>
            <a:r>
              <a:rPr lang="en-US" dirty="0"/>
              <a:t>: Based on King &amp; Schrems, 1978; Sonje, 2008)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772CDC3-45AE-44CE-A79E-07B8C4B03D1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419368971"/>
              </p:ext>
            </p:extLst>
          </p:nvPr>
        </p:nvGraphicFramePr>
        <p:xfrm>
          <a:off x="457200" y="1555750"/>
          <a:ext cx="8229600" cy="347472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1384663">
                  <a:extLst>
                    <a:ext uri="{9D8B030D-6E8A-4147-A177-3AD203B41FA5}">
                      <a16:colId xmlns:a16="http://schemas.microsoft.com/office/drawing/2014/main" val="4203665639"/>
                    </a:ext>
                  </a:extLst>
                </a:gridCol>
                <a:gridCol w="2730137">
                  <a:extLst>
                    <a:ext uri="{9D8B030D-6E8A-4147-A177-3AD203B41FA5}">
                      <a16:colId xmlns:a16="http://schemas.microsoft.com/office/drawing/2014/main" val="709479010"/>
                    </a:ext>
                  </a:extLst>
                </a:gridCol>
                <a:gridCol w="1071154">
                  <a:extLst>
                    <a:ext uri="{9D8B030D-6E8A-4147-A177-3AD203B41FA5}">
                      <a16:colId xmlns:a16="http://schemas.microsoft.com/office/drawing/2014/main" val="41740972"/>
                    </a:ext>
                  </a:extLst>
                </a:gridCol>
                <a:gridCol w="3043646">
                  <a:extLst>
                    <a:ext uri="{9D8B030D-6E8A-4147-A177-3AD203B41FA5}">
                      <a16:colId xmlns:a16="http://schemas.microsoft.com/office/drawing/2014/main" val="1730543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 of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8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Hardware, software, facilities        infrastructure</a:t>
                      </a:r>
                    </a:p>
                    <a:p>
                      <a:r>
                        <a:rPr lang="en-US" dirty="0"/>
                        <a:t>Management and staff</a:t>
                      </a:r>
                    </a:p>
                    <a:p>
                      <a:r>
                        <a:rPr lang="en-US" dirty="0"/>
                        <a:t>Consulting and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Infrastructure replacement/improvements</a:t>
                      </a:r>
                    </a:p>
                    <a:p>
                      <a:r>
                        <a:rPr lang="en-US" dirty="0"/>
                        <a:t>Project personnel</a:t>
                      </a:r>
                    </a:p>
                    <a:p>
                      <a:r>
                        <a:rPr lang="en-US" dirty="0"/>
                        <a:t>Training</a:t>
                      </a:r>
                    </a:p>
                    <a:p>
                      <a:r>
                        <a:rPr lang="en-US" dirty="0"/>
                        <a:t>Development activities</a:t>
                      </a:r>
                    </a:p>
                    <a:p>
                      <a:r>
                        <a:rPr lang="en-US" dirty="0"/>
                        <a:t>Services and procurement</a:t>
                      </a:r>
                    </a:p>
                    <a:p>
                      <a:r>
                        <a:rPr lang="en-US" dirty="0"/>
                        <a:t>Organizational disruptions</a:t>
                      </a:r>
                    </a:p>
                    <a:p>
                      <a:r>
                        <a:rPr lang="en-US" dirty="0"/>
                        <a:t>Management and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54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operating costs</a:t>
                      </a:r>
                    </a:p>
                    <a:p>
                      <a:r>
                        <a:rPr lang="en-US" dirty="0"/>
                        <a:t>Management and staff</a:t>
                      </a:r>
                    </a:p>
                    <a:p>
                      <a:r>
                        <a:rPr lang="en-US" dirty="0"/>
                        <a:t>Personnel recruiting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Infrastructure replacement/improvements</a:t>
                      </a:r>
                    </a:p>
                    <a:p>
                      <a:r>
                        <a:rPr lang="en-US" dirty="0"/>
                        <a:t>System maintenance</a:t>
                      </a:r>
                    </a:p>
                    <a:p>
                      <a:r>
                        <a:rPr lang="en-US" dirty="0"/>
                        <a:t>Management and staff</a:t>
                      </a:r>
                    </a:p>
                    <a:p>
                      <a:r>
                        <a:rPr lang="en-US" dirty="0"/>
                        <a:t>User training and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7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62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Determining Project </a:t>
            </a:r>
            <a:r>
              <a:rPr lang="en-US" dirty="0" smtClean="0"/>
              <a:t>Costs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Total cost of ownership (TCO) </a:t>
            </a:r>
            <a:r>
              <a:rPr lang="en-US" sz="2800" dirty="0"/>
              <a:t>– cost of owning and operating a system, including the total cost of acquisition, as well as all costs associated with its ongoing use and maintenance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One-time costs </a:t>
            </a:r>
            <a:r>
              <a:rPr lang="en-US" sz="2800" dirty="0"/>
              <a:t>– costs associated with project start-up and development or system start-up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Recurring cost </a:t>
            </a:r>
            <a:r>
              <a:rPr lang="en-US" sz="2800" dirty="0"/>
              <a:t>– costs resulting from the ongoing evolution and use of a system</a:t>
            </a:r>
          </a:p>
        </p:txBody>
      </p:sp>
    </p:spTree>
    <p:extLst>
      <p:ext uri="{BB962C8B-B14F-4D97-AF65-F5344CB8AC3E}">
        <p14:creationId xmlns:p14="http://schemas.microsoft.com/office/powerpoint/2010/main" val="35308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Determining Project Costs </a:t>
            </a:r>
            <a:r>
              <a:rPr lang="en-US" sz="2000" dirty="0"/>
              <a:t>(3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dirty="0"/>
              <a:t>Examples of recurring costs include:</a:t>
            </a:r>
          </a:p>
          <a:p>
            <a:pPr marL="1073150" lvl="1" indent="-514350"/>
            <a:r>
              <a:rPr lang="en-US" sz="2400" dirty="0"/>
              <a:t>Application software maintenance</a:t>
            </a:r>
          </a:p>
          <a:p>
            <a:pPr marL="1073150" lvl="1" indent="-514350"/>
            <a:r>
              <a:rPr lang="en-US" sz="2400" dirty="0"/>
              <a:t>Incremental data storage expenses</a:t>
            </a:r>
          </a:p>
          <a:p>
            <a:pPr marL="1073150" lvl="1" indent="-514350"/>
            <a:r>
              <a:rPr lang="en-US" sz="2400" dirty="0"/>
              <a:t>Incremental communications</a:t>
            </a:r>
          </a:p>
          <a:p>
            <a:pPr marL="1073150" lvl="1" indent="-514350"/>
            <a:r>
              <a:rPr lang="en-US" sz="2400" dirty="0"/>
              <a:t>New software and hardware leases</a:t>
            </a:r>
          </a:p>
          <a:p>
            <a:pPr marL="1073150" lvl="1" indent="-514350"/>
            <a:r>
              <a:rPr lang="en-US" sz="2400" dirty="0"/>
              <a:t>Supplies and other expenses (e.g., paper, forms, data center personnel)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37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4C12-47F9-4A05-9832-B6AC471F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Figure </a:t>
            </a:r>
            <a:r>
              <a:rPr lang="en-US" sz="3200" dirty="0" smtClean="0"/>
              <a:t>5: </a:t>
            </a:r>
            <a:r>
              <a:rPr lang="en-US" sz="3200" dirty="0"/>
              <a:t>One-Time Costs for Customer Tracking System (Pine Valley System)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4D503F7-0876-46D7-A1C7-B2CAB9CEB34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957026" y="1555749"/>
            <a:ext cx="6398553" cy="3899119"/>
          </a:xfrm>
        </p:spPr>
      </p:pic>
    </p:spTree>
    <p:extLst>
      <p:ext uri="{BB962C8B-B14F-4D97-AF65-F5344CB8AC3E}">
        <p14:creationId xmlns:p14="http://schemas.microsoft.com/office/powerpoint/2010/main" val="224267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919D-E757-490D-80C9-5C2BE9A4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6: </a:t>
            </a:r>
            <a:r>
              <a:rPr lang="en-US" dirty="0"/>
              <a:t>Web-Based System Costs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983D84-CFCE-458A-8458-C74952F59C6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76619037"/>
              </p:ext>
            </p:extLst>
          </p:nvPr>
        </p:nvGraphicFramePr>
        <p:xfrm>
          <a:off x="457200" y="1555750"/>
          <a:ext cx="8229600" cy="384556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1944477">
                  <a:extLst>
                    <a:ext uri="{9D8B030D-6E8A-4147-A177-3AD203B41FA5}">
                      <a16:colId xmlns:a16="http://schemas.microsoft.com/office/drawing/2014/main" val="1234491452"/>
                    </a:ext>
                  </a:extLst>
                </a:gridCol>
                <a:gridCol w="6285123">
                  <a:extLst>
                    <a:ext uri="{9D8B030D-6E8A-4147-A177-3AD203B41FA5}">
                      <a16:colId xmlns:a16="http://schemas.microsoft.com/office/drawing/2014/main" val="418576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59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Number of pages / content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Style of design / graphic design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System comprehensiveness / functionality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Copyrighting of pages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Responsive design (mobile devices)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39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Database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Technical site manager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Content / support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4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Search Engine Optimization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Launch and ongoing public relations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Search engine advertising / paid links from other websites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Promotions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Marketing / advertising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234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10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C381-C594-4C8A-B369-BCC1465B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</a:t>
            </a:r>
            <a:r>
              <a:rPr lang="en-US" dirty="0" smtClean="0"/>
              <a:t>7: </a:t>
            </a:r>
            <a:r>
              <a:rPr lang="en-US" dirty="0"/>
              <a:t>PVF WebStore – Project Benefits and Costs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93BE2F-C9A3-429D-8E5F-75C926E9604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98179693"/>
              </p:ext>
            </p:extLst>
          </p:nvPr>
        </p:nvGraphicFramePr>
        <p:xfrm>
          <a:off x="457200" y="1555750"/>
          <a:ext cx="8229600" cy="398145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2252373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97323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Lower Per-Transaction Overhead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First </a:t>
                      </a:r>
                      <a:r>
                        <a:rPr lang="en-US" sz="1400"/>
                        <a:t>to Market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075018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Repeat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Foundation for complete Web-based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6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New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Simplicity for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28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Tangible Costs (one-time)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Intangible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7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Site and usability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 face-to-face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664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Not all customers use Internet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337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Initial Marketing / Search Engine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98297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Database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139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Tangible Costs (recurring)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3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Hosting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99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Site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75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Annual Marketing / Search Engine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11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48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Decreased sales via traditional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89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Technical Feasibility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600" b="1" dirty="0">
                <a:solidFill>
                  <a:srgbClr val="007FA3"/>
                </a:solidFill>
              </a:rPr>
              <a:t>Technical feasibility </a:t>
            </a:r>
            <a:r>
              <a:rPr lang="en-US" sz="2600" dirty="0"/>
              <a:t>– process of assessing the development organization’s ability to construct a proposed system</a:t>
            </a:r>
          </a:p>
          <a:p>
            <a:pPr marL="586232" indent="-514350"/>
            <a:r>
              <a:rPr lang="en-US" sz="2600" dirty="0"/>
              <a:t>Potential consequences of not accessing and managing risks can include the following:</a:t>
            </a:r>
          </a:p>
          <a:p>
            <a:pPr marL="1073150" lvl="1" indent="-514350"/>
            <a:r>
              <a:rPr lang="en-US" sz="2200" dirty="0"/>
              <a:t>Failure to attain expected benefits from the project	</a:t>
            </a:r>
          </a:p>
          <a:p>
            <a:pPr marL="1073150" lvl="1" indent="-514350"/>
            <a:r>
              <a:rPr lang="en-US" sz="2200" dirty="0"/>
              <a:t>Inaccurate project cost estimates</a:t>
            </a:r>
          </a:p>
          <a:p>
            <a:pPr marL="1073150" lvl="1" indent="-514350"/>
            <a:r>
              <a:rPr lang="en-US" sz="2200" dirty="0"/>
              <a:t>Inaccurate project duration estimates</a:t>
            </a:r>
          </a:p>
          <a:p>
            <a:pPr marL="1073150" lvl="1" indent="-514350"/>
            <a:r>
              <a:rPr lang="en-US" sz="2200" dirty="0"/>
              <a:t>Failure to achieve adequate system performance levels</a:t>
            </a:r>
          </a:p>
          <a:p>
            <a:pPr marL="1073150" lvl="1" indent="-514350"/>
            <a:r>
              <a:rPr lang="en-US" sz="2200" dirty="0"/>
              <a:t>Failure to adequately  integrate the new system with existing hardware, software, organizational procedures</a:t>
            </a:r>
          </a:p>
          <a:p>
            <a:pPr marL="1073150" lvl="1" indent="-514350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3069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B724-6453-4E9B-9F7C-6AB4B327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8: </a:t>
            </a:r>
            <a:r>
              <a:rPr lang="en-US" dirty="0"/>
              <a:t>Project Risk Assessment Factors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907DF-96F4-4872-8C93-8C3A58E97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656217"/>
            <a:ext cx="8229600" cy="413121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</a:t>
            </a:r>
            <a:r>
              <a:rPr lang="en-US" dirty="0"/>
              <a:t>: Based on Applegate, Austin, &amp; Soule, 2009; Fuller et al., 2018)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362051E-96D4-4A44-9354-62DBDAEBB23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8741316"/>
              </p:ext>
            </p:extLst>
          </p:nvPr>
        </p:nvGraphicFramePr>
        <p:xfrm>
          <a:off x="457200" y="1555750"/>
          <a:ext cx="8229600" cy="415036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1515291">
                  <a:extLst>
                    <a:ext uri="{9D8B030D-6E8A-4147-A177-3AD203B41FA5}">
                      <a16:colId xmlns:a16="http://schemas.microsoft.com/office/drawing/2014/main" val="1556885207"/>
                    </a:ext>
                  </a:extLst>
                </a:gridCol>
                <a:gridCol w="6714309">
                  <a:extLst>
                    <a:ext uri="{9D8B030D-6E8A-4147-A177-3AD203B41FA5}">
                      <a16:colId xmlns:a16="http://schemas.microsoft.com/office/drawing/2014/main" val="665158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37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members on the project team</a:t>
                      </a:r>
                    </a:p>
                    <a:p>
                      <a:r>
                        <a:rPr lang="en-US" dirty="0"/>
                        <a:t>Project duration time</a:t>
                      </a:r>
                    </a:p>
                    <a:p>
                      <a:r>
                        <a:rPr lang="en-US" dirty="0"/>
                        <a:t>Number of organizational departments involved in project</a:t>
                      </a:r>
                    </a:p>
                    <a:p>
                      <a:r>
                        <a:rPr lang="en-US" dirty="0"/>
                        <a:t>Size of programming effort (e.g., hours, function points)</a:t>
                      </a:r>
                    </a:p>
                    <a:p>
                      <a:r>
                        <a:rPr lang="en-US" dirty="0"/>
                        <a:t>Number of outsourcing partners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3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systems or renovation of existing system(s)</a:t>
                      </a:r>
                    </a:p>
                    <a:p>
                      <a:r>
                        <a:rPr lang="en-US" dirty="0"/>
                        <a:t>Organizational, procedural, structural, or personnel changes resulting from system</a:t>
                      </a:r>
                    </a:p>
                    <a:p>
                      <a:r>
                        <a:rPr lang="en-US" dirty="0"/>
                        <a:t>User perceptions and willingness to participate in effort</a:t>
                      </a:r>
                    </a:p>
                    <a:p>
                      <a:r>
                        <a:rPr lang="en-US" dirty="0"/>
                        <a:t>Management commitment to system</a:t>
                      </a:r>
                    </a:p>
                    <a:p>
                      <a:r>
                        <a:rPr lang="en-US" dirty="0"/>
                        <a:t>Amount of user information in system development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80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Familiarity with target hardware, software development environment, tools, and operating system</a:t>
                      </a:r>
                    </a:p>
                    <a:p>
                      <a:r>
                        <a:rPr lang="en-US" dirty="0"/>
                        <a:t>Familiarity with building similar systems of similar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67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Familiarity with information systems development process</a:t>
                      </a:r>
                    </a:p>
                    <a:p>
                      <a:r>
                        <a:rPr lang="en-US" dirty="0"/>
                        <a:t>Familiarity with proposed application area</a:t>
                      </a:r>
                    </a:p>
                    <a:p>
                      <a:r>
                        <a:rPr lang="en-US" dirty="0"/>
                        <a:t>Familiarity with using similar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56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780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F7EB-646B-471E-8488-161F8A56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Figure </a:t>
            </a:r>
            <a:r>
              <a:rPr lang="en-US" sz="2200" dirty="0" smtClean="0"/>
              <a:t>3: </a:t>
            </a:r>
            <a:r>
              <a:rPr lang="en-US" sz="2200" dirty="0"/>
              <a:t>Effects of Degree of Project Structure, Project Size, and Familiarity with Application Area on Project Implementation Risk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A3D63-4546-41E3-A2B6-47C462075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472431"/>
            <a:ext cx="8229600" cy="596907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</a:t>
            </a:r>
            <a:r>
              <a:rPr lang="en-US" dirty="0"/>
              <a:t>: Based on Applegate, Austin, &amp; </a:t>
            </a:r>
            <a:r>
              <a:rPr lang="da-DK" dirty="0"/>
              <a:t>Soule, 2009; Fuller et al., 2018)</a:t>
            </a:r>
            <a:endParaRPr lang="en-US" dirty="0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9F4C110F-B3D1-4324-B54D-42CB0F5F89D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81894" y="1555750"/>
            <a:ext cx="5780212" cy="3392488"/>
          </a:xfrm>
        </p:spPr>
      </p:pic>
    </p:spTree>
    <p:extLst>
      <p:ext uri="{BB962C8B-B14F-4D97-AF65-F5344CB8AC3E}">
        <p14:creationId xmlns:p14="http://schemas.microsoft.com/office/powerpoint/2010/main" val="360619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500" dirty="0"/>
              <a:t>Assessing Other Feasibility Concerns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100" b="1" dirty="0">
                <a:solidFill>
                  <a:srgbClr val="007FA3"/>
                </a:solidFill>
              </a:rPr>
              <a:t>Operational feasibility </a:t>
            </a:r>
            <a:r>
              <a:rPr lang="en-US" sz="2100" dirty="0"/>
              <a:t>– process of assessing the degree to which a proposed system solves business problems or takes advantage of business opportunities</a:t>
            </a:r>
          </a:p>
          <a:p>
            <a:pPr marL="586232" indent="-514350"/>
            <a:r>
              <a:rPr lang="en-US" sz="2100" b="1" dirty="0">
                <a:solidFill>
                  <a:srgbClr val="007FA3"/>
                </a:solidFill>
              </a:rPr>
              <a:t>Schedule feasibility </a:t>
            </a:r>
            <a:r>
              <a:rPr lang="en-US" sz="2100" dirty="0"/>
              <a:t>– process of assessing the degree to which the potential time frame and completion dates for all major activities within a project meet organizational deadlines and constraints for affecting change</a:t>
            </a:r>
          </a:p>
          <a:p>
            <a:pPr marL="586232" indent="-514350"/>
            <a:r>
              <a:rPr lang="en-US" sz="2100" b="1" dirty="0">
                <a:solidFill>
                  <a:srgbClr val="007FA3"/>
                </a:solidFill>
              </a:rPr>
              <a:t>Legal and contractual feasibility </a:t>
            </a:r>
            <a:r>
              <a:rPr lang="en-US" sz="2100" dirty="0"/>
              <a:t>– process of assessing potential legal and contractual ramifications due to the construction of a system</a:t>
            </a:r>
          </a:p>
          <a:p>
            <a:pPr marL="586232" indent="-514350"/>
            <a:r>
              <a:rPr lang="en-US" sz="2100" b="1" dirty="0">
                <a:solidFill>
                  <a:srgbClr val="007FA3"/>
                </a:solidFill>
              </a:rPr>
              <a:t>Political feasibility </a:t>
            </a:r>
            <a:r>
              <a:rPr lang="en-US" sz="2100" dirty="0"/>
              <a:t>– process of evaluating how key stakeholders within the organization view the proposed system</a:t>
            </a:r>
          </a:p>
          <a:p>
            <a:pPr marL="586232" indent="-514350"/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0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4CCE-C89D-46BE-BAAE-64B57334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</a:t>
            </a:r>
            <a:r>
              <a:rPr lang="en-US" dirty="0" smtClean="0"/>
              <a:t>4: </a:t>
            </a:r>
            <a:r>
              <a:rPr lang="en-US" dirty="0"/>
              <a:t>Outline of a Baseline Project Plan</a:t>
            </a:r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E0AC802-8359-4359-8EF7-8BE9DDFFB38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954269" y="1204189"/>
            <a:ext cx="5086612" cy="5804633"/>
          </a:xfrm>
        </p:spPr>
      </p:pic>
    </p:spTree>
    <p:extLst>
      <p:ext uri="{BB962C8B-B14F-4D97-AF65-F5344CB8AC3E}">
        <p14:creationId xmlns:p14="http://schemas.microsoft.com/office/powerpoint/2010/main" val="224052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Baseline Project Plan </a:t>
            </a:r>
            <a:r>
              <a:rPr lang="en-US" sz="2000" dirty="0"/>
              <a:t>(1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586232" indent="-514350"/>
            <a:r>
              <a:rPr lang="en-US" sz="2800" dirty="0"/>
              <a:t>There are four major sections of the baseline project plan as follows: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Introduction</a:t>
            </a:r>
          </a:p>
          <a:p>
            <a:pPr marL="1473200" lvl="2" indent="-514350"/>
            <a:r>
              <a:rPr lang="en-US" sz="2000" dirty="0"/>
              <a:t>Provides a brief overview of the entire document and a recommended course of action</a:t>
            </a:r>
          </a:p>
          <a:p>
            <a:pPr marL="1473200" lvl="2" indent="-514350"/>
            <a:r>
              <a:rPr lang="en-US" sz="2000" dirty="0"/>
              <a:t>Should include the definition of project scope (example seen in figure 5-10). Scope depends on these factors:</a:t>
            </a:r>
          </a:p>
          <a:p>
            <a:pPr marL="1930400" lvl="3" indent="-514350"/>
            <a:r>
              <a:rPr lang="en-US" sz="1800" dirty="0"/>
              <a:t>Organizational units affected by new system</a:t>
            </a:r>
          </a:p>
          <a:p>
            <a:pPr marL="1930400" lvl="3" indent="-514350"/>
            <a:r>
              <a:rPr lang="en-US" sz="1800" dirty="0"/>
              <a:t>Current systems that will interact with or change because of new system</a:t>
            </a:r>
          </a:p>
          <a:p>
            <a:pPr marL="1930400" lvl="3" indent="-514350"/>
            <a:r>
              <a:rPr lang="en-US" sz="1800" dirty="0"/>
              <a:t>People who are affected by new system</a:t>
            </a:r>
          </a:p>
          <a:p>
            <a:pPr marL="1930400" lvl="3" indent="-514350"/>
            <a:r>
              <a:rPr lang="en-US" sz="1800" dirty="0"/>
              <a:t>Range of potential system capabilities</a:t>
            </a:r>
          </a:p>
          <a:p>
            <a:pPr marL="1473200" lvl="2" indent="-51435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571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A05C-29D6-42A6-BC86-3ACCBD3B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Figure 5</a:t>
            </a:r>
            <a:r>
              <a:rPr lang="en-US" sz="2500" dirty="0" smtClean="0"/>
              <a:t>: </a:t>
            </a:r>
            <a:r>
              <a:rPr lang="en-US" sz="2500" dirty="0"/>
              <a:t>Project Scope Statement for the Customer Tracking Systems (Pine Valley Furniture) </a:t>
            </a:r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4D03415-8C1D-49AC-9ACB-39E903E34BE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573474" y="1555749"/>
            <a:ext cx="4680766" cy="5341499"/>
          </a:xfrm>
        </p:spPr>
      </p:pic>
    </p:spTree>
    <p:extLst>
      <p:ext uri="{BB962C8B-B14F-4D97-AF65-F5344CB8AC3E}">
        <p14:creationId xmlns:p14="http://schemas.microsoft.com/office/powerpoint/2010/main" val="51398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Baseline Project Plan </a:t>
            </a:r>
            <a:r>
              <a:rPr lang="en-US" sz="2000" dirty="0"/>
              <a:t>(2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073150" lvl="1" indent="-514350">
              <a:buFont typeface="+mj-lt"/>
              <a:buAutoNum type="arabicPeriod" startAt="2"/>
            </a:pPr>
            <a:r>
              <a:rPr lang="en-US" sz="2400" dirty="0"/>
              <a:t>System Definition Section</a:t>
            </a:r>
          </a:p>
          <a:p>
            <a:pPr marL="1473200" lvl="2" indent="-514350"/>
            <a:r>
              <a:rPr lang="en-US" sz="2000" dirty="0"/>
              <a:t>Contains an outline of alternative solutions which could be stated as follow:</a:t>
            </a:r>
          </a:p>
          <a:p>
            <a:pPr marL="1930400" lvl="3" indent="-514350"/>
            <a:r>
              <a:rPr lang="en-US" sz="1800" dirty="0"/>
              <a:t>Web-based online system</a:t>
            </a:r>
          </a:p>
          <a:p>
            <a:pPr marL="1930400" lvl="3" indent="-514350"/>
            <a:r>
              <a:rPr lang="en-US" sz="1800" dirty="0"/>
              <a:t>Mainframe with central database</a:t>
            </a:r>
          </a:p>
          <a:p>
            <a:pPr marL="1930400" lvl="3" indent="-514350"/>
            <a:r>
              <a:rPr lang="en-US" sz="1800" dirty="0"/>
              <a:t>Local area network with decentralized database</a:t>
            </a:r>
          </a:p>
          <a:p>
            <a:pPr marL="1930400" lvl="3" indent="-514350"/>
            <a:r>
              <a:rPr lang="en-US" sz="1800" dirty="0"/>
              <a:t>Batch data input with online retrieval</a:t>
            </a:r>
          </a:p>
          <a:p>
            <a:pPr marL="1930400" lvl="3" indent="-514350"/>
            <a:r>
              <a:rPr lang="en-US" sz="1800" dirty="0"/>
              <a:t>Purchasing of a prewritten package</a:t>
            </a:r>
          </a:p>
          <a:p>
            <a:pPr marL="1073150" lvl="1" indent="-514350">
              <a:buFont typeface="+mj-lt"/>
              <a:buAutoNum type="arabicPeriod" startAt="2"/>
            </a:pPr>
            <a:r>
              <a:rPr lang="en-US" sz="2400" dirty="0"/>
              <a:t>Feasibility Assessment Section</a:t>
            </a:r>
          </a:p>
          <a:p>
            <a:pPr marL="1473200" lvl="2" indent="-514350"/>
            <a:r>
              <a:rPr lang="en-US" sz="2000" dirty="0"/>
              <a:t>Relates to project costs and benefits</a:t>
            </a:r>
          </a:p>
          <a:p>
            <a:pPr marL="1473200" lvl="2" indent="-514350"/>
            <a:r>
              <a:rPr lang="en-US" sz="2000" dirty="0"/>
              <a:t>Primarily concerned with gaining rough estimates of human resource requirements</a:t>
            </a:r>
          </a:p>
          <a:p>
            <a:pPr marL="1473200" lvl="2" indent="-51435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253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Baseline Project Plan </a:t>
            </a:r>
            <a:r>
              <a:rPr lang="en-US" sz="2000" dirty="0"/>
              <a:t>(3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073150" lvl="1" indent="-514350">
              <a:buFont typeface="+mj-lt"/>
              <a:buAutoNum type="arabicPeriod" startAt="4"/>
            </a:pPr>
            <a:r>
              <a:rPr lang="en-US" sz="2400" dirty="0"/>
              <a:t>Management Issues Section</a:t>
            </a:r>
            <a:endParaRPr lang="en-US" sz="2000" dirty="0"/>
          </a:p>
          <a:p>
            <a:pPr marL="1473200" lvl="2" indent="-514350"/>
            <a:r>
              <a:rPr lang="en-US" sz="2000" dirty="0"/>
              <a:t>Includes managerial concerns related to the project</a:t>
            </a:r>
          </a:p>
          <a:p>
            <a:pPr marL="1473200" lvl="2" indent="-514350"/>
            <a:r>
              <a:rPr lang="en-US" sz="2000" dirty="0"/>
              <a:t>Figure 6</a:t>
            </a:r>
            <a:r>
              <a:rPr lang="en-US" sz="2000" dirty="0" smtClean="0"/>
              <a:t> </a:t>
            </a:r>
            <a:r>
              <a:rPr lang="en-US" sz="2000" dirty="0"/>
              <a:t>reveals the task responsibilities for an sample project</a:t>
            </a:r>
          </a:p>
          <a:p>
            <a:pPr marL="1473200" lvl="2" indent="-514350"/>
            <a:r>
              <a:rPr lang="en-US" sz="2000" dirty="0"/>
              <a:t>Figure 7</a:t>
            </a:r>
            <a:r>
              <a:rPr lang="en-US" sz="2000" dirty="0" smtClean="0"/>
              <a:t> </a:t>
            </a:r>
            <a:r>
              <a:rPr lang="en-US" sz="2000" dirty="0"/>
              <a:t>reveals the project communications matrix sample</a:t>
            </a:r>
          </a:p>
        </p:txBody>
      </p:sp>
    </p:spTree>
    <p:extLst>
      <p:ext uri="{BB962C8B-B14F-4D97-AF65-F5344CB8AC3E}">
        <p14:creationId xmlns:p14="http://schemas.microsoft.com/office/powerpoint/2010/main" val="200435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C80E-E0D4-442F-845A-8FD0A0F3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Figure </a:t>
            </a:r>
            <a:r>
              <a:rPr lang="en-US" sz="3400" dirty="0" smtClean="0"/>
              <a:t>6: </a:t>
            </a:r>
            <a:r>
              <a:rPr lang="en-US" sz="3400" dirty="0"/>
              <a:t>Task Responsibility Matrix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663CE59-51FD-4878-8224-7954EF278EE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57200" y="1604467"/>
            <a:ext cx="8229600" cy="3295054"/>
          </a:xfrm>
        </p:spPr>
      </p:pic>
    </p:spTree>
    <p:extLst>
      <p:ext uri="{BB962C8B-B14F-4D97-AF65-F5344CB8AC3E}">
        <p14:creationId xmlns:p14="http://schemas.microsoft.com/office/powerpoint/2010/main" val="223393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BFD0-C64D-4115-A336-9D8E9F05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Figure </a:t>
            </a:r>
            <a:r>
              <a:rPr lang="en-US" sz="2200" dirty="0" smtClean="0"/>
              <a:t>7: </a:t>
            </a:r>
            <a:r>
              <a:rPr lang="en-US" sz="2200" dirty="0"/>
              <a:t>The Project Communication Matrix Provides a High-Level Summary of the Communications Plan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3B267C-1E97-4D58-8F13-9CAEE05D0A7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57200" y="2207221"/>
            <a:ext cx="8229600" cy="2089546"/>
          </a:xfrm>
        </p:spPr>
      </p:pic>
    </p:spTree>
    <p:extLst>
      <p:ext uri="{BB962C8B-B14F-4D97-AF65-F5344CB8AC3E}">
        <p14:creationId xmlns:p14="http://schemas.microsoft.com/office/powerpoint/2010/main" val="2187243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Reviewing the Baseline Project Plan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600" dirty="0"/>
              <a:t>Must review the BPP to verify it makes sense</a:t>
            </a:r>
          </a:p>
          <a:p>
            <a:pPr marL="586232" indent="-514350"/>
            <a:r>
              <a:rPr lang="en-US" sz="2600" b="1" dirty="0">
                <a:solidFill>
                  <a:srgbClr val="007FA3"/>
                </a:solidFill>
              </a:rPr>
              <a:t>Walk-through</a:t>
            </a:r>
            <a:r>
              <a:rPr lang="en-US" sz="2600" dirty="0"/>
              <a:t> – peer group review of any product created during the systems development process; also call a structured walk-through</a:t>
            </a:r>
          </a:p>
          <a:p>
            <a:pPr marL="1073150" lvl="1" indent="-514350"/>
            <a:r>
              <a:rPr lang="en-US" sz="2200" dirty="0"/>
              <a:t>Not rigid nor formal or long</a:t>
            </a:r>
          </a:p>
          <a:p>
            <a:pPr marL="1073150" lvl="1" indent="-514350"/>
            <a:r>
              <a:rPr lang="en-US" sz="2200" dirty="0"/>
              <a:t>Roles include coordinator, presenter, user, secretary, standards bearer, and maintenance oracle</a:t>
            </a:r>
          </a:p>
          <a:p>
            <a:pPr marL="1073150" lvl="1" indent="-514350"/>
            <a:r>
              <a:rPr lang="en-US" sz="2200" dirty="0"/>
              <a:t>Can be applied to reviewing BPP, system specifications, logical and physical designs, program code, test procedures, manuals, and documentation</a:t>
            </a:r>
          </a:p>
          <a:p>
            <a:pPr marL="1073150" lvl="1" indent="-514350"/>
            <a:r>
              <a:rPr lang="en-US" sz="2200" dirty="0"/>
              <a:t>Ensures formal review points occur during the project</a:t>
            </a:r>
          </a:p>
        </p:txBody>
      </p:sp>
    </p:spTree>
    <p:extLst>
      <p:ext uri="{BB962C8B-B14F-4D97-AF65-F5344CB8AC3E}">
        <p14:creationId xmlns:p14="http://schemas.microsoft.com/office/powerpoint/2010/main" val="1032605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83D2-28F1-4F4F-B443-8E96D524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Figure </a:t>
            </a:r>
            <a:r>
              <a:rPr lang="en-US" dirty="0" smtClean="0"/>
              <a:t>8: </a:t>
            </a:r>
            <a:r>
              <a:rPr lang="en-US" dirty="0"/>
              <a:t>Walk-Through Review Form (Pine Valley Furniture)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F145C0D-BEAA-4D1A-BF8B-01F22FBCE04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606040" y="1166352"/>
            <a:ext cx="4556760" cy="5842393"/>
          </a:xfrm>
        </p:spPr>
      </p:pic>
    </p:spTree>
    <p:extLst>
      <p:ext uri="{BB962C8B-B14F-4D97-AF65-F5344CB8AC3E}">
        <p14:creationId xmlns:p14="http://schemas.microsoft.com/office/powerpoint/2010/main" val="3386026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6FA6-F1C8-415A-A262-531D513D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</a:t>
            </a:r>
            <a:r>
              <a:rPr lang="en-US" dirty="0" smtClean="0"/>
              <a:t>9: </a:t>
            </a:r>
            <a:r>
              <a:rPr lang="en-US" dirty="0"/>
              <a:t>PVF WebStore – Feasibility Concerns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7BAB6E-7AB2-4C82-8AEA-B389A41E43F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753720234"/>
              </p:ext>
            </p:extLst>
          </p:nvPr>
        </p:nvGraphicFramePr>
        <p:xfrm>
          <a:off x="457200" y="1555750"/>
          <a:ext cx="8229600" cy="2372360"/>
        </p:xfrm>
        <a:graphic>
          <a:graphicData uri="http://schemas.openxmlformats.org/drawingml/2006/table">
            <a:tbl>
              <a:tblPr firstRow="1" bandRow="1">
                <a:tableStyleId>{40F9630F-82C1-40B7-BC3A-925EFCFF5E92}</a:tableStyleId>
              </a:tblPr>
              <a:tblGrid>
                <a:gridCol w="2407186">
                  <a:extLst>
                    <a:ext uri="{9D8B030D-6E8A-4147-A177-3AD203B41FA5}">
                      <a16:colId xmlns:a16="http://schemas.microsoft.com/office/drawing/2014/main" val="3297183218"/>
                    </a:ext>
                  </a:extLst>
                </a:gridCol>
                <a:gridCol w="5822414">
                  <a:extLst>
                    <a:ext uri="{9D8B030D-6E8A-4147-A177-3AD203B41FA5}">
                      <a16:colId xmlns:a16="http://schemas.microsoft.com/office/drawing/2014/main" val="2175419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Feasibility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482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store is open 24/7/365</a:t>
                      </a:r>
                    </a:p>
                    <a:p>
                      <a:r>
                        <a:rPr lang="en-US" dirty="0"/>
                        <a:t>Returns/customer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3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skill set for development, maintenance, and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105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Must be open for business by Q1, 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0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 card fraud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398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distribution channel loses 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49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72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9516-2621-468A-8D98-F6D24F4E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Figure </a:t>
            </a:r>
            <a:r>
              <a:rPr lang="en-US" dirty="0" smtClean="0"/>
              <a:t>9: </a:t>
            </a:r>
            <a:r>
              <a:rPr lang="en-US" dirty="0"/>
              <a:t>Schedule for WebStore Project as Pine Valley Furniture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7C99E-3E71-4966-9B81-A2C59AD53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6419961"/>
            <a:ext cx="8229600" cy="351584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</a:t>
            </a:r>
            <a:r>
              <a:rPr lang="en-US" dirty="0"/>
              <a:t>: Microsoft Corporation)</a:t>
            </a:r>
          </a:p>
        </p:txBody>
      </p:sp>
      <p:pic>
        <p:nvPicPr>
          <p:cNvPr id="6" name="Content Placeholder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0660139D-B045-4C24-AF61-ABF8B7B0768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70218" y="1192193"/>
            <a:ext cx="8312474" cy="5227768"/>
          </a:xfrm>
        </p:spPr>
      </p:pic>
    </p:spTree>
    <p:extLst>
      <p:ext uri="{BB962C8B-B14F-4D97-AF65-F5344CB8AC3E}">
        <p14:creationId xmlns:p14="http://schemas.microsoft.com/office/powerpoint/2010/main" val="370709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Activity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Create lyrics and song (song adaption) for the following topics and perform to the class:</a:t>
            </a:r>
          </a:p>
          <a:p>
            <a:pPr marL="552450" indent="-514350">
              <a:buFont typeface="+mj-lt"/>
              <a:buAutoNum type="arabicPeriod"/>
            </a:pPr>
            <a:r>
              <a:rPr lang="en-US" dirty="0" smtClean="0"/>
              <a:t>Project Cost</a:t>
            </a:r>
          </a:p>
          <a:p>
            <a:pPr marL="552450" indent="-514350">
              <a:buFont typeface="+mj-lt"/>
              <a:buAutoNum type="arabicPeriod"/>
            </a:pPr>
            <a:r>
              <a:rPr lang="en-US" dirty="0" smtClean="0"/>
              <a:t>Project Risk Assessment</a:t>
            </a:r>
          </a:p>
          <a:p>
            <a:pPr marL="552450" indent="-514350">
              <a:buFont typeface="+mj-lt"/>
              <a:buAutoNum type="arabicPeriod"/>
            </a:pPr>
            <a:r>
              <a:rPr lang="en-US" dirty="0" smtClean="0"/>
              <a:t>Project feasibility </a:t>
            </a:r>
          </a:p>
          <a:p>
            <a:pPr marL="552450" indent="-514350">
              <a:buFont typeface="+mj-lt"/>
              <a:buAutoNum type="arabicPeriod"/>
            </a:pPr>
            <a:r>
              <a:rPr lang="en-US" dirty="0" smtClean="0"/>
              <a:t>Baseline Project Plan</a:t>
            </a:r>
            <a:endParaRPr lang="en-US" dirty="0"/>
          </a:p>
        </p:txBody>
      </p:sp>
      <p:pic>
        <p:nvPicPr>
          <p:cNvPr id="6" name="Picture 5" descr="Dance Vector of Dancing Peopl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004" y="4151355"/>
            <a:ext cx="3510915" cy="245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61434"/>
      </p:ext>
    </p:extLst>
  </p:cSld>
  <p:clrMapOvr>
    <a:masterClrMapping/>
  </p:clrMapOvr>
</p:sld>
</file>

<file path=ppt/theme/theme1.xml><?xml version="1.0" encoding="utf-8"?>
<a:theme xmlns:a="http://schemas.openxmlformats.org/drawingml/2006/main" name="1_508 Lectur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Valacich" id="{2752F006-D45C-4D86-8B6E-D993E293B9B9}" vid="{B31C3AE0-33F7-4D5F-A804-C88851B0C252}"/>
    </a:ext>
  </a:extLst>
</a:theme>
</file>

<file path=ppt/theme/theme2.xml><?xml version="1.0" encoding="utf-8"?>
<a:theme xmlns:a="http://schemas.openxmlformats.org/drawingml/2006/main" name="Cordel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35213</TotalTime>
  <Words>1643</Words>
  <Application>Microsoft Office PowerPoint</Application>
  <PresentationFormat>On-screen Show (4:3)</PresentationFormat>
  <Paragraphs>261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Noto Sans Symbols</vt:lpstr>
      <vt:lpstr>Roboto Slab</vt:lpstr>
      <vt:lpstr>Source Sans Pro</vt:lpstr>
      <vt:lpstr>Times New Roman</vt:lpstr>
      <vt:lpstr>Verdana</vt:lpstr>
      <vt:lpstr>1_508 Lecture</vt:lpstr>
      <vt:lpstr>Cordelia template</vt:lpstr>
      <vt:lpstr>Week 5 </vt:lpstr>
      <vt:lpstr>Introduction</vt:lpstr>
      <vt:lpstr>Figure 1: Systems Development Life Cycle with Project Initiation and Planning Highlighted</vt:lpstr>
      <vt:lpstr>Table 1: Elements of Project Initiation</vt:lpstr>
      <vt:lpstr>Table 2: Elements of Project Planning</vt:lpstr>
      <vt:lpstr>Deliverables and Outcomes</vt:lpstr>
      <vt:lpstr>Deliverables and Outcomes</vt:lpstr>
      <vt:lpstr>Assessing Project Feasibility</vt:lpstr>
      <vt:lpstr>Assessing Economic Feasibility</vt:lpstr>
      <vt:lpstr>Assessing Economic Feasibility</vt:lpstr>
      <vt:lpstr>Table 3: Intangible Benefits from the Development of an Information System</vt:lpstr>
      <vt:lpstr>Determining Project Costs</vt:lpstr>
      <vt:lpstr>Table 4: Possible Information Systems Costs</vt:lpstr>
      <vt:lpstr>Determining Project Costs</vt:lpstr>
      <vt:lpstr>Determining Project Costs (3 of 3)</vt:lpstr>
      <vt:lpstr>Figure 5: One-Time Costs for Customer Tracking System (Pine Valley System)</vt:lpstr>
      <vt:lpstr>Table 6: Web-Based System Costs</vt:lpstr>
      <vt:lpstr>Table 7: PVF WebStore – Project Benefits and Costs</vt:lpstr>
      <vt:lpstr>Assessing Technical Feasibility</vt:lpstr>
      <vt:lpstr>Table 8: Project Risk Assessment Factors</vt:lpstr>
      <vt:lpstr>Figure 3: Effects of Degree of Project Structure, Project Size, and Familiarity with Application Area on Project Implementation Risk</vt:lpstr>
      <vt:lpstr>Assessing Other Feasibility Concerns</vt:lpstr>
      <vt:lpstr>Figure 4: Outline of a Baseline Project Plan</vt:lpstr>
      <vt:lpstr>The Baseline Project Plan (1 of 3)</vt:lpstr>
      <vt:lpstr>Figure 5: Project Scope Statement for the Customer Tracking Systems (Pine Valley Furniture) </vt:lpstr>
      <vt:lpstr>The Baseline Project Plan (2 of 3)</vt:lpstr>
      <vt:lpstr>The Baseline Project Plan (3 of 3)</vt:lpstr>
      <vt:lpstr>Figure 6: Task Responsibility Matrix</vt:lpstr>
      <vt:lpstr>Figure 7: The Project Communication Matrix Provides a High-Level Summary of the Communications Plan</vt:lpstr>
      <vt:lpstr>Reviewing the Baseline Project Plan</vt:lpstr>
      <vt:lpstr>Figure 8: Walk-Through Review Form (Pine Valley Furniture)</vt:lpstr>
      <vt:lpstr>Table 9: PVF WebStore – Feasibility Concerns</vt:lpstr>
      <vt:lpstr>Figure 9: Schedule for WebStore Project as Pine Valley Furniture</vt:lpstr>
      <vt:lpstr>Group Activity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Accessible USHE Lecture PowerPoint Template</dc:title>
  <dc:subject>Psychology</dc:subject>
  <dc:creator>Crystal McCarthy</dc:creator>
  <cp:keywords>Psychology</cp:keywords>
  <cp:lastModifiedBy>fazmidar</cp:lastModifiedBy>
  <cp:revision>401</cp:revision>
  <dcterms:modified xsi:type="dcterms:W3CDTF">2022-11-16T03:22:20Z</dcterms:modified>
</cp:coreProperties>
</file>