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  <p:sldMasterId id="2147483659" r:id="rId2"/>
  </p:sldMasterIdLst>
  <p:notesMasterIdLst>
    <p:notesMasterId r:id="rId21"/>
  </p:notesMasterIdLst>
  <p:handoutMasterIdLst>
    <p:handoutMasterId r:id="rId22"/>
  </p:handoutMasterIdLst>
  <p:sldIdLst>
    <p:sldId id="270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44" r:id="rId13"/>
    <p:sldId id="450" r:id="rId14"/>
    <p:sldId id="453" r:id="rId15"/>
    <p:sldId id="451" r:id="rId16"/>
    <p:sldId id="452" r:id="rId17"/>
    <p:sldId id="454" r:id="rId18"/>
    <p:sldId id="455" r:id="rId19"/>
    <p:sldId id="465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ffrey Holcomb" initials="" lastIdx="3" clrIdx="0"/>
  <p:cmAuthor id="7" name="Maureen Steddin" initials="MS [2]" lastIdx="1" clrIdx="7"/>
  <p:cmAuthor id="1" name="Ruchi Sachdev" initials="" lastIdx="8" clrIdx="1"/>
  <p:cmAuthor id="8" name="Harold Wise" initials="HW" lastIdx="1" clrIdx="8">
    <p:extLst>
      <p:ext uri="{19B8F6BF-5375-455C-9EA6-DF929625EA0E}">
        <p15:presenceInfo xmlns:p15="http://schemas.microsoft.com/office/powerpoint/2012/main" userId="aa71e442b161ee55" providerId="Windows Live"/>
      </p:ext>
    </p:extLst>
  </p:cmAuthor>
  <p:cmAuthor id="2" name="Sarah Reusché" initials="" lastIdx="13" clrIdx="2"/>
  <p:cmAuthor id="3" name="Nitin Shankar" initials="" lastIdx="6" clrIdx="3"/>
  <p:cmAuthor id="4" name="Kristen Flathman" initials="" lastIdx="1" clrIdx="4"/>
  <p:cmAuthor id="5" name="Ben Schroeter" initials="" lastIdx="0" clrIdx="5"/>
  <p:cmAuthor id="6" name="Maureen Steddin" initials="MS" lastIdx="1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5" autoAdjust="0"/>
    <p:restoredTop sz="87350" autoAdjust="0"/>
  </p:normalViewPr>
  <p:slideViewPr>
    <p:cSldViewPr snapToGrid="0" snapToObjects="1">
      <p:cViewPr varScale="1">
        <p:scale>
          <a:sx n="57" d="100"/>
          <a:sy n="57" d="100"/>
        </p:scale>
        <p:origin x="136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31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6"/>
    </p:cViewPr>
  </p:sorterViewPr>
  <p:notesViewPr>
    <p:cSldViewPr snapToGrid="0" snapToObjects="1">
      <p:cViewPr varScale="1">
        <p:scale>
          <a:sx n="85" d="100"/>
          <a:sy n="85" d="100"/>
        </p:scale>
        <p:origin x="380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12/7/2022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C0F4D-8A6F-1C4A-B6BF-1558431E4F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30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B9DA-1DAD-4AB4-94B2-688DFC8B0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4693" y="6407662"/>
            <a:ext cx="7194635" cy="334534"/>
          </a:xfrm>
        </p:spPr>
        <p:txBody>
          <a:bodyPr/>
          <a:lstStyle>
            <a:lvl1pPr marL="101600" indent="0"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copyright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C35AB9-24C4-47CB-AA83-05CAEBB6D99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663" y="6407150"/>
            <a:ext cx="1401762" cy="334963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6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521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798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509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 +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481138"/>
            <a:ext cx="4484688" cy="44084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A3C12-C176-4C2E-9820-6A6035C43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2713" y="1481138"/>
            <a:ext cx="3592512" cy="37544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59F1CC-D06F-4B10-B166-6D6F2C78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2713" y="5399088"/>
            <a:ext cx="3592512" cy="490537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A6EBD-95B8-4957-AE05-FC01EF650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 hasCustomPrompt="1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	</a:t>
            </a:r>
            <a:endParaRPr dirty="0"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1" name="Shape 7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325" y="2643044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325" y="3613151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9412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29413" y="2651910"/>
            <a:ext cx="1957387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29413" y="3613151"/>
            <a:ext cx="1957387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B7866-709E-4B26-BCD7-5CF284C134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76705-5AD3-4E05-9DCF-CA01EBF96B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7648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9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77" r:id="rId2"/>
    <p:sldLayoutId id="2147483678" r:id="rId3"/>
    <p:sldLayoutId id="214748367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Shape 15" descr="Pearson Logo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 txBox="1"/>
          <p:nvPr/>
        </p:nvSpPr>
        <p:spPr>
          <a:xfrm>
            <a:off x="1600200" y="6429344"/>
            <a:ext cx="7162799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dirty="0"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2020, 2017, 2014 Pearson Education, Inc. All Rights Reserved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5" r:id="rId3"/>
    <p:sldLayoutId id="2147483656" r:id="rId4"/>
    <p:sldLayoutId id="2147483670" r:id="rId5"/>
    <p:sldLayoutId id="2147483669" r:id="rId6"/>
    <p:sldLayoutId id="2147483657" r:id="rId7"/>
    <p:sldLayoutId id="2147483674" r:id="rId8"/>
    <p:sldLayoutId id="214748367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ctrTitle"/>
          </p:nvPr>
        </p:nvSpPr>
        <p:spPr>
          <a:xfrm>
            <a:off x="685800" y="2841523"/>
            <a:ext cx="7772400" cy="7589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lvl="0">
              <a:buSzPct val="25000"/>
            </a:pPr>
            <a:r>
              <a:rPr lang="en-US" sz="4000" dirty="0">
                <a:latin typeface="+mj-lt"/>
                <a:cs typeface="Calibri" panose="020F0502020204030204" pitchFamily="34" charset="0"/>
              </a:rPr>
              <a:t>Week 9</a:t>
            </a:r>
            <a:br>
              <a:rPr lang="en-US" sz="3600" dirty="0">
                <a:latin typeface="+mj-lt"/>
              </a:rPr>
            </a:br>
            <a:endParaRPr lang="en-US" sz="3600" b="1" i="0" u="none" strike="noStrike" cap="none" dirty="0">
              <a:solidFill>
                <a:srgbClr val="007FA3"/>
              </a:solidFill>
              <a:latin typeface="+mj-lt"/>
              <a:sym typeface="Times New Roman"/>
            </a:endParaRPr>
          </a:p>
        </p:txBody>
      </p:sp>
      <p:sp>
        <p:nvSpPr>
          <p:cNvPr id="199" name="Shape 199"/>
          <p:cNvSpPr txBox="1">
            <a:spLocks noGrp="1"/>
          </p:cNvSpPr>
          <p:nvPr>
            <p:ph type="body" idx="4294967295"/>
          </p:nvPr>
        </p:nvSpPr>
        <p:spPr>
          <a:xfrm>
            <a:off x="452284" y="3962400"/>
            <a:ext cx="7688826" cy="10422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007FA3"/>
              </a:buClr>
              <a:buSzPct val="25000"/>
              <a:buFont typeface="Arial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sym typeface="Arial"/>
              </a:rPr>
              <a:t>Object-Oriented Analysis </a:t>
            </a:r>
            <a:r>
              <a:rPr lang="en-US" sz="4400" dirty="0"/>
              <a:t>And Design</a:t>
            </a:r>
            <a:endParaRPr lang="en-US" sz="4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2F01-146C-4CAD-A6E4-7D20202B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j-lt"/>
                <a:cs typeface="Calibri" panose="020F0502020204030204" pitchFamily="34" charset="0"/>
              </a:rPr>
              <a:t>Introduction</a:t>
            </a:r>
            <a:endParaRPr lang="en-US" sz="20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C61C0-F204-44D5-9F08-36A7BACD1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3200" dirty="0"/>
              <a:t>Object-Oriented Analysis And Design involves Use Case and Activity Diagram</a:t>
            </a:r>
          </a:p>
          <a:p>
            <a:r>
              <a:rPr lang="en-US" sz="3200" dirty="0"/>
              <a:t>Use cases are a different way to model the functionality of a business process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1844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</a:t>
            </a:r>
            <a:r>
              <a:rPr lang="en-US" sz="2000" dirty="0"/>
              <a:t>(1 of 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Use case </a:t>
            </a:r>
            <a:r>
              <a:rPr lang="en-US" sz="2800" dirty="0"/>
              <a:t>– depiction of a system’s behavior or functionality under various conditions as the system responds to requests from users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Actor</a:t>
            </a:r>
            <a:r>
              <a:rPr lang="en-US" sz="2800" dirty="0"/>
              <a:t> – external entity that interacts with a system</a:t>
            </a:r>
          </a:p>
        </p:txBody>
      </p:sp>
    </p:spTree>
    <p:extLst>
      <p:ext uri="{BB962C8B-B14F-4D97-AF65-F5344CB8AC3E}">
        <p14:creationId xmlns:p14="http://schemas.microsoft.com/office/powerpoint/2010/main" val="238088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383D-43BC-436A-8C79-7715E013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1: A Use Case Diagram for a University Registration System</a:t>
            </a:r>
          </a:p>
        </p:txBody>
      </p:sp>
      <p:pic>
        <p:nvPicPr>
          <p:cNvPr id="6" name="Content Placeholder 5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3FEE32FA-C329-48A7-8F65-40D96BBD4C7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332977" y="1555750"/>
            <a:ext cx="6478045" cy="3745120"/>
          </a:xfrm>
        </p:spPr>
      </p:pic>
    </p:spTree>
    <p:extLst>
      <p:ext uri="{BB962C8B-B14F-4D97-AF65-F5344CB8AC3E}">
        <p14:creationId xmlns:p14="http://schemas.microsoft.com/office/powerpoint/2010/main" val="175188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</a:t>
            </a:r>
            <a:r>
              <a:rPr lang="en-US" sz="2000" dirty="0"/>
              <a:t>(2 of 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4975861"/>
          </a:xfrm>
        </p:spPr>
        <p:txBody>
          <a:bodyPr/>
          <a:lstStyle/>
          <a:p>
            <a:r>
              <a:rPr lang="en-US" sz="2800" dirty="0"/>
              <a:t>A use case:</a:t>
            </a:r>
          </a:p>
          <a:p>
            <a:pPr lvl="1"/>
            <a:r>
              <a:rPr lang="en-US" sz="2400" dirty="0"/>
              <a:t>Can be stated as a present-tense verb</a:t>
            </a:r>
          </a:p>
          <a:p>
            <a:pPr lvl="1"/>
            <a:r>
              <a:rPr lang="en-US" sz="2400" dirty="0"/>
              <a:t>Describes the behavior of a system in response to requests from actors</a:t>
            </a:r>
          </a:p>
          <a:p>
            <a:pPr lvl="1"/>
            <a:r>
              <a:rPr lang="en-US" sz="2400" dirty="0"/>
              <a:t>Do not reflect all system requirements</a:t>
            </a:r>
          </a:p>
          <a:p>
            <a:pPr lvl="1"/>
            <a:r>
              <a:rPr lang="en-US" sz="2400" dirty="0"/>
              <a:t>Consists of actors and use cases</a:t>
            </a:r>
          </a:p>
          <a:p>
            <a:pPr lvl="1"/>
            <a:r>
              <a:rPr lang="en-US" sz="2400" dirty="0"/>
              <a:t>To identify a use case, ask the following questions:</a:t>
            </a:r>
          </a:p>
          <a:p>
            <a:pPr lvl="2"/>
            <a:r>
              <a:rPr lang="en-US" sz="2000" dirty="0"/>
              <a:t>What are the main task performed by each actor?</a:t>
            </a:r>
          </a:p>
          <a:p>
            <a:pPr lvl="2"/>
            <a:r>
              <a:rPr lang="en-US" sz="2000" dirty="0"/>
              <a:t>Will the actor read or update any information in the system?</a:t>
            </a:r>
          </a:p>
          <a:p>
            <a:pPr lvl="2"/>
            <a:r>
              <a:rPr lang="en-US" sz="2000" dirty="0"/>
              <a:t>Will the actor have to inform the systems about changes outside the system?</a:t>
            </a:r>
          </a:p>
          <a:p>
            <a:pPr lvl="2"/>
            <a:r>
              <a:rPr lang="en-US" sz="2000" dirty="0"/>
              <a:t>Does the actor have to be informed of unexpected changes?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3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Diagrams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Use case diagram </a:t>
            </a:r>
            <a:r>
              <a:rPr lang="en-US" sz="2800" dirty="0"/>
              <a:t>– picture showing system behavior, along with the key actors that interact with the system</a:t>
            </a:r>
          </a:p>
          <a:p>
            <a:pPr lvl="1"/>
            <a:r>
              <a:rPr lang="en-US" sz="2400" dirty="0"/>
              <a:t>Initiated by an actor</a:t>
            </a:r>
          </a:p>
          <a:p>
            <a:pPr lvl="1"/>
            <a:r>
              <a:rPr lang="en-US" sz="2400" dirty="0"/>
              <a:t>Represents complete functionality</a:t>
            </a:r>
          </a:p>
          <a:p>
            <a:r>
              <a:rPr lang="en-US" sz="2800" b="1" i="1" dirty="0"/>
              <a:t>Abstract use case </a:t>
            </a:r>
            <a:r>
              <a:rPr lang="en-US" sz="2800" dirty="0"/>
              <a:t>– use case that is initiated by another use case</a:t>
            </a:r>
          </a:p>
          <a:p>
            <a:endParaRPr lang="en-US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4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and Symbols </a:t>
            </a:r>
            <a:r>
              <a:rPr lang="en-US" sz="2000" dirty="0"/>
              <a:t>(1 of 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4949357"/>
          </a:xfrm>
        </p:spPr>
        <p:txBody>
          <a:bodyPr/>
          <a:lstStyle/>
          <a:p>
            <a:r>
              <a:rPr lang="en-US" sz="2800" b="1" dirty="0"/>
              <a:t>Actor</a:t>
            </a:r>
            <a:r>
              <a:rPr lang="en-US" sz="2800" dirty="0"/>
              <a:t> is a role, not an individual represented by stick figures</a:t>
            </a:r>
          </a:p>
          <a:p>
            <a:r>
              <a:rPr lang="en-US" sz="2800" b="1" dirty="0"/>
              <a:t>Use case </a:t>
            </a:r>
            <a:r>
              <a:rPr lang="en-US" sz="2800" dirty="0"/>
              <a:t>is represented by an ellipse and represents a single system function</a:t>
            </a:r>
          </a:p>
          <a:p>
            <a:r>
              <a:rPr lang="en-US" sz="2800" b="1" dirty="0"/>
              <a:t>System boundary</a:t>
            </a:r>
            <a:r>
              <a:rPr lang="en-US" sz="2800" dirty="0"/>
              <a:t>, represented by a box, includes all the relevant use cases (actors are outside the system boundary)</a:t>
            </a:r>
          </a:p>
          <a:p>
            <a:r>
              <a:rPr lang="en-US" sz="2800" b="1" dirty="0"/>
              <a:t>Connections</a:t>
            </a:r>
            <a:r>
              <a:rPr lang="en-US" sz="2800" dirty="0"/>
              <a:t> are an association between an actor and a use case and is represented by arrows</a:t>
            </a:r>
          </a:p>
          <a:p>
            <a:endParaRPr lang="en-US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6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and Symbols </a:t>
            </a:r>
            <a:r>
              <a:rPr lang="en-US" sz="2000" dirty="0"/>
              <a:t>(2 of 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358678"/>
            <a:ext cx="8229600" cy="4949357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</a:rPr>
              <a:t>Extend relationship </a:t>
            </a:r>
            <a:r>
              <a:rPr lang="en-US" sz="2800" dirty="0"/>
              <a:t>– association between two use cases where one adds new behaviors or actions to the other</a:t>
            </a:r>
          </a:p>
          <a:p>
            <a:r>
              <a:rPr lang="en-US" sz="2800" b="1" dirty="0">
                <a:solidFill>
                  <a:srgbClr val="007FA3"/>
                </a:solidFill>
              </a:rPr>
              <a:t>Include relationship </a:t>
            </a:r>
            <a:r>
              <a:rPr lang="en-US" sz="2800" dirty="0"/>
              <a:t>– association between two use cases where one use case uses the functionality contained in the other</a:t>
            </a:r>
          </a:p>
        </p:txBody>
      </p:sp>
    </p:spTree>
    <p:extLst>
      <p:ext uri="{BB962C8B-B14F-4D97-AF65-F5344CB8AC3E}">
        <p14:creationId xmlns:p14="http://schemas.microsoft.com/office/powerpoint/2010/main" val="130023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01C3-0A47-49D6-AA9A-391707D2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2: A Use Case Diagram Featuring an Include Relationship</a:t>
            </a:r>
          </a:p>
        </p:txBody>
      </p:sp>
      <p:pic>
        <p:nvPicPr>
          <p:cNvPr id="6" name="Content Placeholder 5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F6747C86-1069-4D50-810F-72BFC93BFD3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207863" y="1555750"/>
            <a:ext cx="6728274" cy="3758372"/>
          </a:xfrm>
        </p:spPr>
      </p:pic>
    </p:spTree>
    <p:extLst>
      <p:ext uri="{BB962C8B-B14F-4D97-AF65-F5344CB8AC3E}">
        <p14:creationId xmlns:p14="http://schemas.microsoft.com/office/powerpoint/2010/main" val="1078640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04D7-55AD-4997-9037-1FEADB2E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4646"/>
            <a:ext cx="8238931" cy="1220754"/>
          </a:xfrm>
        </p:spPr>
        <p:txBody>
          <a:bodyPr/>
          <a:lstStyle/>
          <a:p>
            <a:r>
              <a:rPr lang="en-US" dirty="0"/>
              <a:t>Figure 3: A Use Case Diagram for a Reservation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60C30-8696-4A16-9C21-95DAB9DF1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301674"/>
            <a:ext cx="8229600" cy="767664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i="1" dirty="0"/>
              <a:t>Source: </a:t>
            </a:r>
            <a:r>
              <a:rPr lang="en-US" dirty="0"/>
              <a:t>George, J. F., Batra, D., Valacich, J. S., &amp; Hoffer, J. A. (2007). </a:t>
            </a:r>
            <a:r>
              <a:rPr lang="en-US" i="1" dirty="0"/>
              <a:t>Object oriented systems analysis and design </a:t>
            </a:r>
            <a:r>
              <a:rPr lang="en-US" dirty="0"/>
              <a:t>(2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it-IT" dirty="0"/>
              <a:t>Ed.) (pp. 174, 168, 175, 172, 176, 177). </a:t>
            </a:r>
            <a:r>
              <a:rPr lang="en-US" dirty="0"/>
              <a:t>Reprinted and Electronically reproduced by permission of Pearson Education, Inc., New York, NY.)</a:t>
            </a:r>
          </a:p>
        </p:txBody>
      </p:sp>
      <p:pic>
        <p:nvPicPr>
          <p:cNvPr id="6" name="Content Placeholder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D33FC49-8B2F-43C1-9C2D-62B2266A496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542681" y="1555750"/>
            <a:ext cx="4058637" cy="3599346"/>
          </a:xfrm>
        </p:spPr>
      </p:pic>
    </p:spTree>
    <p:extLst>
      <p:ext uri="{BB962C8B-B14F-4D97-AF65-F5344CB8AC3E}">
        <p14:creationId xmlns:p14="http://schemas.microsoft.com/office/powerpoint/2010/main" val="1009113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Diagrams </a:t>
            </a:r>
            <a:r>
              <a:rPr lang="en-US" sz="2000" dirty="0"/>
              <a:t>(1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Activity diagrams </a:t>
            </a:r>
            <a:r>
              <a:rPr lang="en-US" sz="2400" dirty="0">
                <a:solidFill>
                  <a:schemeClr val="tx1"/>
                </a:solidFill>
              </a:rPr>
              <a:t>show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the conditional logic for the sequence of system activities needed to accomplish a business function</a:t>
            </a:r>
          </a:p>
          <a:p>
            <a:pPr marL="1073150" lvl="1" indent="-514350"/>
            <a:r>
              <a:rPr lang="en-US" sz="2400" dirty="0"/>
              <a:t>Show the order in which  the action take place and identify the outcomes.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6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4E31-1E81-49E9-8FB9-8C38BE9F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4: Basic Notation for Activity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BE820-283F-4DCC-9938-3006097B5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64696"/>
            <a:ext cx="8229600" cy="30464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A close up of a logo&#10;&#10;Description automatically generated">
            <a:extLst>
              <a:ext uri="{FF2B5EF4-FFF2-40B4-BE49-F238E27FC236}">
                <a16:creationId xmlns:a16="http://schemas.microsoft.com/office/drawing/2014/main" id="{8BC50A9C-6984-49B4-B492-9EAE126A1B9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265038" y="1513598"/>
            <a:ext cx="4613924" cy="3830804"/>
          </a:xfrm>
        </p:spPr>
      </p:pic>
    </p:spTree>
    <p:extLst>
      <p:ext uri="{BB962C8B-B14F-4D97-AF65-F5344CB8AC3E}">
        <p14:creationId xmlns:p14="http://schemas.microsoft.com/office/powerpoint/2010/main" val="30279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Diagrams </a:t>
            </a:r>
            <a:r>
              <a:rPr lang="en-US" sz="2000" dirty="0"/>
              <a:t>(2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600" dirty="0"/>
              <a:t>Elements of activity diagrams:</a:t>
            </a:r>
          </a:p>
          <a:p>
            <a:pPr marL="1073150" lvl="1" indent="-514350"/>
            <a:r>
              <a:rPr lang="en-US" sz="2100" b="1" dirty="0"/>
              <a:t>Activity</a:t>
            </a:r>
            <a:r>
              <a:rPr lang="en-US" sz="2100" dirty="0"/>
              <a:t>: a rounded rectangle representing a behavior carried out while in a particular state</a:t>
            </a:r>
          </a:p>
          <a:p>
            <a:pPr marL="1073150" lvl="1" indent="-514350"/>
            <a:r>
              <a:rPr lang="en-US" sz="2100" b="1" dirty="0"/>
              <a:t>Branch</a:t>
            </a:r>
            <a:r>
              <a:rPr lang="en-US" sz="2100" dirty="0"/>
              <a:t>: a diamond symbol representing a choice that must be made</a:t>
            </a:r>
          </a:p>
          <a:p>
            <a:pPr marL="1073150" lvl="1" indent="-514350"/>
            <a:r>
              <a:rPr lang="en-US" sz="2100" b="1" dirty="0"/>
              <a:t>Merge</a:t>
            </a:r>
            <a:r>
              <a:rPr lang="en-US" sz="2100" dirty="0"/>
              <a:t>: also a diamond symbol representing where two arrows come together but only one leaves</a:t>
            </a:r>
          </a:p>
          <a:p>
            <a:pPr marL="1073150" lvl="1" indent="-514350"/>
            <a:r>
              <a:rPr lang="en-US" sz="2100" b="1" dirty="0"/>
              <a:t>Fork</a:t>
            </a:r>
            <a:r>
              <a:rPr lang="en-US" sz="2100" dirty="0"/>
              <a:t>: a horizontal line representing where two parallel activities begin</a:t>
            </a:r>
          </a:p>
          <a:p>
            <a:pPr marL="1073150" lvl="1" indent="-514350"/>
            <a:r>
              <a:rPr lang="en-US" sz="2100" b="1" dirty="0"/>
              <a:t>Join</a:t>
            </a:r>
            <a:r>
              <a:rPr lang="en-US" sz="2100" dirty="0"/>
              <a:t>: also a horizontal line representing where two activities come together but only one leaves</a:t>
            </a:r>
          </a:p>
          <a:p>
            <a:pPr marL="1073150" lvl="1" indent="-514350"/>
            <a:r>
              <a:rPr lang="en-US" sz="2100" b="1" dirty="0">
                <a:solidFill>
                  <a:schemeClr val="tx1"/>
                </a:solidFill>
              </a:rPr>
              <a:t>Swimlane</a:t>
            </a:r>
            <a:r>
              <a:rPr lang="en-US" sz="2100" dirty="0"/>
              <a:t>: columns representing different organizational units of the system</a:t>
            </a:r>
          </a:p>
          <a:p>
            <a:pPr marL="1073150" lvl="1" indent="-514350"/>
            <a:endParaRPr lang="en-US" sz="2400" dirty="0"/>
          </a:p>
          <a:p>
            <a:pPr marL="1073150" lvl="1" indent="-51435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461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BB07-BDEE-4D87-88D0-5CF7FF63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8094"/>
            <a:ext cx="8258783" cy="1227305"/>
          </a:xfrm>
        </p:spPr>
        <p:txBody>
          <a:bodyPr/>
          <a:lstStyle/>
          <a:p>
            <a:r>
              <a:rPr lang="en-US" dirty="0"/>
              <a:t>Figure 5: Simple Activity Diagram Showing Conditional Logic</a:t>
            </a:r>
          </a:p>
        </p:txBody>
      </p:sp>
      <p:pic>
        <p:nvPicPr>
          <p:cNvPr id="6" name="Content Placeholder 5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9E2449AA-234D-445A-B9C6-F6C35BDA640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463817" y="1555750"/>
            <a:ext cx="4216366" cy="4311811"/>
          </a:xfrm>
        </p:spPr>
      </p:pic>
    </p:spTree>
    <p:extLst>
      <p:ext uri="{BB962C8B-B14F-4D97-AF65-F5344CB8AC3E}">
        <p14:creationId xmlns:p14="http://schemas.microsoft.com/office/powerpoint/2010/main" val="2945743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2E9A-3308-4072-A189-D978CCEE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78238" cy="1295399"/>
          </a:xfrm>
        </p:spPr>
        <p:txBody>
          <a:bodyPr/>
          <a:lstStyle/>
          <a:p>
            <a:r>
              <a:rPr lang="en-US" dirty="0"/>
              <a:t>Figure 6: Simple Activity Diagram Showing Conditional Logic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2318B5-9843-46DC-82F7-EA1039BACA8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542226" y="1555749"/>
            <a:ext cx="4059548" cy="4017697"/>
          </a:xfrm>
        </p:spPr>
      </p:pic>
    </p:spTree>
    <p:extLst>
      <p:ext uri="{BB962C8B-B14F-4D97-AF65-F5344CB8AC3E}">
        <p14:creationId xmlns:p14="http://schemas.microsoft.com/office/powerpoint/2010/main" val="3971635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4D49-9C0A-497F-AED0-61852177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7: Activity Diagram for a Customer Order Process</a:t>
            </a:r>
          </a:p>
        </p:txBody>
      </p:sp>
      <p:pic>
        <p:nvPicPr>
          <p:cNvPr id="6" name="Content Placeholder 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24008B06-038C-4E37-A567-297214BD088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936473" y="1462984"/>
            <a:ext cx="3271054" cy="4713264"/>
          </a:xfrm>
        </p:spPr>
      </p:pic>
    </p:spTree>
    <p:extLst>
      <p:ext uri="{BB962C8B-B14F-4D97-AF65-F5344CB8AC3E}">
        <p14:creationId xmlns:p14="http://schemas.microsoft.com/office/powerpoint/2010/main" val="3373631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Diagrams </a:t>
            </a:r>
            <a:r>
              <a:rPr lang="en-US" sz="2000" dirty="0"/>
              <a:t>(3 of 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dirty="0"/>
              <a:t>Use activity diagrams to:</a:t>
            </a:r>
          </a:p>
          <a:p>
            <a:pPr marL="1073150" lvl="1" indent="-514350"/>
            <a:r>
              <a:rPr lang="en-US" sz="2400" dirty="0"/>
              <a:t>Depict the flow of control from activity to activity</a:t>
            </a:r>
          </a:p>
          <a:p>
            <a:pPr marL="1073150" lvl="1" indent="-514350"/>
            <a:r>
              <a:rPr lang="en-US" sz="2400" dirty="0"/>
              <a:t>Help in use case analysis to understand what actions are needed to take place</a:t>
            </a:r>
          </a:p>
          <a:p>
            <a:pPr marL="1073150" lvl="1" indent="-514350"/>
            <a:r>
              <a:rPr lang="en-US" sz="2400" dirty="0"/>
              <a:t>Help in identifying extensions in a use case</a:t>
            </a:r>
          </a:p>
          <a:p>
            <a:pPr marL="1073150" lvl="1" indent="-514350"/>
            <a:r>
              <a:rPr lang="en-US" sz="2400" dirty="0"/>
              <a:t>Model work flow and business processes</a:t>
            </a:r>
          </a:p>
          <a:p>
            <a:pPr marL="1073150" lvl="1" indent="-514350"/>
            <a:r>
              <a:rPr lang="en-US" sz="2400" dirty="0"/>
              <a:t>Model the sequential and concurrent steps in a computation process</a:t>
            </a:r>
            <a:r>
              <a:rPr lang="en-US" sz="2800" dirty="0"/>
              <a:t> </a:t>
            </a:r>
          </a:p>
          <a:p>
            <a:pPr marL="1073150" lvl="1" indent="-514350"/>
            <a:endParaRPr lang="en-US" sz="2400" dirty="0"/>
          </a:p>
          <a:p>
            <a:pPr marL="1073150" lvl="1" indent="-51435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9216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Use Case Diagram Exercise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sz="3200" dirty="0"/>
              <a:t>Draw Use Case Diagram for Airline Ticketing process</a:t>
            </a:r>
          </a:p>
          <a:p>
            <a:endParaRPr lang="en-MY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690" y="2730377"/>
            <a:ext cx="4911115" cy="36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6692"/>
      </p:ext>
    </p:extLst>
  </p:cSld>
  <p:clrMapOvr>
    <a:masterClrMapping/>
  </p:clrMapOvr>
</p:sld>
</file>

<file path=ppt/theme/theme1.xml><?xml version="1.0" encoding="utf-8"?>
<a:theme xmlns:a="http://schemas.openxmlformats.org/drawingml/2006/main" name="1_508 Lectur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C1D44C1E-9EBB-412A-BA0C-DCE179B6EC19}" vid="{3161DD84-284C-40F7-B4D0-8E6A5EB9A114}"/>
    </a:ext>
  </a:extLst>
</a:theme>
</file>

<file path=ppt/theme/theme2.xml><?xml version="1.0" encoding="utf-8"?>
<a:theme xmlns:a="http://schemas.openxmlformats.org/drawingml/2006/main" name="508 Lecture">
  <a:themeElements>
    <a:clrScheme name="Custom 40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33399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C1D44C1E-9EBB-412A-BA0C-DCE179B6EC19}" vid="{BFC39A0E-65C1-4534-BBED-7B0D47F25E23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ValacichTemplate</Template>
  <TotalTime>257</TotalTime>
  <Words>670</Words>
  <Application>Microsoft Office PowerPoint</Application>
  <PresentationFormat>On-screen Show (4:3)</PresentationFormat>
  <Paragraphs>60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Noto Sans Symbols</vt:lpstr>
      <vt:lpstr>Times New Roman</vt:lpstr>
      <vt:lpstr>Verdana</vt:lpstr>
      <vt:lpstr>1_508 Lecture</vt:lpstr>
      <vt:lpstr>508 Lecture</vt:lpstr>
      <vt:lpstr>Week 9 </vt:lpstr>
      <vt:lpstr>Introduction</vt:lpstr>
      <vt:lpstr>Use Cases (1 of 2)</vt:lpstr>
      <vt:lpstr>Figure 1: A Use Case Diagram for a University Registration System</vt:lpstr>
      <vt:lpstr>Use Cases (2 of 2)</vt:lpstr>
      <vt:lpstr>Use Case Diagrams</vt:lpstr>
      <vt:lpstr>Definitions and Symbols (1 of 2)</vt:lpstr>
      <vt:lpstr>Definitions and Symbols (2 of 2)</vt:lpstr>
      <vt:lpstr>Figure 2: A Use Case Diagram Featuring an Include Relationship</vt:lpstr>
      <vt:lpstr>Figure 3: A Use Case Diagram for a Reservation System</vt:lpstr>
      <vt:lpstr>Activity Diagrams (1 of 3)</vt:lpstr>
      <vt:lpstr>Figure 4: Basic Notation for Activity Diagrams</vt:lpstr>
      <vt:lpstr>Activity Diagrams (2 of 3)</vt:lpstr>
      <vt:lpstr>Figure 5: Simple Activity Diagram Showing Conditional Logic</vt:lpstr>
      <vt:lpstr>Figure 6: Simple Activity Diagram Showing Conditional Logic</vt:lpstr>
      <vt:lpstr>Figure 7: Activity Diagram for a Customer Order Process</vt:lpstr>
      <vt:lpstr>Activity Diagrams (3 of 3)</vt:lpstr>
      <vt:lpstr>Use Case Diagram Exercise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Systems Analysis and Design</dc:title>
  <dc:subject>Psychology</dc:subject>
  <dc:creator>Harold Wise</dc:creator>
  <cp:keywords>Psychology</cp:keywords>
  <cp:lastModifiedBy>NURUL FAZMIDAR BINTI MOHD NOOR</cp:lastModifiedBy>
  <cp:revision>27</cp:revision>
  <dcterms:created xsi:type="dcterms:W3CDTF">2018-12-24T02:09:04Z</dcterms:created>
  <dcterms:modified xsi:type="dcterms:W3CDTF">2022-12-07T04:37:25Z</dcterms:modified>
</cp:coreProperties>
</file>