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notesMasterIdLst>
    <p:notesMasterId r:id="rId26"/>
  </p:notesMasterIdLst>
  <p:sldIdLst>
    <p:sldId id="256" r:id="rId2"/>
    <p:sldId id="258" r:id="rId3"/>
    <p:sldId id="285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8" r:id="rId19"/>
    <p:sldId id="279" r:id="rId20"/>
    <p:sldId id="283" r:id="rId21"/>
    <p:sldId id="266" r:id="rId22"/>
    <p:sldId id="264" r:id="rId23"/>
    <p:sldId id="282" r:id="rId24"/>
    <p:sldId id="28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FDA9C-8E94-46FF-B1DA-F87B4E9CA83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9CB6C-5C52-40B5-95D4-E5FC17515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85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66913" y="1360350"/>
            <a:ext cx="77432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9196833" y="6199950"/>
            <a:ext cx="1692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Google Shape;12;p2"/>
          <p:cNvSpPr/>
          <p:nvPr/>
        </p:nvSpPr>
        <p:spPr>
          <a:xfrm>
            <a:off x="9939167" y="5638800"/>
            <a:ext cx="1692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" name="Google Shape;13;p2"/>
          <p:cNvSpPr/>
          <p:nvPr/>
        </p:nvSpPr>
        <p:spPr>
          <a:xfrm>
            <a:off x="11770303" y="4597554"/>
            <a:ext cx="1012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" name="Google Shape;14;p2"/>
          <p:cNvSpPr/>
          <p:nvPr/>
        </p:nvSpPr>
        <p:spPr>
          <a:xfrm>
            <a:off x="11569400" y="6577875"/>
            <a:ext cx="1692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Google Shape;15;p2"/>
          <p:cNvSpPr/>
          <p:nvPr/>
        </p:nvSpPr>
        <p:spPr>
          <a:xfrm>
            <a:off x="3962967" y="633400"/>
            <a:ext cx="1692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" name="Google Shape;16;p2"/>
          <p:cNvSpPr/>
          <p:nvPr/>
        </p:nvSpPr>
        <p:spPr>
          <a:xfrm>
            <a:off x="772847" y="3373479"/>
            <a:ext cx="1692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Google Shape;17;p2"/>
          <p:cNvSpPr/>
          <p:nvPr/>
        </p:nvSpPr>
        <p:spPr>
          <a:xfrm>
            <a:off x="415791" y="791518"/>
            <a:ext cx="1692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" name="Google Shape;18;p2"/>
          <p:cNvSpPr/>
          <p:nvPr/>
        </p:nvSpPr>
        <p:spPr>
          <a:xfrm>
            <a:off x="835096" y="1339872"/>
            <a:ext cx="3384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" name="Google Shape;19;p2"/>
          <p:cNvSpPr/>
          <p:nvPr/>
        </p:nvSpPr>
        <p:spPr>
          <a:xfrm>
            <a:off x="10806000" y="4963100"/>
            <a:ext cx="2536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" name="Google Shape;20;p2"/>
          <p:cNvSpPr/>
          <p:nvPr/>
        </p:nvSpPr>
        <p:spPr>
          <a:xfrm>
            <a:off x="11738600" y="5654657"/>
            <a:ext cx="2536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" name="Google Shape;21;p2"/>
          <p:cNvSpPr/>
          <p:nvPr/>
        </p:nvSpPr>
        <p:spPr>
          <a:xfrm>
            <a:off x="261747" y="1990890"/>
            <a:ext cx="1012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" name="Google Shape;22;p2"/>
          <p:cNvSpPr/>
          <p:nvPr/>
        </p:nvSpPr>
        <p:spPr>
          <a:xfrm>
            <a:off x="2317400" y="271322"/>
            <a:ext cx="3384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" name="Google Shape;23;p2"/>
          <p:cNvSpPr/>
          <p:nvPr/>
        </p:nvSpPr>
        <p:spPr>
          <a:xfrm>
            <a:off x="1028879" y="2504485"/>
            <a:ext cx="1012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" name="Google Shape;24;p2"/>
          <p:cNvSpPr/>
          <p:nvPr/>
        </p:nvSpPr>
        <p:spPr>
          <a:xfrm>
            <a:off x="5695445" y="474825"/>
            <a:ext cx="1012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2"/>
          <p:cNvSpPr/>
          <p:nvPr/>
        </p:nvSpPr>
        <p:spPr>
          <a:xfrm>
            <a:off x="10305617" y="6127438"/>
            <a:ext cx="338400" cy="2541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890566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2061367" y="2034925"/>
            <a:ext cx="77768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2061367" y="3710548"/>
            <a:ext cx="77768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>
                <a:solidFill>
                  <a:srgbClr val="607D8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9078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 descr="connections-0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8" y="0"/>
            <a:ext cx="1217614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620400" y="2501400"/>
            <a:ext cx="89512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57200" algn="ctr" rtl="0">
              <a:spcBef>
                <a:spcPts val="600"/>
              </a:spcBef>
              <a:spcAft>
                <a:spcPts val="0"/>
              </a:spcAft>
              <a:buClr>
                <a:srgbClr val="263238"/>
              </a:buClr>
              <a:buSzPts val="3600"/>
              <a:buChar char="◎"/>
              <a:defRPr sz="3600" i="1"/>
            </a:lvl1pPr>
            <a:lvl2pPr marL="914400" lvl="1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○"/>
              <a:defRPr sz="3600" i="1"/>
            </a:lvl2pPr>
            <a:lvl3pPr marL="1371600" lvl="2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◉"/>
              <a:defRPr sz="3600" i="1"/>
            </a:lvl3pPr>
            <a:lvl4pPr marL="1828800" lvl="3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●"/>
              <a:defRPr sz="3600" i="1"/>
            </a:lvl4pPr>
            <a:lvl5pPr marL="2286000" lvl="4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○"/>
              <a:defRPr sz="3600" i="1"/>
            </a:lvl5pPr>
            <a:lvl6pPr marL="2743200" lvl="5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■"/>
              <a:defRPr sz="3600" i="1"/>
            </a:lvl6pPr>
            <a:lvl7pPr marL="3200400" lvl="6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●"/>
              <a:defRPr sz="3600" i="1"/>
            </a:lvl7pPr>
            <a:lvl8pPr marL="3657600" lvl="7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○"/>
              <a:defRPr sz="3600" i="1"/>
            </a:lvl8pPr>
            <a:lvl9pPr marL="4114800" lvl="8" indent="-45720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■"/>
              <a:defRPr sz="3600" i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32" name="Google Shape;32;p4"/>
          <p:cNvGrpSpPr/>
          <p:nvPr/>
        </p:nvGrpSpPr>
        <p:grpSpPr>
          <a:xfrm>
            <a:off x="4791200" y="1074285"/>
            <a:ext cx="2609600" cy="1093200"/>
            <a:chOff x="3593400" y="1760085"/>
            <a:chExt cx="1957200" cy="109320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872097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>
                  <a:solidFill>
                    <a:srgbClr val="0091E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60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4989460" y="871980"/>
            <a:ext cx="591200" cy="3624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5486400" y="269685"/>
            <a:ext cx="609600" cy="804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4"/>
          <p:cNvCxnSpPr/>
          <p:nvPr/>
        </p:nvCxnSpPr>
        <p:spPr>
          <a:xfrm rot="10800000" flipH="1">
            <a:off x="6332100" y="753125"/>
            <a:ext cx="126800" cy="3489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-116" y="6333125"/>
            <a:ext cx="121920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00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048200" y="410826"/>
            <a:ext cx="100956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1048183" y="1600200"/>
            <a:ext cx="49004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◎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◉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6243545" y="1600200"/>
            <a:ext cx="49004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◎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◉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1205845" y="6333134"/>
            <a:ext cx="7316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18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1048200" y="410826"/>
            <a:ext cx="100956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1205845" y="6333134"/>
            <a:ext cx="7316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198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609600" y="5407123"/>
            <a:ext cx="10972800" cy="491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-123" y="6333125"/>
            <a:ext cx="121920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0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>
  <p:cSld name="Blank complete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35400" y="-19800"/>
            <a:ext cx="12262800" cy="68976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11205845" y="6333134"/>
            <a:ext cx="7316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54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67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Learning Objectives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 hasCustomPrompt="1"/>
          </p:nvPr>
        </p:nvSpPr>
        <p:spPr>
          <a:xfrm>
            <a:off x="609600" y="215371"/>
            <a:ext cx="10972800" cy="622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63" name="Shape 63"/>
          <p:cNvSpPr txBox="1">
            <a:spLocks noGrp="1"/>
          </p:cNvSpPr>
          <p:nvPr>
            <p:ph type="body" idx="1" hasCustomPrompt="1"/>
          </p:nvPr>
        </p:nvSpPr>
        <p:spPr>
          <a:xfrm>
            <a:off x="609600" y="816430"/>
            <a:ext cx="10972800" cy="40276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Learning Objective(s)</a:t>
            </a:r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609600" y="1358679"/>
            <a:ext cx="10972800" cy="47674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5" name="Shape 65"/>
          <p:cNvSpPr txBox="1">
            <a:spLocks noGrp="1"/>
          </p:cNvSpPr>
          <p:nvPr>
            <p:ph type="ftr" idx="11"/>
          </p:nvPr>
        </p:nvSpPr>
        <p:spPr>
          <a:xfrm>
            <a:off x="125293" y="6172200"/>
            <a:ext cx="1146047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dt" idx="10"/>
          </p:nvPr>
        </p:nvSpPr>
        <p:spPr>
          <a:xfrm>
            <a:off x="8447617" y="113072"/>
            <a:ext cx="28447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11292415" y="113072"/>
            <a:ext cx="735711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buSzPct val="25000"/>
            </a:pPr>
            <a:fld id="{00000000-1234-1234-1234-123412341234}" type="slidenum">
              <a:rPr lang="en-US" sz="90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>
                <a:buSzPct val="25000"/>
              </a:pPr>
              <a:t>‹#›</a:t>
            </a:fld>
            <a:endParaRPr lang="en-US" sz="9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3606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 hasCustomPrompt="1"/>
          </p:nvPr>
        </p:nvSpPr>
        <p:spPr>
          <a:xfrm>
            <a:off x="609600" y="228601"/>
            <a:ext cx="109728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55" name="Shape 55"/>
          <p:cNvSpPr txBox="1">
            <a:spLocks noGrp="1"/>
          </p:cNvSpPr>
          <p:nvPr>
            <p:ph type="body" idx="1" hasCustomPrompt="1"/>
          </p:nvPr>
        </p:nvSpPr>
        <p:spPr>
          <a:xfrm>
            <a:off x="609600" y="5050972"/>
            <a:ext cx="109728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125293" y="6172200"/>
            <a:ext cx="1146047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8447617" y="113072"/>
            <a:ext cx="28447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11292415" y="113072"/>
            <a:ext cx="735711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buSzPct val="25000"/>
            </a:pPr>
            <a:fld id="{00000000-1234-1234-1234-123412341234}" type="slidenum">
              <a:rPr lang="en-US" sz="90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>
                <a:buSzPct val="25000"/>
              </a:pPr>
              <a:t>‹#›</a:t>
            </a:fld>
            <a:endParaRPr lang="en-US" sz="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1556327"/>
            <a:ext cx="10972800" cy="339178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295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48200" y="410826"/>
            <a:ext cx="10095600" cy="9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3000"/>
              <a:buFont typeface="Source Sans Pro"/>
              <a:buChar char="◎"/>
              <a:defRPr sz="30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○"/>
              <a:defRPr sz="24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◉"/>
              <a:defRPr sz="24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05845" y="6333134"/>
            <a:ext cx="7316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367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6" r:id="rId4"/>
    <p:sldLayoutId id="2147483678" r:id="rId5"/>
    <p:sldLayoutId id="2147483679" r:id="rId6"/>
    <p:sldLayoutId id="2147483681" r:id="rId7"/>
    <p:sldLayoutId id="2147483682" r:id="rId8"/>
    <p:sldLayoutId id="2147483683" r:id="rId9"/>
    <p:sldLayoutId id="2147483684" r:id="rId10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b="1" dirty="0"/>
              <a:t>Week 3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Identification of System Development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1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6371"/>
            <a:ext cx="10972800" cy="622828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Learning Objectives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50236" y="1571223"/>
            <a:ext cx="9034429" cy="4554940"/>
          </a:xfrm>
        </p:spPr>
        <p:txBody>
          <a:bodyPr>
            <a:normAutofit/>
          </a:bodyPr>
          <a:lstStyle/>
          <a:p>
            <a:pPr marL="255588" indent="-255588" algn="just"/>
            <a:r>
              <a:rPr lang="en-US" sz="2700" dirty="0">
                <a:solidFill>
                  <a:schemeClr val="tx1"/>
                </a:solidFill>
              </a:rPr>
              <a:t>Describe steps involved when identifying, selecting, initiating and planning projects</a:t>
            </a:r>
          </a:p>
          <a:p>
            <a:pPr marL="255588" indent="-255588" algn="just"/>
            <a:r>
              <a:rPr lang="en-US" sz="2700" dirty="0">
                <a:solidFill>
                  <a:schemeClr val="tx1"/>
                </a:solidFill>
              </a:rPr>
              <a:t>Discuss the content of and need for a Statement of Work and Baseline Project Plan</a:t>
            </a:r>
          </a:p>
          <a:p>
            <a:pPr marL="255588" indent="-255588" algn="just"/>
            <a:r>
              <a:rPr lang="en-US" sz="2700" dirty="0">
                <a:solidFill>
                  <a:schemeClr val="tx1"/>
                </a:solidFill>
              </a:rPr>
              <a:t>Describe various methods for accessing project feasibility.</a:t>
            </a:r>
          </a:p>
        </p:txBody>
      </p:sp>
    </p:spTree>
    <p:extLst>
      <p:ext uri="{BB962C8B-B14F-4D97-AF65-F5344CB8AC3E}">
        <p14:creationId xmlns:p14="http://schemas.microsoft.com/office/powerpoint/2010/main" val="1522075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BDF65-D142-C7AD-8014-90AF9287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E252-4679-8FAF-2C7B-EF4D2FAF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6371"/>
            <a:ext cx="10972800" cy="622828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Managing the Information Systems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27466-EA7F-0E4A-1543-14FDF7C596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50236" y="1571223"/>
            <a:ext cx="9034429" cy="4554940"/>
          </a:xfrm>
        </p:spPr>
        <p:txBody>
          <a:bodyPr>
            <a:normAutofit/>
          </a:bodyPr>
          <a:lstStyle/>
          <a:p>
            <a:pPr algn="just"/>
            <a:r>
              <a:rPr lang="en-US" sz="2700" b="1" dirty="0">
                <a:solidFill>
                  <a:srgbClr val="007FA3"/>
                </a:solidFill>
              </a:rPr>
              <a:t>Project manager </a:t>
            </a:r>
            <a:r>
              <a:rPr lang="en-US" sz="2700" b="1" dirty="0">
                <a:solidFill>
                  <a:schemeClr val="tx1"/>
                </a:solidFill>
              </a:rPr>
              <a:t>–</a:t>
            </a:r>
            <a:r>
              <a:rPr lang="en-US" sz="2700" b="1" dirty="0">
                <a:solidFill>
                  <a:srgbClr val="007FA3"/>
                </a:solidFill>
              </a:rPr>
              <a:t> </a:t>
            </a:r>
            <a:r>
              <a:rPr lang="en-US" sz="2700" dirty="0"/>
              <a:t>systems analyst with a diverse set of skills—management, leadership, technical, conflict management, and customer relationship—who is responsible for initiating, planning, executing, and closing down a project.</a:t>
            </a:r>
          </a:p>
          <a:p>
            <a:pPr algn="just"/>
            <a:r>
              <a:rPr lang="en-US" sz="2700" b="1" dirty="0">
                <a:solidFill>
                  <a:srgbClr val="007FA3"/>
                </a:solidFill>
              </a:rPr>
              <a:t>Project</a:t>
            </a:r>
            <a:r>
              <a:rPr lang="en-US" sz="2700" dirty="0"/>
              <a:t> – planned undertaking of related activities to reach an objective that has a beginning and an end</a:t>
            </a:r>
          </a:p>
          <a:p>
            <a:pPr algn="just"/>
            <a:r>
              <a:rPr lang="en-US" sz="2700" b="1" dirty="0">
                <a:solidFill>
                  <a:srgbClr val="007FA3"/>
                </a:solidFill>
              </a:rPr>
              <a:t>Deliverable</a:t>
            </a:r>
            <a:r>
              <a:rPr lang="en-US" sz="2700" dirty="0"/>
              <a:t> – end product of an SDLC phase; </a:t>
            </a:r>
          </a:p>
        </p:txBody>
      </p:sp>
    </p:spTree>
    <p:extLst>
      <p:ext uri="{BB962C8B-B14F-4D97-AF65-F5344CB8AC3E}">
        <p14:creationId xmlns:p14="http://schemas.microsoft.com/office/powerpoint/2010/main" val="369230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17023"/>
            <a:ext cx="10972800" cy="622828"/>
          </a:xfrm>
        </p:spPr>
        <p:txBody>
          <a:bodyPr>
            <a:normAutofit fontScale="90000"/>
          </a:bodyPr>
          <a:lstStyle/>
          <a:p>
            <a:r>
              <a:rPr lang="en-US" dirty="0"/>
              <a:t>Deciding on Systems Projects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81200" y="1545466"/>
            <a:ext cx="8229600" cy="4580698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System Service Request (SSR)</a:t>
            </a:r>
            <a:r>
              <a:rPr lang="en-US" sz="2800" dirty="0"/>
              <a:t> – standard form for requesting or proposing systems development work within an organization</a:t>
            </a:r>
          </a:p>
          <a:p>
            <a:r>
              <a:rPr lang="en-US" sz="2800" b="1" dirty="0">
                <a:solidFill>
                  <a:srgbClr val="007FA3"/>
                </a:solidFill>
              </a:rPr>
              <a:t>Feasibility study </a:t>
            </a:r>
            <a:r>
              <a:rPr lang="en-US" sz="2800" dirty="0">
                <a:solidFill>
                  <a:schemeClr val="tx1"/>
                </a:solidFill>
              </a:rPr>
              <a:t>– study </a:t>
            </a:r>
            <a:r>
              <a:rPr lang="en-US" sz="2800" dirty="0"/>
              <a:t>that determines whether a requested system makes economic and operational sense for an organization</a:t>
            </a:r>
          </a:p>
        </p:txBody>
      </p:sp>
    </p:spTree>
    <p:extLst>
      <p:ext uri="{BB962C8B-B14F-4D97-AF65-F5344CB8AC3E}">
        <p14:creationId xmlns:p14="http://schemas.microsoft.com/office/powerpoint/2010/main" val="2475979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A4B8-70A2-43CA-8193-E1B6E4DE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Figure 1: A Project Manager Juggles Numerous Activities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CF6BC-D0CB-4E24-B42D-2E9598E87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5628068"/>
            <a:ext cx="8229600" cy="441270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US" i="1" dirty="0"/>
              <a:t>Source: </a:t>
            </a:r>
            <a:r>
              <a:rPr lang="en-US" dirty="0"/>
              <a:t>Media Bakery13/Shutterstock)</a:t>
            </a:r>
          </a:p>
        </p:txBody>
      </p:sp>
      <p:pic>
        <p:nvPicPr>
          <p:cNvPr id="6" name="Content Placeholder 5" descr="A picture containing text&#10;&#10;Description automatically generated">
            <a:extLst>
              <a:ext uri="{FF2B5EF4-FFF2-40B4-BE49-F238E27FC236}">
                <a16:creationId xmlns:a16="http://schemas.microsoft.com/office/drawing/2014/main" id="{FA82A281-2967-4FDA-8354-43481459E32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757557" y="1555749"/>
            <a:ext cx="3190032" cy="4042813"/>
          </a:xfrm>
        </p:spPr>
      </p:pic>
    </p:spTree>
    <p:extLst>
      <p:ext uri="{BB962C8B-B14F-4D97-AF65-F5344CB8AC3E}">
        <p14:creationId xmlns:p14="http://schemas.microsoft.com/office/powerpoint/2010/main" val="824216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8AB7-1DBB-47A4-8CB9-CE1E9A29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1: Common Activities and Skills of a Project Manager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DF5D54B-1745-4460-820E-2DE4383A50BA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1981200" y="1555750"/>
          <a:ext cx="8229600" cy="4531360"/>
        </p:xfrm>
        <a:graphic>
          <a:graphicData uri="http://schemas.openxmlformats.org/drawingml/2006/table">
            <a:tbl>
              <a:tblPr firstRow="1" bandRow="1"/>
              <a:tblGrid>
                <a:gridCol w="1345842">
                  <a:extLst>
                    <a:ext uri="{9D8B030D-6E8A-4147-A177-3AD203B41FA5}">
                      <a16:colId xmlns:a16="http://schemas.microsoft.com/office/drawing/2014/main" val="2392839412"/>
                    </a:ext>
                  </a:extLst>
                </a:gridCol>
                <a:gridCol w="2781837">
                  <a:extLst>
                    <a:ext uri="{9D8B030D-6E8A-4147-A177-3AD203B41FA5}">
                      <a16:colId xmlns:a16="http://schemas.microsoft.com/office/drawing/2014/main" val="837130331"/>
                    </a:ext>
                  </a:extLst>
                </a:gridCol>
                <a:gridCol w="4101921">
                  <a:extLst>
                    <a:ext uri="{9D8B030D-6E8A-4147-A177-3AD203B41FA5}">
                      <a16:colId xmlns:a16="http://schemas.microsoft.com/office/drawing/2014/main" val="1006730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Skill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029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Influencing the activities of others toward the attainment of a common goal through the use of intelligence, personality, and 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Communications; liaison between management, users, and developers; assigning activities; monitoring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961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Getting projects completed through the effective utilization of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Defining and sequencing activities; communicating expectations; assigning resources to activities; monitoring 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085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Customer relations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Working closely with customers to ensure that project deliverables meet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Interpreting system requests and specifications; site preparation and user training; contact point for 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61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Technical problem solving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Designing and sequencing activities to attain project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Interpreting system requests and specifications; defining activities and their sequence; making trade-offs between alternative solutions; designing solutions to problems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762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Conflict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Managing conflict within a project team to assure that conflict is not too high or too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Problem solving; smoothing out personality differences; compromising; goal setting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193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Team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Managing the project team for effective team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Communication within and between teams; peer evaluations; conflict resolution; team building; self-management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5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Risk and change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Identifying, assessing, and managing the risks and day-to-day changes that occur during a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Environmental scanning; risk and opportunity identification and assessment; forecasting; resource redeployment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833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954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59752"/>
            <a:ext cx="10972800" cy="622828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Management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81200" y="1687133"/>
            <a:ext cx="8229600" cy="44390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FA3"/>
                </a:solidFill>
              </a:rPr>
              <a:t>Project Management </a:t>
            </a:r>
            <a:r>
              <a:rPr lang="en-US" sz="2800" dirty="0"/>
              <a:t>– controlled process of initiating, planning, executing, and closing down a project</a:t>
            </a:r>
          </a:p>
          <a:p>
            <a:r>
              <a:rPr lang="en-US" sz="2800" dirty="0"/>
              <a:t>Phases of project management:</a:t>
            </a:r>
          </a:p>
          <a:p>
            <a:pPr lvl="1"/>
            <a:r>
              <a:rPr lang="en-US" sz="2400" dirty="0"/>
              <a:t>Initiating</a:t>
            </a:r>
          </a:p>
          <a:p>
            <a:pPr lvl="1"/>
            <a:r>
              <a:rPr lang="en-US" sz="2400" dirty="0"/>
              <a:t>Planning</a:t>
            </a:r>
          </a:p>
          <a:p>
            <a:pPr lvl="1"/>
            <a:r>
              <a:rPr lang="en-US" sz="2400" dirty="0"/>
              <a:t>Executing</a:t>
            </a:r>
          </a:p>
          <a:p>
            <a:pPr lvl="1"/>
            <a:r>
              <a:rPr lang="en-US" sz="2400" dirty="0"/>
              <a:t>Closing down</a:t>
            </a:r>
          </a:p>
        </p:txBody>
      </p:sp>
    </p:spTree>
    <p:extLst>
      <p:ext uri="{BB962C8B-B14F-4D97-AF65-F5344CB8AC3E}">
        <p14:creationId xmlns:p14="http://schemas.microsoft.com/office/powerpoint/2010/main" val="184106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56F06-405E-4A01-85D2-8530D410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23" y="107005"/>
            <a:ext cx="9646778" cy="1188395"/>
          </a:xfrm>
        </p:spPr>
        <p:txBody>
          <a:bodyPr/>
          <a:lstStyle/>
          <a:p>
            <a:r>
              <a:rPr lang="en-US" dirty="0"/>
              <a:t>Figure 2: Ten Project Planning Activities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4B78DFE-44F0-4E42-B0D0-FEE60A7F897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349653" y="1837760"/>
            <a:ext cx="3512478" cy="4068753"/>
          </a:xfrm>
        </p:spPr>
      </p:pic>
    </p:spTree>
    <p:extLst>
      <p:ext uri="{BB962C8B-B14F-4D97-AF65-F5344CB8AC3E}">
        <p14:creationId xmlns:p14="http://schemas.microsoft.com/office/powerpoint/2010/main" val="3462513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07DB-B0FC-4245-98B0-A68E60C4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300" dirty="0"/>
              <a:t>Figure 3: The Project Communication Matrix Provides a High-Level Summary of the Communication Plan</a:t>
            </a:r>
          </a:p>
        </p:txBody>
      </p:sp>
      <p:pic>
        <p:nvPicPr>
          <p:cNvPr id="7" name="Content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2A6876FC-35EF-474A-ADBA-70FE2CF921A1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180527" y="2145409"/>
            <a:ext cx="7967678" cy="3392488"/>
          </a:xfrm>
        </p:spPr>
      </p:pic>
    </p:spTree>
    <p:extLst>
      <p:ext uri="{BB962C8B-B14F-4D97-AF65-F5344CB8AC3E}">
        <p14:creationId xmlns:p14="http://schemas.microsoft.com/office/powerpoint/2010/main" val="797833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5371"/>
            <a:ext cx="7431993" cy="622828"/>
          </a:xfrm>
        </p:spPr>
        <p:txBody>
          <a:bodyPr/>
          <a:lstStyle/>
          <a:p>
            <a:r>
              <a:rPr lang="en-US" dirty="0"/>
              <a:t>Identifying and Selecting Systems Development Projects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1897167"/>
            <a:ext cx="9601200" cy="4579375"/>
          </a:xfrm>
        </p:spPr>
        <p:txBody>
          <a:bodyPr/>
          <a:lstStyle/>
          <a:p>
            <a:r>
              <a:rPr lang="en-US" sz="2600" dirty="0"/>
              <a:t>Identifying and selecting systems development projects is part of the first phase (Planning) of the SDLC</a:t>
            </a:r>
          </a:p>
          <a:p>
            <a:r>
              <a:rPr lang="en-US" sz="2600" dirty="0"/>
              <a:t>Many firms follow a very formal process for selecting projects</a:t>
            </a:r>
          </a:p>
          <a:p>
            <a:r>
              <a:rPr lang="en-US" sz="2600" dirty="0"/>
              <a:t>Requests come from a variety of sources:</a:t>
            </a:r>
          </a:p>
          <a:p>
            <a:pPr lvl="1"/>
            <a:r>
              <a:rPr lang="en-US" sz="2200" dirty="0"/>
              <a:t>By managers needing to replace aging existing systems</a:t>
            </a:r>
          </a:p>
          <a:p>
            <a:pPr lvl="1"/>
            <a:r>
              <a:rPr lang="en-US" sz="2200" dirty="0"/>
              <a:t>By managers wanting to make a system more efficient</a:t>
            </a:r>
          </a:p>
          <a:p>
            <a:pPr lvl="1"/>
            <a:r>
              <a:rPr lang="en-US" sz="2200" dirty="0"/>
              <a:t>By managers needing a new system 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57772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20C6-AD76-4A67-8B54-5F690BB9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Figure 4: Systems Development Life Cycle with Project Identification and Selection Highlighted</a:t>
            </a:r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0DCB9504-4F06-44BE-90FE-F54C797EE9C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160095" y="1555750"/>
            <a:ext cx="4146417" cy="4453776"/>
          </a:xfrm>
        </p:spPr>
      </p:pic>
    </p:spTree>
    <p:extLst>
      <p:ext uri="{BB962C8B-B14F-4D97-AF65-F5344CB8AC3E}">
        <p14:creationId xmlns:p14="http://schemas.microsoft.com/office/powerpoint/2010/main" val="323840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4653"/>
            <a:ext cx="10972800" cy="622828"/>
          </a:xfrm>
        </p:spPr>
        <p:txBody>
          <a:bodyPr/>
          <a:lstStyle/>
          <a:p>
            <a:r>
              <a:rPr lang="en-US" sz="3100" dirty="0"/>
              <a:t>Identifying and Selecting Projects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3200" dirty="0"/>
              <a:t>Project identification and selection consists of three primary activities: </a:t>
            </a:r>
          </a:p>
          <a:p>
            <a:pPr marL="1073150" lvl="1" indent="-514350">
              <a:buFont typeface="+mj-lt"/>
              <a:buAutoNum type="arabicPeriod"/>
            </a:pPr>
            <a:r>
              <a:rPr lang="en-US" sz="2800" dirty="0"/>
              <a:t>Identifying potential development projects</a:t>
            </a:r>
          </a:p>
          <a:p>
            <a:pPr marL="1473200" lvl="2" indent="-514350"/>
            <a:r>
              <a:rPr lang="en-US" sz="2800" dirty="0"/>
              <a:t>By key member of top management</a:t>
            </a:r>
          </a:p>
          <a:p>
            <a:pPr marL="1473200" lvl="2" indent="-514350"/>
            <a:r>
              <a:rPr lang="en-US" sz="2800" dirty="0"/>
              <a:t>By steering committee (</a:t>
            </a:r>
            <a:r>
              <a:rPr lang="en-US" sz="2800" i="1" dirty="0"/>
              <a:t>top-down source</a:t>
            </a:r>
            <a:r>
              <a:rPr lang="en-US" sz="2800" dirty="0"/>
              <a:t>)</a:t>
            </a:r>
          </a:p>
          <a:p>
            <a:pPr marL="1473200" lvl="2" indent="-514350"/>
            <a:r>
              <a:rPr lang="en-US" sz="2800" dirty="0"/>
              <a:t>By user departments (</a:t>
            </a:r>
            <a:r>
              <a:rPr lang="en-US" sz="2800" i="1" dirty="0"/>
              <a:t>bottom-up source</a:t>
            </a:r>
            <a:r>
              <a:rPr lang="en-US" sz="2800" dirty="0"/>
              <a:t>)</a:t>
            </a:r>
          </a:p>
          <a:p>
            <a:pPr marL="1473200" lvl="2" indent="-514350"/>
            <a:r>
              <a:rPr lang="en-US" sz="2800" dirty="0"/>
              <a:t>By development group or senior IS manager</a:t>
            </a:r>
            <a:endParaRPr lang="en-US" sz="2600" dirty="0"/>
          </a:p>
          <a:p>
            <a:pPr marL="1473200" lvl="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15188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 dirty="0"/>
              <a:t>Identifying and Selecting Projects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1273221"/>
            <a:ext cx="10972800" cy="4767485"/>
          </a:xfrm>
        </p:spPr>
        <p:txBody>
          <a:bodyPr/>
          <a:lstStyle/>
          <a:p>
            <a:pPr marL="1073150" lvl="1" indent="-514350">
              <a:buFont typeface="+mj-lt"/>
              <a:buAutoNum type="arabicPeriod" startAt="2"/>
            </a:pPr>
            <a:r>
              <a:rPr lang="en-US" sz="2800" dirty="0"/>
              <a:t>Classifying and ranking IS development projects</a:t>
            </a:r>
          </a:p>
          <a:p>
            <a:pPr marL="1473200" lvl="2" indent="-514350"/>
            <a:r>
              <a:rPr lang="en-US" sz="2400" dirty="0"/>
              <a:t>Using value chain analysis or other evaluation criteria</a:t>
            </a:r>
          </a:p>
          <a:p>
            <a:pPr marL="1930400" lvl="3" indent="-514350"/>
            <a:r>
              <a:rPr lang="en-US" sz="2200" b="1" dirty="0">
                <a:solidFill>
                  <a:srgbClr val="007FA3"/>
                </a:solidFill>
              </a:rPr>
              <a:t>Value chain analysis </a:t>
            </a:r>
            <a:r>
              <a:rPr lang="en-US" sz="2200" dirty="0"/>
              <a:t>– used in analyzing an organization’s activities to determine where value is added to products and/or services and the costs incurred for doing so; it usually also includes a comparison with the activities, added value, and costs of other organizations for the purpose of making improvements in the organization’s operations and performance</a:t>
            </a:r>
          </a:p>
          <a:p>
            <a:pPr marL="1073150" lvl="1" indent="-514350">
              <a:buFont typeface="+mj-lt"/>
              <a:buAutoNum type="arabicPeriod" startAt="3"/>
            </a:pPr>
            <a:r>
              <a:rPr lang="en-US" sz="2800" dirty="0"/>
              <a:t>Selecting IS development projects</a:t>
            </a:r>
          </a:p>
          <a:p>
            <a:pPr marL="1473200" lvl="2" indent="-514350"/>
            <a:r>
              <a:rPr lang="en-US" sz="2400" dirty="0"/>
              <a:t>Based on various factors with short- and long-term projects</a:t>
            </a:r>
          </a:p>
          <a:p>
            <a:pPr marL="1473200" lvl="2" indent="-514350"/>
            <a:r>
              <a:rPr lang="en-US" sz="2400" dirty="0"/>
              <a:t>Numerous factors must be considered-Figure 5.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013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B7D1F-B7FD-40E3-9F53-4E12B3DA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/>
              <a:t>Table 2: Characteristics of Alternative Methods for Making Information Systems Identification and Selection Decisions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4D4A6-5AF5-40BA-8C74-45FD97F15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5685184"/>
            <a:ext cx="8229600" cy="384155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US" i="1" dirty="0"/>
              <a:t>Source: </a:t>
            </a:r>
            <a:r>
              <a:rPr lang="en-US" dirty="0"/>
              <a:t>Based on Fuller et al., 2018; McKeen et al., 1994; GAO, 2000)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40170F-8E8A-4E3A-A833-E1A4AA62E1F5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1981200" y="1555750"/>
          <a:ext cx="8229600" cy="3723640"/>
        </p:xfrm>
        <a:graphic>
          <a:graphicData uri="http://schemas.openxmlformats.org/drawingml/2006/table">
            <a:tbl>
              <a:tblPr firstRow="1" bandRow="1"/>
              <a:tblGrid>
                <a:gridCol w="2312504">
                  <a:extLst>
                    <a:ext uri="{9D8B030D-6E8A-4147-A177-3AD203B41FA5}">
                      <a16:colId xmlns:a16="http://schemas.microsoft.com/office/drawing/2014/main" val="2488944428"/>
                    </a:ext>
                  </a:extLst>
                </a:gridCol>
                <a:gridCol w="5917096">
                  <a:extLst>
                    <a:ext uri="{9D8B030D-6E8A-4147-A177-3AD203B41FA5}">
                      <a16:colId xmlns:a16="http://schemas.microsoft.com/office/drawing/2014/main" val="446366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Selection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238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Top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Greater strategic focus</a:t>
                      </a:r>
                    </a:p>
                    <a:p>
                      <a:r>
                        <a:rPr lang="en-US" dirty="0"/>
                        <a:t>Largest project size</a:t>
                      </a:r>
                    </a:p>
                    <a:p>
                      <a:r>
                        <a:rPr lang="en-US" dirty="0"/>
                        <a:t>Longest project duration</a:t>
                      </a:r>
                    </a:p>
                    <a:p>
                      <a:r>
                        <a:rPr lang="en-US" dirty="0"/>
                        <a:t>Enterprise-wise consideration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492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Steering Committee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Cross-functional focus</a:t>
                      </a:r>
                    </a:p>
                    <a:p>
                      <a:r>
                        <a:rPr lang="en-US" dirty="0"/>
                        <a:t>Greater organizational change</a:t>
                      </a:r>
                    </a:p>
                    <a:p>
                      <a:r>
                        <a:rPr lang="en-US" dirty="0"/>
                        <a:t>Formal cost-benefit analysis</a:t>
                      </a:r>
                    </a:p>
                    <a:p>
                      <a:r>
                        <a:rPr lang="en-US" dirty="0"/>
                        <a:t>Larger and riskier projects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0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Functional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Narrow, nonstrategic focus</a:t>
                      </a:r>
                    </a:p>
                    <a:p>
                      <a:r>
                        <a:rPr lang="en-US" dirty="0"/>
                        <a:t>Faster development</a:t>
                      </a:r>
                    </a:p>
                    <a:p>
                      <a:r>
                        <a:rPr lang="en-US" dirty="0"/>
                        <a:t>Fewer users, management layers, and business functions involved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07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Development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Integration with existing systems focus</a:t>
                      </a:r>
                    </a:p>
                    <a:p>
                      <a:r>
                        <a:rPr lang="en-US" dirty="0"/>
                        <a:t>Fewer development delays</a:t>
                      </a:r>
                    </a:p>
                    <a:p>
                      <a:r>
                        <a:rPr lang="en-US" dirty="0"/>
                        <a:t>Less concern with cost-benefit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132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426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E952-F4D3-4F36-BA54-F45ABD98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Table 3: Possible Evaluation Criteria When Classifying and Ranking Projects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313F8CC-BACC-4FD2-B449-FFA20A0BD845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903661347"/>
              </p:ext>
            </p:extLst>
          </p:nvPr>
        </p:nvGraphicFramePr>
        <p:xfrm>
          <a:off x="1981200" y="2111227"/>
          <a:ext cx="8229600" cy="3332480"/>
        </p:xfrm>
        <a:graphic>
          <a:graphicData uri="http://schemas.openxmlformats.org/drawingml/2006/table">
            <a:tbl>
              <a:tblPr firstRow="1" bandRow="1"/>
              <a:tblGrid>
                <a:gridCol w="2418522">
                  <a:extLst>
                    <a:ext uri="{9D8B030D-6E8A-4147-A177-3AD203B41FA5}">
                      <a16:colId xmlns:a16="http://schemas.microsoft.com/office/drawing/2014/main" val="4257355957"/>
                    </a:ext>
                  </a:extLst>
                </a:gridCol>
                <a:gridCol w="5811078">
                  <a:extLst>
                    <a:ext uri="{9D8B030D-6E8A-4147-A177-3AD203B41FA5}">
                      <a16:colId xmlns:a16="http://schemas.microsoft.com/office/drawing/2014/main" val="1417718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Evaluation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776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 Chain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Extent to which activities add value and costs when developing products and/or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80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Strategic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Extent to which the project is viewed as helping the organization achieve its strategic objectives and long-term goals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89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Potential 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Extent to which the project is viewed as improving profits, customer service, and so forth, and the duration of these 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029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Resource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Amount and type of resources the project requires and their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4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Size/Duration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individuals and the length of time needed to complete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488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Technical Difficulty/Risks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Level of technical difficulty to successfully complete the project within given time and resource constraints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028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901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460A0-5FFA-40C5-8411-88AB385C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Figure 5: Project Selection Decisions Must Consider Numerous Factors and Can Have Numerous Outcomes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EF341B-D7EE-46D5-AA5F-9B3A78D09A7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783864" y="1555750"/>
            <a:ext cx="6624273" cy="4036667"/>
          </a:xfrm>
        </p:spPr>
      </p:pic>
    </p:spTree>
    <p:extLst>
      <p:ext uri="{BB962C8B-B14F-4D97-AF65-F5344CB8AC3E}">
        <p14:creationId xmlns:p14="http://schemas.microsoft.com/office/powerpoint/2010/main" val="464205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and Outcomes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2800" dirty="0"/>
              <a:t>Primary deliverable from first phase of planning is schedule of specific IS development projects</a:t>
            </a:r>
          </a:p>
          <a:p>
            <a:r>
              <a:rPr lang="en-US" sz="2800" dirty="0"/>
              <a:t>Project initiation and planning is next phase</a:t>
            </a:r>
          </a:p>
          <a:p>
            <a:r>
              <a:rPr lang="en-US" sz="2800" b="1" dirty="0">
                <a:solidFill>
                  <a:srgbClr val="007FA3"/>
                </a:solidFill>
              </a:rPr>
              <a:t>Incremental commitment </a:t>
            </a:r>
            <a:r>
              <a:rPr lang="en-US" sz="2800" dirty="0"/>
              <a:t>is a strategy in systems analysis and design in which the project is reviewed after each phase and continuation of the project is rejustified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904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Systems Planning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1358679"/>
            <a:ext cx="8876232" cy="4767485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Information systems planning (ISP) </a:t>
            </a:r>
            <a:r>
              <a:rPr lang="en-US" sz="2800" dirty="0"/>
              <a:t>– orderly means of assessing the information needs of an organization and defining new systems, databases, and technologies that will best satisfy those needs.</a:t>
            </a:r>
          </a:p>
          <a:p>
            <a:endParaRPr lang="en-US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50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DE1B-C809-4BB4-839D-96162409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6: Information Systems Planning is a Three-Step Process</a:t>
            </a:r>
          </a:p>
        </p:txBody>
      </p:sp>
      <p:pic>
        <p:nvPicPr>
          <p:cNvPr id="14" name="Content Placeholder 13" descr="A screenshot of a cell phone&#10;&#10;Description automatically generated">
            <a:extLst>
              <a:ext uri="{FF2B5EF4-FFF2-40B4-BE49-F238E27FC236}">
                <a16:creationId xmlns:a16="http://schemas.microsoft.com/office/drawing/2014/main" id="{0A79DB74-2669-4EE0-814E-0823DE6ECE5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065268" y="1555750"/>
            <a:ext cx="4061464" cy="3983659"/>
          </a:xfrm>
        </p:spPr>
      </p:pic>
    </p:spTree>
    <p:extLst>
      <p:ext uri="{BB962C8B-B14F-4D97-AF65-F5344CB8AC3E}">
        <p14:creationId xmlns:p14="http://schemas.microsoft.com/office/powerpoint/2010/main" val="3422503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Gantt Chart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MY" dirty="0"/>
              <a:t>List tasks</a:t>
            </a:r>
          </a:p>
          <a:p>
            <a:r>
              <a:rPr lang="en-MY" dirty="0"/>
              <a:t>Divide into phases</a:t>
            </a:r>
          </a:p>
          <a:p>
            <a:r>
              <a:rPr lang="en-MY" dirty="0"/>
              <a:t>List milestone</a:t>
            </a:r>
          </a:p>
          <a:p>
            <a:r>
              <a:rPr lang="en-MY" dirty="0"/>
              <a:t>Add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435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058" y="759504"/>
            <a:ext cx="10972800" cy="622828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Project Management Software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81200" y="1545465"/>
            <a:ext cx="8229600" cy="4580698"/>
          </a:xfrm>
        </p:spPr>
        <p:txBody>
          <a:bodyPr/>
          <a:lstStyle/>
          <a:p>
            <a:r>
              <a:rPr lang="en-US" sz="2800" dirty="0"/>
              <a:t>Many powerful software tools exist for assisting with project management</a:t>
            </a:r>
          </a:p>
          <a:p>
            <a:r>
              <a:rPr lang="en-US" sz="2800" dirty="0"/>
              <a:t>Microsoft Project is an example that can be used to:</a:t>
            </a:r>
          </a:p>
          <a:p>
            <a:pPr lvl="1"/>
            <a:r>
              <a:rPr lang="en-US" sz="2400" dirty="0"/>
              <a:t>Establish a project starting or ending date</a:t>
            </a:r>
          </a:p>
          <a:p>
            <a:pPr lvl="1"/>
            <a:r>
              <a:rPr lang="en-US" sz="2400" dirty="0"/>
              <a:t>Enter tasks and assign task relationships</a:t>
            </a:r>
          </a:p>
          <a:p>
            <a:pPr lvl="1"/>
            <a:r>
              <a:rPr lang="en-US" sz="2400" dirty="0"/>
              <a:t>Select a scheduling method to review project reports</a:t>
            </a:r>
          </a:p>
        </p:txBody>
      </p:sp>
    </p:spTree>
    <p:extLst>
      <p:ext uri="{BB962C8B-B14F-4D97-AF65-F5344CB8AC3E}">
        <p14:creationId xmlns:p14="http://schemas.microsoft.com/office/powerpoint/2010/main" val="3451826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D796-E4E2-4E3E-B7DD-C453B116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07005"/>
            <a:ext cx="8229599" cy="1448746"/>
          </a:xfrm>
        </p:spPr>
        <p:txBody>
          <a:bodyPr/>
          <a:lstStyle/>
          <a:p>
            <a:r>
              <a:rPr lang="en-US" sz="2700" dirty="0"/>
              <a:t>Figure 7: Gantt Chart Showing Project Tasks, Duration Times for Those Tasks, and Predecessors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066FD-5E2A-414C-B046-F306B9B5E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5692462"/>
            <a:ext cx="8229600" cy="376876"/>
          </a:xfrm>
        </p:spPr>
        <p:txBody>
          <a:bodyPr>
            <a:normAutofit/>
          </a:bodyPr>
          <a:lstStyle/>
          <a:p>
            <a:r>
              <a:rPr lang="en-US" dirty="0"/>
              <a:t>(</a:t>
            </a:r>
            <a:r>
              <a:rPr lang="en-US" i="1" dirty="0"/>
              <a:t>Source: </a:t>
            </a:r>
            <a:r>
              <a:rPr lang="en-US" dirty="0"/>
              <a:t>Microsoft Corporation)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412" y="1555752"/>
            <a:ext cx="8303485" cy="5230896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609600" y="1698171"/>
            <a:ext cx="10972800" cy="324993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444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D796-E4E2-4E3E-B7DD-C453B116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07005"/>
            <a:ext cx="8229599" cy="1448746"/>
          </a:xfrm>
        </p:spPr>
        <p:txBody>
          <a:bodyPr/>
          <a:lstStyle/>
          <a:p>
            <a:r>
              <a:rPr lang="en-US" sz="2700" dirty="0"/>
              <a:t>Figure 8: Gantt Chart Showing Project Tasks, Duration Times for Those Tasks, and Predecessors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066FD-5E2A-414C-B046-F306B9B5E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5692462"/>
            <a:ext cx="8229600" cy="376876"/>
          </a:xfrm>
        </p:spPr>
        <p:txBody>
          <a:bodyPr>
            <a:normAutofit/>
          </a:bodyPr>
          <a:lstStyle/>
          <a:p>
            <a:r>
              <a:rPr lang="en-US" dirty="0"/>
              <a:t>(</a:t>
            </a:r>
            <a:r>
              <a:rPr lang="en-US" i="1" dirty="0"/>
              <a:t>Source: </a:t>
            </a:r>
            <a:r>
              <a:rPr lang="en-US" dirty="0"/>
              <a:t>Microsoft Corporation) </a:t>
            </a:r>
          </a:p>
        </p:txBody>
      </p:sp>
      <p:pic>
        <p:nvPicPr>
          <p:cNvPr id="6" name="Content Placeholder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B56D4C06-B1FA-436B-BE94-997F3074BE3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3507395" y="1820669"/>
            <a:ext cx="6011529" cy="3939196"/>
          </a:xfrm>
        </p:spPr>
      </p:pic>
    </p:spTree>
    <p:extLst>
      <p:ext uri="{BB962C8B-B14F-4D97-AF65-F5344CB8AC3E}">
        <p14:creationId xmlns:p14="http://schemas.microsoft.com/office/powerpoint/2010/main" val="1160425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Activity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609600" y="1556327"/>
            <a:ext cx="10972800" cy="4387273"/>
          </a:xfrm>
        </p:spPr>
        <p:txBody>
          <a:bodyPr/>
          <a:lstStyle/>
          <a:p>
            <a:pPr marL="38100" indent="0" algn="just">
              <a:buNone/>
            </a:pPr>
            <a:r>
              <a:rPr lang="en-US" dirty="0"/>
              <a:t>Role Play in 4 situations:</a:t>
            </a:r>
          </a:p>
          <a:p>
            <a:pPr marL="552450" indent="-514350" algn="just">
              <a:buFont typeface="+mj-lt"/>
              <a:buAutoNum type="arabicPeriod"/>
            </a:pPr>
            <a:r>
              <a:rPr lang="en-US" dirty="0"/>
              <a:t>Speech from Project Manager briefing his job scope to his team members.</a:t>
            </a:r>
          </a:p>
          <a:p>
            <a:pPr marL="552450" indent="-514350" algn="just">
              <a:buFont typeface="+mj-lt"/>
              <a:buAutoNum type="arabicPeriod"/>
            </a:pPr>
            <a:r>
              <a:rPr lang="en-US" dirty="0"/>
              <a:t>Meeting System Analyst with IT Manager about Project Planning Activities.</a:t>
            </a:r>
          </a:p>
          <a:p>
            <a:pPr marL="552450" indent="-514350" algn="just">
              <a:buFont typeface="+mj-lt"/>
              <a:buAutoNum type="arabicPeriod"/>
            </a:pPr>
            <a:r>
              <a:rPr lang="en-US" dirty="0"/>
              <a:t>Discussion on project selection among top management and steering committee at </a:t>
            </a:r>
            <a:r>
              <a:rPr lang="en-US" dirty="0" err="1"/>
              <a:t>Rimba</a:t>
            </a:r>
            <a:r>
              <a:rPr lang="en-US" dirty="0"/>
              <a:t> Cafe.</a:t>
            </a:r>
          </a:p>
          <a:p>
            <a:pPr marL="552450" indent="-514350" algn="just">
              <a:buFont typeface="+mj-lt"/>
              <a:buAutoNum type="arabicPeriod"/>
            </a:pPr>
            <a:r>
              <a:rPr lang="en-US" dirty="0"/>
              <a:t>Training on Project Management Software with IT Staff.</a:t>
            </a:r>
          </a:p>
        </p:txBody>
      </p:sp>
    </p:spTree>
    <p:extLst>
      <p:ext uri="{BB962C8B-B14F-4D97-AF65-F5344CB8AC3E}">
        <p14:creationId xmlns:p14="http://schemas.microsoft.com/office/powerpoint/2010/main" val="2113734679"/>
      </p:ext>
    </p:extLst>
  </p:cSld>
  <p:clrMapOvr>
    <a:masterClrMapping/>
  </p:clrMapOvr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Cordelia · SlidesCarnival</Template>
  <TotalTime>903</TotalTime>
  <Words>1173</Words>
  <Application>Microsoft Office PowerPoint</Application>
  <PresentationFormat>Widescreen</PresentationFormat>
  <Paragraphs>137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Noto Sans Symbols</vt:lpstr>
      <vt:lpstr>Roboto Slab</vt:lpstr>
      <vt:lpstr>Source Sans Pro</vt:lpstr>
      <vt:lpstr>Times New Roman</vt:lpstr>
      <vt:lpstr>Cordelia template</vt:lpstr>
      <vt:lpstr>Week 3</vt:lpstr>
      <vt:lpstr>Learning Objectives</vt:lpstr>
      <vt:lpstr>Managing the Information Systems Project</vt:lpstr>
      <vt:lpstr>Deciding on Systems Projects</vt:lpstr>
      <vt:lpstr>Figure 1: A Project Manager Juggles Numerous Activities</vt:lpstr>
      <vt:lpstr>Table 1: Common Activities and Skills of a Project Manager</vt:lpstr>
      <vt:lpstr>Project Management</vt:lpstr>
      <vt:lpstr>Figure 2: Ten Project Planning Activities</vt:lpstr>
      <vt:lpstr>Figure 3: The Project Communication Matrix Provides a High-Level Summary of the Communication Plan</vt:lpstr>
      <vt:lpstr>Identifying and Selecting Systems Development Projects</vt:lpstr>
      <vt:lpstr>Figure 4: Systems Development Life Cycle with Project Identification and Selection Highlighted</vt:lpstr>
      <vt:lpstr>Identifying and Selecting Projects</vt:lpstr>
      <vt:lpstr>Identifying and Selecting Projects</vt:lpstr>
      <vt:lpstr>Table 2: Characteristics of Alternative Methods for Making Information Systems Identification and Selection Decisions</vt:lpstr>
      <vt:lpstr>Table 3: Possible Evaluation Criteria When Classifying and Ranking Projects</vt:lpstr>
      <vt:lpstr>Figure 5: Project Selection Decisions Must Consider Numerous Factors and Can Have Numerous Outcomes</vt:lpstr>
      <vt:lpstr>Deliverables and Outcomes</vt:lpstr>
      <vt:lpstr>Information Systems Planning</vt:lpstr>
      <vt:lpstr>Figure 6: Information Systems Planning is a Three-Step Process</vt:lpstr>
      <vt:lpstr>Gantt Chart</vt:lpstr>
      <vt:lpstr>Using Project Management Software</vt:lpstr>
      <vt:lpstr>Figure 7: Gantt Chart Showing Project Tasks, Duration Times for Those Tasks, and Predecessors</vt:lpstr>
      <vt:lpstr>Figure 8: Gantt Chart Showing Project Tasks, Duration Times for Those Tasks, and Predecessors</vt:lpstr>
      <vt:lpstr>Group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Liyana Shuib</dc:creator>
  <cp:lastModifiedBy>Tutut Herawan</cp:lastModifiedBy>
  <cp:revision>29</cp:revision>
  <dcterms:created xsi:type="dcterms:W3CDTF">2019-03-04T04:43:18Z</dcterms:created>
  <dcterms:modified xsi:type="dcterms:W3CDTF">2024-10-24T01:46:20Z</dcterms:modified>
</cp:coreProperties>
</file>