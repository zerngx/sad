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3" r:id="rId1"/>
    <p:sldMasterId id="2147483659" r:id="rId2"/>
  </p:sldMasterIdLst>
  <p:notesMasterIdLst>
    <p:notesMasterId r:id="rId31"/>
  </p:notesMasterIdLst>
  <p:handoutMasterIdLst>
    <p:handoutMasterId r:id="rId32"/>
  </p:handoutMasterIdLst>
  <p:sldIdLst>
    <p:sldId id="270" r:id="rId3"/>
    <p:sldId id="451" r:id="rId4"/>
    <p:sldId id="444" r:id="rId5"/>
    <p:sldId id="446" r:id="rId6"/>
    <p:sldId id="447" r:id="rId7"/>
    <p:sldId id="460" r:id="rId8"/>
    <p:sldId id="454" r:id="rId9"/>
    <p:sldId id="462" r:id="rId10"/>
    <p:sldId id="455" r:id="rId11"/>
    <p:sldId id="463" r:id="rId12"/>
    <p:sldId id="464" r:id="rId13"/>
    <p:sldId id="465" r:id="rId14"/>
    <p:sldId id="456" r:id="rId15"/>
    <p:sldId id="466" r:id="rId16"/>
    <p:sldId id="457" r:id="rId17"/>
    <p:sldId id="467" r:id="rId18"/>
    <p:sldId id="458" r:id="rId19"/>
    <p:sldId id="459" r:id="rId20"/>
    <p:sldId id="474" r:id="rId21"/>
    <p:sldId id="468" r:id="rId22"/>
    <p:sldId id="477" r:id="rId23"/>
    <p:sldId id="478" r:id="rId24"/>
    <p:sldId id="479" r:id="rId25"/>
    <p:sldId id="483" r:id="rId26"/>
    <p:sldId id="485" r:id="rId27"/>
    <p:sldId id="469" r:id="rId28"/>
    <p:sldId id="487" r:id="rId29"/>
    <p:sldId id="513" r:id="rId30"/>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 id="6" name="Maureen Steddin" initials="MS" lastIdx="1" clrIdx="6"/>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37" autoAdjust="0"/>
    <p:restoredTop sz="88549" autoAdjust="0"/>
  </p:normalViewPr>
  <p:slideViewPr>
    <p:cSldViewPr snapToGrid="0" snapToObjects="1">
      <p:cViewPr varScale="1">
        <p:scale>
          <a:sx n="58" d="100"/>
          <a:sy n="58" d="100"/>
        </p:scale>
        <p:origin x="1352" y="48"/>
      </p:cViewPr>
      <p:guideLst>
        <p:guide orient="horz" pos="2160"/>
        <p:guide pos="2880"/>
      </p:guideLst>
    </p:cSldViewPr>
  </p:slideViewPr>
  <p:outlineViewPr>
    <p:cViewPr>
      <p:scale>
        <a:sx n="33" d="100"/>
        <a:sy n="33" d="100"/>
      </p:scale>
      <p:origin x="0" y="-43118"/>
    </p:cViewPr>
  </p:outlineViewPr>
  <p:notesTextViewPr>
    <p:cViewPr>
      <p:scale>
        <a:sx n="3" d="2"/>
        <a:sy n="3" d="2"/>
      </p:scale>
      <p:origin x="0" y="0"/>
    </p:cViewPr>
  </p:notesTextViewPr>
  <p:sorterViewPr>
    <p:cViewPr>
      <p:scale>
        <a:sx n="100" d="100"/>
        <a:sy n="100" d="100"/>
      </p:scale>
      <p:origin x="0" y="-3346"/>
    </p:cViewPr>
  </p:sorterViewPr>
  <p:notesViewPr>
    <p:cSldViewPr snapToGrid="0" snapToObjects="1">
      <p:cViewPr varScale="1">
        <p:scale>
          <a:sx n="85" d="100"/>
          <a:sy n="85" d="100"/>
        </p:scale>
        <p:origin x="3802" y="4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commentAuthors" Target="commentAuthor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handoutMaster" Target="handoutMasters/handoutMaster1.xml"/><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12/7/2022</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dirty="0"/>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Shape 192"/>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baseline="0" dirty="0"/>
          </a:p>
        </p:txBody>
      </p:sp>
      <p:sp>
        <p:nvSpPr>
          <p:cNvPr id="193" name="Shape 193"/>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554989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9" name="Shape 19"/>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a:t>Click to edit Master title style</a:t>
            </a:r>
            <a:endParaRPr dirty="0"/>
          </a:p>
        </p:txBody>
      </p:sp>
      <p:sp>
        <p:nvSpPr>
          <p:cNvPr id="20" name="Shape 20"/>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r>
              <a:rPr lang="en-US"/>
              <a:t>Click to edit Master subtitle style</a:t>
            </a:r>
            <a:endParaRPr dirty="0"/>
          </a:p>
        </p:txBody>
      </p:sp>
      <p:sp>
        <p:nvSpPr>
          <p:cNvPr id="21" name="Shape 21"/>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100" b="0" i="0" u="none" strike="noStrike" kern="0" cap="none" spc="0" normalizeH="0" baseline="0" noProof="0">
              <a:ln>
                <a:noFill/>
              </a:ln>
              <a:solidFill>
                <a:srgbClr val="000000"/>
              </a:solidFill>
              <a:effectLst/>
              <a:uLnTx/>
              <a:uFillTx/>
              <a:latin typeface="Arial"/>
              <a:cs typeface="Arial"/>
              <a:sym typeface="Arial"/>
            </a:endParaRPr>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3" name="Text Placeholder 2">
            <a:extLst>
              <a:ext uri="{FF2B5EF4-FFF2-40B4-BE49-F238E27FC236}">
                <a16:creationId xmlns:a16="http://schemas.microsoft.com/office/drawing/2014/main" id="{0291B9DA-1DAD-4AB4-94B2-688DFC8B093A}"/>
              </a:ext>
            </a:extLst>
          </p:cNvPr>
          <p:cNvSpPr>
            <a:spLocks noGrp="1"/>
          </p:cNvSpPr>
          <p:nvPr>
            <p:ph type="body" sz="quarter" idx="13" hasCustomPrompt="1"/>
          </p:nvPr>
        </p:nvSpPr>
        <p:spPr>
          <a:xfrm>
            <a:off x="1494693" y="6407662"/>
            <a:ext cx="7194635" cy="334534"/>
          </a:xfrm>
        </p:spPr>
        <p:txBody>
          <a:bodyPr/>
          <a:lstStyle>
            <a:lvl1pPr marL="101600" indent="0" algn="r">
              <a:buNone/>
              <a:defRPr sz="1200">
                <a:latin typeface="Verdana" panose="020B0604030504040204" pitchFamily="34" charset="0"/>
                <a:ea typeface="Verdana" panose="020B0604030504040204" pitchFamily="34" charset="0"/>
                <a:cs typeface="Verdana" panose="020B0604030504040204" pitchFamily="34" charset="0"/>
              </a:defRPr>
            </a:lvl1pPr>
            <a:lvl2pPr>
              <a:defRPr sz="1200">
                <a:latin typeface="Verdana" panose="020B0604030504040204" pitchFamily="34" charset="0"/>
                <a:ea typeface="Verdana" panose="020B0604030504040204" pitchFamily="34" charset="0"/>
                <a:cs typeface="Verdana" panose="020B0604030504040204" pitchFamily="34" charset="0"/>
              </a:defRPr>
            </a:lvl2pPr>
            <a:lvl3pPr>
              <a:defRPr sz="1200">
                <a:latin typeface="Verdana" panose="020B0604030504040204" pitchFamily="34" charset="0"/>
                <a:ea typeface="Verdana" panose="020B0604030504040204" pitchFamily="34" charset="0"/>
                <a:cs typeface="Verdana" panose="020B0604030504040204" pitchFamily="34" charset="0"/>
              </a:defRPr>
            </a:lvl3pPr>
            <a:lvl4pPr>
              <a:defRPr sz="1200">
                <a:latin typeface="Verdana" panose="020B0604030504040204" pitchFamily="34" charset="0"/>
                <a:ea typeface="Verdana" panose="020B0604030504040204" pitchFamily="34" charset="0"/>
                <a:cs typeface="Verdana" panose="020B0604030504040204" pitchFamily="34" charset="0"/>
              </a:defRPr>
            </a:lvl4pPr>
            <a:lvl5pPr>
              <a:defRPr sz="1200">
                <a:latin typeface="Verdana" panose="020B0604030504040204" pitchFamily="34" charset="0"/>
                <a:ea typeface="Verdana" panose="020B0604030504040204" pitchFamily="34" charset="0"/>
                <a:cs typeface="Verdana" panose="020B0604030504040204" pitchFamily="34" charset="0"/>
              </a:defRPr>
            </a:lvl5pPr>
          </a:lstStyle>
          <a:p>
            <a:pPr lvl="0"/>
            <a:r>
              <a:rPr lang="en-US" dirty="0"/>
              <a:t>Click to add copyright text</a:t>
            </a:r>
          </a:p>
        </p:txBody>
      </p:sp>
      <p:sp>
        <p:nvSpPr>
          <p:cNvPr id="4" name="Picture Placeholder 3">
            <a:extLst>
              <a:ext uri="{FF2B5EF4-FFF2-40B4-BE49-F238E27FC236}">
                <a16:creationId xmlns:a16="http://schemas.microsoft.com/office/drawing/2014/main" id="{3AC35AB9-24C4-47CB-AA83-05CAEBB6D99B}"/>
              </a:ext>
            </a:extLst>
          </p:cNvPr>
          <p:cNvSpPr>
            <a:spLocks noGrp="1"/>
          </p:cNvSpPr>
          <p:nvPr>
            <p:ph type="pic" sz="quarter" idx="14" hasCustomPrompt="1"/>
          </p:nvPr>
        </p:nvSpPr>
        <p:spPr>
          <a:xfrm>
            <a:off x="93663" y="6407150"/>
            <a:ext cx="1401762" cy="334963"/>
          </a:xfrm>
        </p:spPr>
        <p:txBody>
          <a:bodyPr/>
          <a:lstStyle>
            <a:lvl1pPr marL="101600" indent="0">
              <a:buNone/>
              <a:defRPr sz="1200"/>
            </a:lvl1pPr>
          </a:lstStyle>
          <a:p>
            <a:r>
              <a:rPr lang="en-US" dirty="0"/>
              <a:t>Logo</a:t>
            </a:r>
          </a:p>
        </p:txBody>
      </p:sp>
    </p:spTree>
    <p:extLst>
      <p:ext uri="{BB962C8B-B14F-4D97-AF65-F5344CB8AC3E}">
        <p14:creationId xmlns:p14="http://schemas.microsoft.com/office/powerpoint/2010/main" val="42159409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Shape 3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4" name="Shape 34"/>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p>
            <a:pPr lvl="0"/>
            <a:r>
              <a:rPr lang="en-US" dirty="0"/>
              <a:t>Edit Master text styles</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p>
            <a:pPr lvl="0"/>
            <a:r>
              <a:rPr lang="en-US" dirty="0"/>
              <a:t>Edit Master text styles</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Shape 54"/>
          <p:cNvSpPr txBox="1">
            <a:spLocks noGrp="1"/>
          </p:cNvSpPr>
          <p:nvPr>
            <p:ph type="title" hasCustomPrompt="1"/>
          </p:nvPr>
        </p:nvSpPr>
        <p:spPr>
          <a:xfrm>
            <a:off x="457200" y="228600"/>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55" name="Shape 55"/>
          <p:cNvSpPr txBox="1">
            <a:spLocks noGrp="1"/>
          </p:cNvSpPr>
          <p:nvPr>
            <p:ph type="body" idx="1" hasCustomPrompt="1"/>
          </p:nvPr>
        </p:nvSpPr>
        <p:spPr>
          <a:xfrm>
            <a:off x="457200" y="5050971"/>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6" name="Shape 56"/>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
        <p:nvSpPr>
          <p:cNvPr id="9" name="Content Placeholder 3">
            <a:extLst>
              <a:ext uri="{FF2B5EF4-FFF2-40B4-BE49-F238E27FC236}">
                <a16:creationId xmlns:a16="http://schemas.microsoft.com/office/drawing/2014/main" id="{211BB07C-705F-4113-A2C5-779D6EA64D97}"/>
              </a:ext>
            </a:extLst>
          </p:cNvPr>
          <p:cNvSpPr>
            <a:spLocks noGrp="1"/>
          </p:cNvSpPr>
          <p:nvPr>
            <p:ph sz="quarter" idx="14"/>
          </p:nvPr>
        </p:nvSpPr>
        <p:spPr>
          <a:xfrm>
            <a:off x="457200" y="1556326"/>
            <a:ext cx="8229600" cy="3391783"/>
          </a:xfrm>
        </p:spPr>
        <p:txBody>
          <a:bodyPr/>
          <a:lstStyle/>
          <a:p>
            <a:pPr lvl="0"/>
            <a:r>
              <a:rPr lang="en-US" dirty="0"/>
              <a:t>Edit Master text styles</a:t>
            </a:r>
          </a:p>
        </p:txBody>
      </p:sp>
    </p:spTree>
    <p:extLst>
      <p:ext uri="{BB962C8B-B14F-4D97-AF65-F5344CB8AC3E}">
        <p14:creationId xmlns:p14="http://schemas.microsoft.com/office/powerpoint/2010/main" val="18850975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Figure + Caption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p:nvPr>
        </p:nvSpPr>
        <p:spPr>
          <a:xfrm>
            <a:off x="457200" y="1481138"/>
            <a:ext cx="4484688" cy="4408487"/>
          </a:xfrm>
        </p:spPr>
        <p:txBody>
          <a:bodyPr/>
          <a:lstStyle/>
          <a:p>
            <a:pPr lvl="0"/>
            <a:r>
              <a:rPr lang="en-US" dirty="0"/>
              <a:t>Edit Master text styles</a:t>
            </a:r>
          </a:p>
        </p:txBody>
      </p:sp>
      <p:sp>
        <p:nvSpPr>
          <p:cNvPr id="9" name="Picture Placeholder 8">
            <a:extLst>
              <a:ext uri="{FF2B5EF4-FFF2-40B4-BE49-F238E27FC236}">
                <a16:creationId xmlns:a16="http://schemas.microsoft.com/office/drawing/2014/main" id="{F95A3C12-C176-4C2E-9820-6A6035C43AF5}"/>
              </a:ext>
            </a:extLst>
          </p:cNvPr>
          <p:cNvSpPr>
            <a:spLocks noGrp="1"/>
          </p:cNvSpPr>
          <p:nvPr>
            <p:ph type="pic" sz="quarter" idx="14"/>
          </p:nvPr>
        </p:nvSpPr>
        <p:spPr>
          <a:xfrm>
            <a:off x="5192713" y="1481138"/>
            <a:ext cx="3592512" cy="3754437"/>
          </a:xfrm>
        </p:spPr>
        <p:txBody>
          <a:bodyPr/>
          <a:lstStyle/>
          <a:p>
            <a:endParaRPr lang="en-US" dirty="0"/>
          </a:p>
        </p:txBody>
      </p:sp>
      <p:sp>
        <p:nvSpPr>
          <p:cNvPr id="11" name="Text Placeholder 10">
            <a:extLst>
              <a:ext uri="{FF2B5EF4-FFF2-40B4-BE49-F238E27FC236}">
                <a16:creationId xmlns:a16="http://schemas.microsoft.com/office/drawing/2014/main" id="{F059F1CC-D06F-4B10-B166-6D6F2C786A37}"/>
              </a:ext>
            </a:extLst>
          </p:cNvPr>
          <p:cNvSpPr>
            <a:spLocks noGrp="1"/>
          </p:cNvSpPr>
          <p:nvPr>
            <p:ph type="body" sz="quarter" idx="15" hasCustomPrompt="1"/>
          </p:nvPr>
        </p:nvSpPr>
        <p:spPr>
          <a:xfrm>
            <a:off x="5192713" y="5399088"/>
            <a:ext cx="3592512" cy="490537"/>
          </a:xfrm>
        </p:spPr>
        <p:txBody>
          <a:bodyPr/>
          <a:lstStyle>
            <a:lvl1pPr marL="101600" indent="0">
              <a:buNone/>
              <a:defRPr sz="1200"/>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5" name="Footer Placeholder 4">
            <a:extLst>
              <a:ext uri="{FF2B5EF4-FFF2-40B4-BE49-F238E27FC236}">
                <a16:creationId xmlns:a16="http://schemas.microsoft.com/office/drawing/2014/main" id="{A6FA6EBD-95B8-4957-AE05-FC01EF65059B}"/>
              </a:ext>
            </a:extLst>
          </p:cNvPr>
          <p:cNvSpPr>
            <a:spLocks noGrp="1"/>
          </p:cNvSpPr>
          <p:nvPr>
            <p:ph type="ftr" sz="quarter" idx="12"/>
          </p:nvPr>
        </p:nvSpPr>
        <p:spPr/>
        <p:txBody>
          <a:bodyPr/>
          <a:lstStyle/>
          <a:p>
            <a:endParaRPr lang="en-US" dirty="0"/>
          </a:p>
        </p:txBody>
      </p:sp>
    </p:spTree>
    <p:extLst>
      <p:ext uri="{BB962C8B-B14F-4D97-AF65-F5344CB8AC3E}">
        <p14:creationId xmlns:p14="http://schemas.microsoft.com/office/powerpoint/2010/main" val="16604282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Shape 69"/>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Shape 70"/>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1" name="Shape 71"/>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Title Only">
    <p:spTree>
      <p:nvGrpSpPr>
        <p:cNvPr id="1" name="Shape 74"/>
        <p:cNvGrpSpPr/>
        <p:nvPr/>
      </p:nvGrpSpPr>
      <p:grpSpPr>
        <a:xfrm>
          <a:off x="0" y="0"/>
          <a:ext cx="0" cy="0"/>
          <a:chOff x="0" y="0"/>
          <a:chExt cx="0" cy="0"/>
        </a:xfrm>
      </p:grpSpPr>
      <p:sp>
        <p:nvSpPr>
          <p:cNvPr id="75" name="Shape 75"/>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76" name="Shape 76"/>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7" name="Shape 7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8" name="Shape 7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091D3-E16C-46AB-9A90-0F52CA812534}"/>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957388"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22325" y="2643044"/>
            <a:ext cx="1957388"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22325" y="3613151"/>
            <a:ext cx="1957388"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6729412" y="1681163"/>
            <a:ext cx="1957388"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6729413" y="2651910"/>
            <a:ext cx="1957387"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6729413" y="3613151"/>
            <a:ext cx="1957387" cy="627063"/>
          </a:xfrm>
        </p:spPr>
        <p:txBody>
          <a:bodyPr/>
          <a:lstStyle>
            <a:lvl1pPr marL="101600" indent="0">
              <a:buNone/>
              <a:defRPr/>
            </a:lvl1pPr>
          </a:lstStyle>
          <a:p>
            <a:pPr lvl="0"/>
            <a:r>
              <a:rPr lang="en-US" dirty="0"/>
              <a:t>Label 6</a:t>
            </a:r>
          </a:p>
        </p:txBody>
      </p:sp>
      <p:sp>
        <p:nvSpPr>
          <p:cNvPr id="5" name="Footer Placeholder 4">
            <a:extLst>
              <a:ext uri="{FF2B5EF4-FFF2-40B4-BE49-F238E27FC236}">
                <a16:creationId xmlns:a16="http://schemas.microsoft.com/office/drawing/2014/main" id="{237B7866-709E-4B26-BCD7-5CF284C134CA}"/>
              </a:ext>
            </a:extLst>
          </p:cNvPr>
          <p:cNvSpPr>
            <a:spLocks noGrp="1"/>
          </p:cNvSpPr>
          <p:nvPr>
            <p:ph type="ftr" sz="quarter" idx="12"/>
          </p:nvPr>
        </p:nvSpPr>
        <p:spPr/>
        <p:txBody>
          <a:bodyPr/>
          <a:lstStyle/>
          <a:p>
            <a:endParaRPr lang="en-US" dirty="0"/>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dirty="0"/>
          </a:p>
        </p:txBody>
      </p:sp>
    </p:spTree>
    <p:extLst>
      <p:ext uri="{BB962C8B-B14F-4D97-AF65-F5344CB8AC3E}">
        <p14:creationId xmlns:p14="http://schemas.microsoft.com/office/powerpoint/2010/main" val="20278991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5" name="Footer Placeholder 4">
            <a:extLst>
              <a:ext uri="{FF2B5EF4-FFF2-40B4-BE49-F238E27FC236}">
                <a16:creationId xmlns:a16="http://schemas.microsoft.com/office/drawing/2014/main" id="{E2476705-5AD3-4E05-9DCF-CA01EBF96B12}"/>
              </a:ext>
            </a:extLst>
          </p:cNvPr>
          <p:cNvSpPr>
            <a:spLocks noGrp="1"/>
          </p:cNvSpPr>
          <p:nvPr>
            <p:ph type="ftr" sz="quarter" idx="12"/>
          </p:nvPr>
        </p:nvSpPr>
        <p:spPr/>
        <p:txBody>
          <a:bodyPr/>
          <a:lstStyle/>
          <a:p>
            <a:endParaRPr lang="en-US" dirty="0"/>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dirty="0"/>
          </a:p>
        </p:txBody>
      </p:sp>
    </p:spTree>
    <p:extLst>
      <p:ext uri="{BB962C8B-B14F-4D97-AF65-F5344CB8AC3E}">
        <p14:creationId xmlns:p14="http://schemas.microsoft.com/office/powerpoint/2010/main" val="6487214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Blank">
    <p:spTree>
      <p:nvGrpSpPr>
        <p:cNvPr id="1" name="Shape 79"/>
        <p:cNvGrpSpPr/>
        <p:nvPr/>
      </p:nvGrpSpPr>
      <p:grpSpPr>
        <a:xfrm>
          <a:off x="0" y="0"/>
          <a:ext cx="0" cy="0"/>
          <a:chOff x="0" y="0"/>
          <a:chExt cx="0" cy="0"/>
        </a:xfrm>
      </p:grpSpPr>
      <p:sp>
        <p:nvSpPr>
          <p:cNvPr id="80" name="Shape 80"/>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1" name="Shape 81"/>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2" name="Shape 82"/>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Shape 24"/>
        <p:cNvGrpSpPr/>
        <p:nvPr/>
      </p:nvGrpSpPr>
      <p:grpSpPr>
        <a:xfrm>
          <a:off x="0" y="0"/>
          <a:ext cx="0" cy="0"/>
          <a:chOff x="0" y="0"/>
          <a:chExt cx="0" cy="0"/>
        </a:xfrm>
      </p:grpSpPr>
      <p:sp>
        <p:nvSpPr>
          <p:cNvPr id="25" name="Shape 25"/>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a:t>Click to edit Master title style</a:t>
            </a:r>
            <a:endParaRPr/>
          </a:p>
        </p:txBody>
      </p:sp>
      <p:sp>
        <p:nvSpPr>
          <p:cNvPr id="26" name="Shape 26"/>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pPr lvl="0"/>
            <a:r>
              <a:rPr lang="en-US"/>
              <a:t>Edit Master text styles</a:t>
            </a:r>
          </a:p>
        </p:txBody>
      </p:sp>
      <p:sp>
        <p:nvSpPr>
          <p:cNvPr id="27" name="Shape 27"/>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8" name="Shape 28"/>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9" name="Shape 29"/>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6276480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Title + Learning Objectives and Content">
    <p:spTree>
      <p:nvGrpSpPr>
        <p:cNvPr id="1" name="Shape 61"/>
        <p:cNvGrpSpPr/>
        <p:nvPr/>
      </p:nvGrpSpPr>
      <p:grpSpPr>
        <a:xfrm>
          <a:off x="0" y="0"/>
          <a:ext cx="0" cy="0"/>
          <a:chOff x="0" y="0"/>
          <a:chExt cx="0" cy="0"/>
        </a:xfrm>
      </p:grpSpPr>
      <p:sp>
        <p:nvSpPr>
          <p:cNvPr id="62" name="Shape 62"/>
          <p:cNvSpPr txBox="1">
            <a:spLocks noGrp="1"/>
          </p:cNvSpPr>
          <p:nvPr>
            <p:ph type="title" hasCustomPrompt="1"/>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63" name="Shape 63"/>
          <p:cNvSpPr txBox="1">
            <a:spLocks noGrp="1"/>
          </p:cNvSpPr>
          <p:nvPr>
            <p:ph type="body" idx="1" hasCustomPrompt="1"/>
          </p:nvPr>
        </p:nvSpPr>
        <p:spPr>
          <a:xfrm>
            <a:off x="457200" y="816429"/>
            <a:ext cx="8229600" cy="402769"/>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r>
              <a:rPr lang="en-US" dirty="0"/>
              <a:t>Click to add Learning Objective(s)</a:t>
            </a:r>
            <a:endParaRPr dirty="0"/>
          </a:p>
        </p:txBody>
      </p:sp>
      <p:sp>
        <p:nvSpPr>
          <p:cNvPr id="64" name="Shape 64"/>
          <p:cNvSpPr txBox="1">
            <a:spLocks noGrp="1"/>
          </p:cNvSpPr>
          <p:nvPr>
            <p:ph type="body" idx="2"/>
          </p:nvPr>
        </p:nvSpPr>
        <p:spPr>
          <a:xfrm>
            <a:off x="457200" y="1358678"/>
            <a:ext cx="8229600" cy="4767485"/>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65" name="Shape 65"/>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66" name="Shape 66"/>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67" name="Shape 67"/>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27496069"/>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image" Target="../media/image1.png"/><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theme" Target="../theme/theme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Arial"/>
              <a:cs typeface="Arial"/>
              <a:sym typeface="Aria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2" name="Footer Placeholder 1">
            <a:extLst>
              <a:ext uri="{FF2B5EF4-FFF2-40B4-BE49-F238E27FC236}">
                <a16:creationId xmlns:a16="http://schemas.microsoft.com/office/drawing/2014/main" id="{7B8A108E-B0AF-4869-B5B8-3D3BB7BC725E}"/>
              </a:ext>
            </a:extLst>
          </p:cNvPr>
          <p:cNvSpPr>
            <a:spLocks noGrp="1"/>
          </p:cNvSpPr>
          <p:nvPr>
            <p:ph type="ftr" sz="quarter" idx="3"/>
          </p:nvPr>
        </p:nvSpPr>
        <p:spPr>
          <a:xfrm>
            <a:off x="457200" y="6028611"/>
            <a:ext cx="8229600" cy="200549"/>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000000">
                  <a:tint val="75000"/>
                </a:srgbClr>
              </a:solidFill>
              <a:effectLst/>
              <a:uLnTx/>
              <a:uFillTx/>
              <a:latin typeface="Arial"/>
              <a:cs typeface="Arial"/>
              <a:sym typeface="Arial"/>
            </a:endParaRPr>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64" r:id="rId1"/>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pic>
        <p:nvPicPr>
          <p:cNvPr id="15" name="Shape 15" descr="Pearson Logo"/>
          <p:cNvPicPr preferRelativeResize="0"/>
          <p:nvPr/>
        </p:nvPicPr>
        <p:blipFill rotWithShape="1">
          <a:blip r:embed="rId12">
            <a:alphaModFix/>
          </a:blip>
          <a:srcRect/>
          <a:stretch/>
        </p:blipFill>
        <p:spPr>
          <a:xfrm>
            <a:off x="443972" y="6429709"/>
            <a:ext cx="917999" cy="279914"/>
          </a:xfrm>
          <a:prstGeom prst="rect">
            <a:avLst/>
          </a:prstGeom>
          <a:noFill/>
          <a:ln>
            <a:noFill/>
          </a:ln>
        </p:spPr>
      </p:pic>
      <p:sp>
        <p:nvSpPr>
          <p:cNvPr id="16" name="Shape 16"/>
          <p:cNvSpPr txBox="1"/>
          <p:nvPr/>
        </p:nvSpPr>
        <p:spPr>
          <a:xfrm>
            <a:off x="1600200" y="6429344"/>
            <a:ext cx="7162799" cy="200054"/>
          </a:xfrm>
          <a:prstGeom prst="rect">
            <a:avLst/>
          </a:prstGeom>
          <a:noFill/>
          <a:ln>
            <a:noFill/>
          </a:ln>
        </p:spPr>
        <p:txBody>
          <a:bodyPr lIns="91425" tIns="45700" rIns="91425" bIns="45700" anchor="t" anchorCtr="0">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a:ea typeface="Verdana" panose="020B0604030504040204" pitchFamily="34" charset="0"/>
                <a:cs typeface="Verdana" panose="020B0604030504040204" pitchFamily="34" charset="0"/>
              </a:rPr>
              <a:t>Copyright © 2020, 2017, 2014 Pearson Education, Inc. All Rights Reserved</a:t>
            </a:r>
          </a:p>
        </p:txBody>
      </p:sp>
      <p:sp>
        <p:nvSpPr>
          <p:cNvPr id="2" name="Footer Placeholder 1">
            <a:extLst>
              <a:ext uri="{FF2B5EF4-FFF2-40B4-BE49-F238E27FC236}">
                <a16:creationId xmlns:a16="http://schemas.microsoft.com/office/drawing/2014/main" id="{7B8A108E-B0AF-4869-B5B8-3D3BB7BC725E}"/>
              </a:ext>
            </a:extLst>
          </p:cNvPr>
          <p:cNvSpPr>
            <a:spLocks noGrp="1"/>
          </p:cNvSpPr>
          <p:nvPr>
            <p:ph type="ftr" sz="quarter" idx="3"/>
          </p:nvPr>
        </p:nvSpPr>
        <p:spPr>
          <a:xfrm>
            <a:off x="457200" y="6028611"/>
            <a:ext cx="8229600" cy="200549"/>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Tree>
  </p:cSld>
  <p:clrMap bg1="lt1" tx1="dk1" bg2="dk2" tx2="lt2" accent1="accent1" accent2="accent2" accent3="accent3" accent4="accent4" accent5="accent5" accent6="accent6" hlink="hlink" folHlink="folHlink"/>
  <p:sldLayoutIdLst>
    <p:sldLayoutId id="2147483650" r:id="rId1"/>
    <p:sldLayoutId id="2147483671" r:id="rId2"/>
    <p:sldLayoutId id="2147483673" r:id="rId3"/>
    <p:sldLayoutId id="2147483655" r:id="rId4"/>
    <p:sldLayoutId id="2147483656" r:id="rId5"/>
    <p:sldLayoutId id="2147483670" r:id="rId6"/>
    <p:sldLayoutId id="2147483669" r:id="rId7"/>
    <p:sldLayoutId id="2147483657" r:id="rId8"/>
    <p:sldLayoutId id="2147483674" r:id="rId9"/>
    <p:sldLayoutId id="2147483676"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3" name="Title 2"/>
          <p:cNvSpPr>
            <a:spLocks noGrp="1"/>
          </p:cNvSpPr>
          <p:nvPr>
            <p:ph type="ctrTitle"/>
          </p:nvPr>
        </p:nvSpPr>
        <p:spPr/>
        <p:txBody>
          <a:bodyPr/>
          <a:lstStyle/>
          <a:p>
            <a:r>
              <a:rPr lang="en-MY" dirty="0"/>
              <a:t>Week  10</a:t>
            </a:r>
            <a:endParaRPr lang="en-US" dirty="0"/>
          </a:p>
        </p:txBody>
      </p:sp>
      <p:sp>
        <p:nvSpPr>
          <p:cNvPr id="199" name="Shape 199"/>
          <p:cNvSpPr txBox="1">
            <a:spLocks noGrp="1"/>
          </p:cNvSpPr>
          <p:nvPr>
            <p:ph type="subTitle" idx="1"/>
          </p:nvPr>
        </p:nvSpPr>
        <p:spPr>
          <a:xfrm>
            <a:off x="674687" y="3962399"/>
            <a:ext cx="8205842" cy="1973451"/>
          </a:xfrm>
          <a:prstGeom prst="rect">
            <a:avLst/>
          </a:prstGeom>
          <a:noFill/>
          <a:ln>
            <a:noFill/>
          </a:ln>
        </p:spPr>
        <p:txBody>
          <a:bodyPr lIns="0" tIns="0" rIns="0" bIns="0" anchor="t" anchorCtr="0">
            <a:noAutofit/>
          </a:bodyPr>
          <a:lstStyle/>
          <a:p>
            <a:pPr marL="0" marR="0" lvl="0" indent="0" algn="l" rtl="0">
              <a:spcBef>
                <a:spcPts val="0"/>
              </a:spcBef>
              <a:buClr>
                <a:srgbClr val="007FA3"/>
              </a:buClr>
              <a:buSzPct val="25000"/>
              <a:buFont typeface="Arial"/>
              <a:buNone/>
            </a:pPr>
            <a:r>
              <a:rPr lang="en-US" sz="4800" b="0" i="0" u="none" strike="noStrike" cap="none" dirty="0">
                <a:solidFill>
                  <a:schemeClr val="dk1"/>
                </a:solidFill>
                <a:latin typeface="Arial"/>
                <a:ea typeface="Arial"/>
                <a:cs typeface="Arial"/>
                <a:sym typeface="Arial"/>
              </a:rPr>
              <a:t>Designing Interfaces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30D2D-0D76-49F4-832F-D32BBB0C9429}"/>
              </a:ext>
            </a:extLst>
          </p:cNvPr>
          <p:cNvSpPr>
            <a:spLocks noGrp="1"/>
          </p:cNvSpPr>
          <p:nvPr>
            <p:ph type="title"/>
          </p:nvPr>
        </p:nvSpPr>
        <p:spPr/>
        <p:txBody>
          <a:bodyPr/>
          <a:lstStyle/>
          <a:p>
            <a:r>
              <a:rPr lang="en-US" dirty="0"/>
              <a:t>Introduction</a:t>
            </a:r>
          </a:p>
        </p:txBody>
      </p:sp>
      <p:sp>
        <p:nvSpPr>
          <p:cNvPr id="4" name="Content Placeholder 3">
            <a:extLst>
              <a:ext uri="{FF2B5EF4-FFF2-40B4-BE49-F238E27FC236}">
                <a16:creationId xmlns:a16="http://schemas.microsoft.com/office/drawing/2014/main" id="{FB8AD0C9-1D8A-4049-ADAA-2B3A889898AD}"/>
              </a:ext>
            </a:extLst>
          </p:cNvPr>
          <p:cNvSpPr>
            <a:spLocks noGrp="1"/>
          </p:cNvSpPr>
          <p:nvPr>
            <p:ph sz="quarter" idx="14"/>
          </p:nvPr>
        </p:nvSpPr>
        <p:spPr/>
        <p:txBody>
          <a:bodyPr/>
          <a:lstStyle/>
          <a:p>
            <a:r>
              <a:rPr lang="en-US" sz="3200" dirty="0"/>
              <a:t>Defining the manner in which humans and computers exchange inform</a:t>
            </a:r>
          </a:p>
          <a:p>
            <a:r>
              <a:rPr lang="en-US" sz="3200" dirty="0"/>
              <a:t>Interface design – focuses on how information is provided to and captured from users</a:t>
            </a:r>
          </a:p>
          <a:p>
            <a:endParaRPr lang="en-US" dirty="0"/>
          </a:p>
        </p:txBody>
      </p:sp>
    </p:spTree>
    <p:extLst>
      <p:ext uri="{BB962C8B-B14F-4D97-AF65-F5344CB8AC3E}">
        <p14:creationId xmlns:p14="http://schemas.microsoft.com/office/powerpoint/2010/main" val="8465942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06DDF-FA1B-4B0B-8F24-B6E9B8D15E5E}"/>
              </a:ext>
            </a:extLst>
          </p:cNvPr>
          <p:cNvSpPr>
            <a:spLocks noGrp="1"/>
          </p:cNvSpPr>
          <p:nvPr>
            <p:ph type="title"/>
          </p:nvPr>
        </p:nvSpPr>
        <p:spPr/>
        <p:txBody>
          <a:bodyPr/>
          <a:lstStyle/>
          <a:p>
            <a:r>
              <a:rPr lang="en-US" dirty="0"/>
              <a:t>Interface Designs</a:t>
            </a:r>
          </a:p>
        </p:txBody>
      </p:sp>
      <p:sp>
        <p:nvSpPr>
          <p:cNvPr id="4" name="Text Placeholder 3">
            <a:extLst>
              <a:ext uri="{FF2B5EF4-FFF2-40B4-BE49-F238E27FC236}">
                <a16:creationId xmlns:a16="http://schemas.microsoft.com/office/drawing/2014/main" id="{11694513-D06D-4272-A330-F2E3FC702BBE}"/>
              </a:ext>
            </a:extLst>
          </p:cNvPr>
          <p:cNvSpPr>
            <a:spLocks noGrp="1"/>
          </p:cNvSpPr>
          <p:nvPr>
            <p:ph type="body" idx="2"/>
          </p:nvPr>
        </p:nvSpPr>
        <p:spPr>
          <a:xfrm>
            <a:off x="457200" y="1590261"/>
            <a:ext cx="8229600" cy="4535902"/>
          </a:xfrm>
        </p:spPr>
        <p:txBody>
          <a:bodyPr/>
          <a:lstStyle/>
          <a:p>
            <a:pPr marL="586232" indent="-514350">
              <a:spcBef>
                <a:spcPts val="600"/>
              </a:spcBef>
            </a:pPr>
            <a:r>
              <a:rPr lang="en-US" sz="2800" dirty="0"/>
              <a:t>User-focused activity</a:t>
            </a:r>
          </a:p>
          <a:p>
            <a:pPr marL="586232" indent="-514350">
              <a:spcBef>
                <a:spcPts val="600"/>
              </a:spcBef>
            </a:pPr>
            <a:r>
              <a:rPr lang="en-US" sz="2800" dirty="0"/>
              <a:t>Prototyping methodology of iteratively:</a:t>
            </a:r>
          </a:p>
          <a:p>
            <a:pPr marL="1016000" lvl="1" indent="-457200"/>
            <a:r>
              <a:rPr lang="en-US" sz="2400" dirty="0"/>
              <a:t>Collecting information</a:t>
            </a:r>
          </a:p>
          <a:p>
            <a:pPr marL="1016000" lvl="1" indent="-457200"/>
            <a:r>
              <a:rPr lang="en-US" sz="2400" dirty="0"/>
              <a:t>Constructing a prototype</a:t>
            </a:r>
          </a:p>
          <a:p>
            <a:pPr marL="1016000" lvl="1" indent="-457200"/>
            <a:r>
              <a:rPr lang="en-US" sz="2400" dirty="0"/>
              <a:t>Assessing usability</a:t>
            </a:r>
          </a:p>
          <a:p>
            <a:pPr marL="1016000" lvl="1" indent="-457200"/>
            <a:r>
              <a:rPr lang="en-US" sz="2400" dirty="0"/>
              <a:t>Making refinements</a:t>
            </a:r>
          </a:p>
          <a:p>
            <a:pPr marL="586232" indent="-514350">
              <a:spcBef>
                <a:spcPts val="600"/>
              </a:spcBef>
            </a:pPr>
            <a:r>
              <a:rPr lang="en-US" sz="2800" dirty="0"/>
              <a:t>Must answer the who, what, when, where, and how questions</a:t>
            </a:r>
          </a:p>
          <a:p>
            <a:pPr marL="586232" indent="-514350"/>
            <a:endParaRPr lang="en-US" sz="2800" dirty="0"/>
          </a:p>
        </p:txBody>
      </p:sp>
    </p:spTree>
    <p:extLst>
      <p:ext uri="{BB962C8B-B14F-4D97-AF65-F5344CB8AC3E}">
        <p14:creationId xmlns:p14="http://schemas.microsoft.com/office/powerpoint/2010/main" val="23212681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06DDF-FA1B-4B0B-8F24-B6E9B8D15E5E}"/>
              </a:ext>
            </a:extLst>
          </p:cNvPr>
          <p:cNvSpPr>
            <a:spLocks noGrp="1"/>
          </p:cNvSpPr>
          <p:nvPr>
            <p:ph type="title"/>
          </p:nvPr>
        </p:nvSpPr>
        <p:spPr/>
        <p:txBody>
          <a:bodyPr/>
          <a:lstStyle/>
          <a:p>
            <a:r>
              <a:rPr lang="en-US" dirty="0"/>
              <a:t>Interaction Methods and Devices</a:t>
            </a:r>
          </a:p>
        </p:txBody>
      </p:sp>
      <p:sp>
        <p:nvSpPr>
          <p:cNvPr id="4" name="Text Placeholder 3">
            <a:extLst>
              <a:ext uri="{FF2B5EF4-FFF2-40B4-BE49-F238E27FC236}">
                <a16:creationId xmlns:a16="http://schemas.microsoft.com/office/drawing/2014/main" id="{11694513-D06D-4272-A330-F2E3FC702BBE}"/>
              </a:ext>
            </a:extLst>
          </p:cNvPr>
          <p:cNvSpPr>
            <a:spLocks noGrp="1"/>
          </p:cNvSpPr>
          <p:nvPr>
            <p:ph type="body" idx="2"/>
          </p:nvPr>
        </p:nvSpPr>
        <p:spPr>
          <a:xfrm>
            <a:off x="457200" y="1219200"/>
            <a:ext cx="8229600" cy="4906963"/>
          </a:xfrm>
        </p:spPr>
        <p:txBody>
          <a:bodyPr/>
          <a:lstStyle/>
          <a:p>
            <a:r>
              <a:rPr lang="en-US" sz="2800" b="1" dirty="0">
                <a:solidFill>
                  <a:srgbClr val="007FA3"/>
                </a:solidFill>
              </a:rPr>
              <a:t>Interface</a:t>
            </a:r>
            <a:r>
              <a:rPr lang="en-US" sz="2800" dirty="0"/>
              <a:t> – method by which users interact with an information system</a:t>
            </a:r>
          </a:p>
          <a:p>
            <a:pPr eaLnBrk="1" hangingPunct="1">
              <a:lnSpc>
                <a:spcPct val="90000"/>
              </a:lnSpc>
            </a:pPr>
            <a:r>
              <a:rPr lang="en-US" altLang="en-US" sz="2800" dirty="0"/>
              <a:t>All human-computer interfaces must:</a:t>
            </a:r>
          </a:p>
          <a:p>
            <a:pPr lvl="1" eaLnBrk="1" hangingPunct="1">
              <a:lnSpc>
                <a:spcPct val="90000"/>
              </a:lnSpc>
            </a:pPr>
            <a:r>
              <a:rPr lang="en-US" altLang="en-US" sz="2400" dirty="0"/>
              <a:t> have an interaction style</a:t>
            </a:r>
          </a:p>
          <a:p>
            <a:pPr lvl="1" eaLnBrk="1" hangingPunct="1">
              <a:lnSpc>
                <a:spcPct val="90000"/>
              </a:lnSpc>
            </a:pPr>
            <a:r>
              <a:rPr lang="en-US" altLang="en-US" sz="2400" dirty="0"/>
              <a:t> use some hardware device(s) for supporting this interaction</a:t>
            </a:r>
            <a:endParaRPr lang="en-US" sz="2400" dirty="0"/>
          </a:p>
        </p:txBody>
      </p:sp>
    </p:spTree>
    <p:extLst>
      <p:ext uri="{BB962C8B-B14F-4D97-AF65-F5344CB8AC3E}">
        <p14:creationId xmlns:p14="http://schemas.microsoft.com/office/powerpoint/2010/main" val="24726452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06DDF-FA1B-4B0B-8F24-B6E9B8D15E5E}"/>
              </a:ext>
            </a:extLst>
          </p:cNvPr>
          <p:cNvSpPr>
            <a:spLocks noGrp="1"/>
          </p:cNvSpPr>
          <p:nvPr>
            <p:ph type="title"/>
          </p:nvPr>
        </p:nvSpPr>
        <p:spPr/>
        <p:txBody>
          <a:bodyPr/>
          <a:lstStyle/>
          <a:p>
            <a:r>
              <a:rPr lang="en-US" dirty="0"/>
              <a:t>Methods of Interacting</a:t>
            </a:r>
          </a:p>
        </p:txBody>
      </p:sp>
      <p:sp>
        <p:nvSpPr>
          <p:cNvPr id="4" name="Text Placeholder 3">
            <a:extLst>
              <a:ext uri="{FF2B5EF4-FFF2-40B4-BE49-F238E27FC236}">
                <a16:creationId xmlns:a16="http://schemas.microsoft.com/office/drawing/2014/main" id="{11694513-D06D-4272-A330-F2E3FC702BBE}"/>
              </a:ext>
            </a:extLst>
          </p:cNvPr>
          <p:cNvSpPr>
            <a:spLocks noGrp="1"/>
          </p:cNvSpPr>
          <p:nvPr>
            <p:ph type="body" idx="2"/>
          </p:nvPr>
        </p:nvSpPr>
        <p:spPr>
          <a:xfrm>
            <a:off x="457200" y="1439257"/>
            <a:ext cx="8229600" cy="4882030"/>
          </a:xfrm>
        </p:spPr>
        <p:txBody>
          <a:bodyPr/>
          <a:lstStyle/>
          <a:p>
            <a:pPr marL="586232" indent="-514350"/>
            <a:r>
              <a:rPr lang="en-US" sz="2800" dirty="0"/>
              <a:t>Five widely used styles of interacting include:</a:t>
            </a:r>
          </a:p>
          <a:p>
            <a:pPr lvl="1">
              <a:lnSpc>
                <a:spcPct val="90000"/>
              </a:lnSpc>
            </a:pPr>
            <a:r>
              <a:rPr lang="en-US" altLang="en-US" sz="2400" dirty="0"/>
              <a:t>Command line </a:t>
            </a:r>
          </a:p>
          <a:p>
            <a:pPr lvl="2">
              <a:lnSpc>
                <a:spcPct val="90000"/>
              </a:lnSpc>
            </a:pPr>
            <a:r>
              <a:rPr lang="en-US" altLang="en-US" sz="2200" dirty="0"/>
              <a:t>Includes keyboard shortcuts and function keys</a:t>
            </a:r>
          </a:p>
          <a:p>
            <a:pPr lvl="1">
              <a:lnSpc>
                <a:spcPct val="90000"/>
              </a:lnSpc>
            </a:pPr>
            <a:r>
              <a:rPr lang="en-US" altLang="en-US" sz="2400" dirty="0"/>
              <a:t>Menu</a:t>
            </a:r>
          </a:p>
          <a:p>
            <a:pPr lvl="1">
              <a:lnSpc>
                <a:spcPct val="90000"/>
              </a:lnSpc>
            </a:pPr>
            <a:r>
              <a:rPr lang="en-US" altLang="en-US" sz="2400" dirty="0"/>
              <a:t>Form</a:t>
            </a:r>
          </a:p>
          <a:p>
            <a:pPr lvl="1">
              <a:lnSpc>
                <a:spcPct val="90000"/>
              </a:lnSpc>
            </a:pPr>
            <a:r>
              <a:rPr lang="en-US" altLang="en-US" sz="2400" dirty="0"/>
              <a:t>Object-based</a:t>
            </a:r>
          </a:p>
          <a:p>
            <a:pPr lvl="1">
              <a:lnSpc>
                <a:spcPct val="90000"/>
              </a:lnSpc>
            </a:pPr>
            <a:r>
              <a:rPr lang="en-US" altLang="en-US" sz="2400" dirty="0"/>
              <a:t>Natural language</a:t>
            </a:r>
          </a:p>
        </p:txBody>
      </p:sp>
    </p:spTree>
    <p:extLst>
      <p:ext uri="{BB962C8B-B14F-4D97-AF65-F5344CB8AC3E}">
        <p14:creationId xmlns:p14="http://schemas.microsoft.com/office/powerpoint/2010/main" val="35804506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06DDF-FA1B-4B0B-8F24-B6E9B8D15E5E}"/>
              </a:ext>
            </a:extLst>
          </p:cNvPr>
          <p:cNvSpPr>
            <a:spLocks noGrp="1"/>
          </p:cNvSpPr>
          <p:nvPr>
            <p:ph type="title"/>
          </p:nvPr>
        </p:nvSpPr>
        <p:spPr/>
        <p:txBody>
          <a:bodyPr/>
          <a:lstStyle/>
          <a:p>
            <a:r>
              <a:rPr lang="en-US" dirty="0"/>
              <a:t>Command Language Interaction</a:t>
            </a:r>
          </a:p>
        </p:txBody>
      </p:sp>
      <p:sp>
        <p:nvSpPr>
          <p:cNvPr id="4" name="Text Placeholder 3">
            <a:extLst>
              <a:ext uri="{FF2B5EF4-FFF2-40B4-BE49-F238E27FC236}">
                <a16:creationId xmlns:a16="http://schemas.microsoft.com/office/drawing/2014/main" id="{11694513-D06D-4272-A330-F2E3FC702BBE}"/>
              </a:ext>
            </a:extLst>
          </p:cNvPr>
          <p:cNvSpPr>
            <a:spLocks noGrp="1"/>
          </p:cNvSpPr>
          <p:nvPr>
            <p:ph type="body" idx="2"/>
          </p:nvPr>
        </p:nvSpPr>
        <p:spPr>
          <a:xfrm>
            <a:off x="457200" y="1439257"/>
            <a:ext cx="8229600" cy="4882030"/>
          </a:xfrm>
        </p:spPr>
        <p:txBody>
          <a:bodyPr/>
          <a:lstStyle/>
          <a:p>
            <a:r>
              <a:rPr lang="en-US" altLang="en-US" sz="2800" b="1" dirty="0">
                <a:solidFill>
                  <a:srgbClr val="007FA3"/>
                </a:solidFill>
              </a:rPr>
              <a:t>Command language interaction </a:t>
            </a:r>
            <a:r>
              <a:rPr lang="en-US" altLang="en-US" sz="2800" dirty="0"/>
              <a:t>– </a:t>
            </a:r>
            <a:r>
              <a:rPr lang="en-US" sz="2800" dirty="0"/>
              <a:t>human-computer interaction method whereby users enter explicit statements into a system to invoke operations</a:t>
            </a:r>
            <a:endParaRPr lang="en-US" altLang="en-US" sz="2800" dirty="0"/>
          </a:p>
          <a:p>
            <a:pPr eaLnBrk="1" hangingPunct="1"/>
            <a:r>
              <a:rPr lang="en-US" altLang="en-US" sz="2800" dirty="0"/>
              <a:t>Example from Linux command prompt:</a:t>
            </a:r>
          </a:p>
          <a:p>
            <a:pPr marL="457200" lvl="1" indent="0" eaLnBrk="1" hangingPunct="1">
              <a:buNone/>
            </a:pPr>
            <a:r>
              <a:rPr lang="en-US" altLang="en-US" sz="2800" b="1" dirty="0"/>
              <a:t>$ cp file.doc newfile.doc</a:t>
            </a:r>
          </a:p>
          <a:p>
            <a:pPr lvl="1" eaLnBrk="1" hangingPunct="1"/>
            <a:r>
              <a:rPr lang="en-US" altLang="en-US" sz="2400" dirty="0"/>
              <a:t>Makes a copy of file.doc and names it newfile.doc</a:t>
            </a:r>
          </a:p>
          <a:p>
            <a:pPr lvl="1" eaLnBrk="1" hangingPunct="1"/>
            <a:r>
              <a:rPr lang="en-US" altLang="en-US" sz="2400" dirty="0"/>
              <a:t>The dollar sign is the command prompt from Linux, not part of the command itself </a:t>
            </a:r>
          </a:p>
          <a:p>
            <a:pPr marL="1073150" lvl="1" indent="-514350"/>
            <a:endParaRPr lang="en-US" sz="2400" dirty="0"/>
          </a:p>
        </p:txBody>
      </p:sp>
    </p:spTree>
    <p:extLst>
      <p:ext uri="{BB962C8B-B14F-4D97-AF65-F5344CB8AC3E}">
        <p14:creationId xmlns:p14="http://schemas.microsoft.com/office/powerpoint/2010/main" val="11465452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06DDF-FA1B-4B0B-8F24-B6E9B8D15E5E}"/>
              </a:ext>
            </a:extLst>
          </p:cNvPr>
          <p:cNvSpPr>
            <a:spLocks noGrp="1"/>
          </p:cNvSpPr>
          <p:nvPr>
            <p:ph type="title"/>
          </p:nvPr>
        </p:nvSpPr>
        <p:spPr/>
        <p:txBody>
          <a:bodyPr/>
          <a:lstStyle/>
          <a:p>
            <a:r>
              <a:rPr lang="en-US" dirty="0"/>
              <a:t>Menu Interaction</a:t>
            </a:r>
          </a:p>
        </p:txBody>
      </p:sp>
      <p:sp>
        <p:nvSpPr>
          <p:cNvPr id="3" name="Text Placeholder 2">
            <a:extLst>
              <a:ext uri="{FF2B5EF4-FFF2-40B4-BE49-F238E27FC236}">
                <a16:creationId xmlns:a16="http://schemas.microsoft.com/office/drawing/2014/main" id="{AEB47EAB-FC10-47F5-9725-84EB9C4D9F30}"/>
              </a:ext>
            </a:extLst>
          </p:cNvPr>
          <p:cNvSpPr>
            <a:spLocks noGrp="1"/>
          </p:cNvSpPr>
          <p:nvPr>
            <p:ph type="body" idx="1"/>
          </p:nvPr>
        </p:nvSpPr>
        <p:spPr>
          <a:xfrm>
            <a:off x="457200" y="816429"/>
            <a:ext cx="8229600" cy="442528"/>
          </a:xfrm>
        </p:spPr>
        <p:txBody>
          <a:bodyPr/>
          <a:lstStyle/>
          <a:p>
            <a:r>
              <a:rPr lang="en-US" b="1" dirty="0"/>
              <a:t>11.2</a:t>
            </a:r>
            <a:r>
              <a:rPr lang="en-US" b="1" dirty="0">
                <a:solidFill>
                  <a:schemeClr val="accent1"/>
                </a:solidFill>
              </a:rPr>
              <a:t> </a:t>
            </a:r>
            <a:r>
              <a:rPr lang="en-US" dirty="0"/>
              <a:t>Contrast and apply several methods for interacting with a system</a:t>
            </a:r>
          </a:p>
          <a:p>
            <a:endParaRPr lang="en-US" dirty="0"/>
          </a:p>
        </p:txBody>
      </p:sp>
      <p:sp>
        <p:nvSpPr>
          <p:cNvPr id="4" name="Text Placeholder 3">
            <a:extLst>
              <a:ext uri="{FF2B5EF4-FFF2-40B4-BE49-F238E27FC236}">
                <a16:creationId xmlns:a16="http://schemas.microsoft.com/office/drawing/2014/main" id="{11694513-D06D-4272-A330-F2E3FC702BBE}"/>
              </a:ext>
            </a:extLst>
          </p:cNvPr>
          <p:cNvSpPr>
            <a:spLocks noGrp="1"/>
          </p:cNvSpPr>
          <p:nvPr>
            <p:ph type="body" idx="2"/>
          </p:nvPr>
        </p:nvSpPr>
        <p:spPr>
          <a:xfrm>
            <a:off x="457200" y="1439257"/>
            <a:ext cx="8229600" cy="4686906"/>
          </a:xfrm>
        </p:spPr>
        <p:txBody>
          <a:bodyPr/>
          <a:lstStyle/>
          <a:p>
            <a:r>
              <a:rPr lang="en-US" sz="2800" b="1" dirty="0">
                <a:solidFill>
                  <a:srgbClr val="007FA3"/>
                </a:solidFill>
              </a:rPr>
              <a:t>Menu interaction </a:t>
            </a:r>
            <a:r>
              <a:rPr lang="en-US" sz="2800" dirty="0"/>
              <a:t>– human–computer interaction method in which a list of system options is provided and a specific command is invoked by user selection of a menu option</a:t>
            </a:r>
          </a:p>
          <a:p>
            <a:pPr lvl="1"/>
            <a:r>
              <a:rPr lang="en-US" sz="2400" dirty="0"/>
              <a:t>Menus can differ significantly in design and complexity</a:t>
            </a:r>
          </a:p>
          <a:p>
            <a:pPr lvl="1"/>
            <a:r>
              <a:rPr lang="en-US" sz="2400" dirty="0"/>
              <a:t>Larger systems might use menu hierarchies providing navigation</a:t>
            </a:r>
          </a:p>
          <a:p>
            <a:pPr lvl="1"/>
            <a:r>
              <a:rPr lang="en-US" sz="2400" dirty="0"/>
              <a:t>Variation in menu arrangement can greatly influence system usability</a:t>
            </a:r>
          </a:p>
        </p:txBody>
      </p:sp>
    </p:spTree>
    <p:extLst>
      <p:ext uri="{BB962C8B-B14F-4D97-AF65-F5344CB8AC3E}">
        <p14:creationId xmlns:p14="http://schemas.microsoft.com/office/powerpoint/2010/main" val="42701333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D04F6-7A12-4363-AA8E-63EE4AB63CB0}"/>
              </a:ext>
            </a:extLst>
          </p:cNvPr>
          <p:cNvSpPr>
            <a:spLocks noGrp="1"/>
          </p:cNvSpPr>
          <p:nvPr>
            <p:ph type="title"/>
          </p:nvPr>
        </p:nvSpPr>
        <p:spPr/>
        <p:txBody>
          <a:bodyPr/>
          <a:lstStyle/>
          <a:p>
            <a:r>
              <a:rPr lang="en-US" dirty="0"/>
              <a:t>Figure 1: Various Types of Menu Configurations</a:t>
            </a:r>
          </a:p>
        </p:txBody>
      </p:sp>
      <p:sp>
        <p:nvSpPr>
          <p:cNvPr id="3" name="Text Placeholder 2">
            <a:extLst>
              <a:ext uri="{FF2B5EF4-FFF2-40B4-BE49-F238E27FC236}">
                <a16:creationId xmlns:a16="http://schemas.microsoft.com/office/drawing/2014/main" id="{62D729EC-0AE0-42A1-8E3C-4FAE12A75120}"/>
              </a:ext>
            </a:extLst>
          </p:cNvPr>
          <p:cNvSpPr>
            <a:spLocks noGrp="1"/>
          </p:cNvSpPr>
          <p:nvPr>
            <p:ph type="body" idx="1"/>
          </p:nvPr>
        </p:nvSpPr>
        <p:spPr>
          <a:xfrm>
            <a:off x="457200" y="5724939"/>
            <a:ext cx="8229600" cy="344399"/>
          </a:xfrm>
        </p:spPr>
        <p:txBody>
          <a:bodyPr/>
          <a:lstStyle/>
          <a:p>
            <a:r>
              <a:rPr lang="en-US" dirty="0"/>
              <a:t>(</a:t>
            </a:r>
            <a:r>
              <a:rPr lang="en-US" i="1" dirty="0"/>
              <a:t>Source: </a:t>
            </a:r>
            <a:r>
              <a:rPr lang="en-US" dirty="0"/>
              <a:t>Based on Shneiderman et al., 2016)</a:t>
            </a:r>
          </a:p>
        </p:txBody>
      </p:sp>
      <p:pic>
        <p:nvPicPr>
          <p:cNvPr id="6" name="Content Placeholder 5" descr="A close up of a device&#10;&#10;Description automatically generated">
            <a:extLst>
              <a:ext uri="{FF2B5EF4-FFF2-40B4-BE49-F238E27FC236}">
                <a16:creationId xmlns:a16="http://schemas.microsoft.com/office/drawing/2014/main" id="{0D0E3EBE-F654-4A14-9226-537D73B845CD}"/>
              </a:ext>
            </a:extLst>
          </p:cNvPr>
          <p:cNvPicPr>
            <a:picLocks noGrp="1" noChangeAspect="1"/>
          </p:cNvPicPr>
          <p:nvPr>
            <p:ph sz="quarter" idx="14"/>
          </p:nvPr>
        </p:nvPicPr>
        <p:blipFill>
          <a:blip r:embed="rId2"/>
          <a:stretch>
            <a:fillRect/>
          </a:stretch>
        </p:blipFill>
        <p:spPr>
          <a:xfrm>
            <a:off x="1811815" y="1555750"/>
            <a:ext cx="5520370" cy="4168775"/>
          </a:xfrm>
        </p:spPr>
      </p:pic>
    </p:spTree>
    <p:extLst>
      <p:ext uri="{BB962C8B-B14F-4D97-AF65-F5344CB8AC3E}">
        <p14:creationId xmlns:p14="http://schemas.microsoft.com/office/powerpoint/2010/main" val="8942231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06DDF-FA1B-4B0B-8F24-B6E9B8D15E5E}"/>
              </a:ext>
            </a:extLst>
          </p:cNvPr>
          <p:cNvSpPr>
            <a:spLocks noGrp="1"/>
          </p:cNvSpPr>
          <p:nvPr>
            <p:ph type="title"/>
          </p:nvPr>
        </p:nvSpPr>
        <p:spPr/>
        <p:txBody>
          <a:bodyPr/>
          <a:lstStyle/>
          <a:p>
            <a:r>
              <a:rPr lang="en-US" dirty="0"/>
              <a:t>Pop-up Menu</a:t>
            </a:r>
          </a:p>
        </p:txBody>
      </p:sp>
      <p:sp>
        <p:nvSpPr>
          <p:cNvPr id="3" name="Text Placeholder 2">
            <a:extLst>
              <a:ext uri="{FF2B5EF4-FFF2-40B4-BE49-F238E27FC236}">
                <a16:creationId xmlns:a16="http://schemas.microsoft.com/office/drawing/2014/main" id="{AEB47EAB-FC10-47F5-9725-84EB9C4D9F30}"/>
              </a:ext>
            </a:extLst>
          </p:cNvPr>
          <p:cNvSpPr>
            <a:spLocks noGrp="1"/>
          </p:cNvSpPr>
          <p:nvPr>
            <p:ph type="body" idx="1"/>
          </p:nvPr>
        </p:nvSpPr>
        <p:spPr>
          <a:xfrm>
            <a:off x="457200" y="816429"/>
            <a:ext cx="8229600" cy="442528"/>
          </a:xfrm>
        </p:spPr>
        <p:txBody>
          <a:bodyPr/>
          <a:lstStyle/>
          <a:p>
            <a:r>
              <a:rPr lang="en-US" b="1" dirty="0"/>
              <a:t>11.2</a:t>
            </a:r>
            <a:r>
              <a:rPr lang="en-US" b="1" dirty="0">
                <a:solidFill>
                  <a:schemeClr val="accent1"/>
                </a:solidFill>
              </a:rPr>
              <a:t> </a:t>
            </a:r>
            <a:r>
              <a:rPr lang="en-US" dirty="0"/>
              <a:t>Contrast and apply several methods for interacting with a system</a:t>
            </a:r>
          </a:p>
          <a:p>
            <a:endParaRPr lang="en-US" dirty="0"/>
          </a:p>
        </p:txBody>
      </p:sp>
      <p:sp>
        <p:nvSpPr>
          <p:cNvPr id="4" name="Text Placeholder 3">
            <a:extLst>
              <a:ext uri="{FF2B5EF4-FFF2-40B4-BE49-F238E27FC236}">
                <a16:creationId xmlns:a16="http://schemas.microsoft.com/office/drawing/2014/main" id="{11694513-D06D-4272-A330-F2E3FC702BBE}"/>
              </a:ext>
            </a:extLst>
          </p:cNvPr>
          <p:cNvSpPr>
            <a:spLocks noGrp="1"/>
          </p:cNvSpPr>
          <p:nvPr>
            <p:ph type="body" idx="2"/>
          </p:nvPr>
        </p:nvSpPr>
        <p:spPr>
          <a:xfrm>
            <a:off x="457200" y="1439257"/>
            <a:ext cx="8229600" cy="4686906"/>
          </a:xfrm>
        </p:spPr>
        <p:txBody>
          <a:bodyPr/>
          <a:lstStyle/>
          <a:p>
            <a:r>
              <a:rPr lang="en-US" sz="2800" b="1" dirty="0">
                <a:solidFill>
                  <a:srgbClr val="007FA3"/>
                </a:solidFill>
              </a:rPr>
              <a:t>Pop-up menu </a:t>
            </a:r>
            <a:r>
              <a:rPr lang="en-US" sz="2800" dirty="0"/>
              <a:t>– menu-positioning method that places a menu near the current cursor position</a:t>
            </a:r>
          </a:p>
          <a:p>
            <a:pPr lvl="1"/>
            <a:r>
              <a:rPr lang="en-US" sz="2400" dirty="0"/>
              <a:t>Also called a dialogue box</a:t>
            </a:r>
          </a:p>
          <a:p>
            <a:pPr lvl="1"/>
            <a:r>
              <a:rPr lang="en-US" sz="2400" dirty="0"/>
              <a:t>Users don’t have to move their position or eyes to view system options</a:t>
            </a:r>
          </a:p>
          <a:p>
            <a:r>
              <a:rPr lang="en-US" sz="2800" b="1" dirty="0">
                <a:solidFill>
                  <a:srgbClr val="007FA3"/>
                </a:solidFill>
              </a:rPr>
              <a:t>Drop-down menu </a:t>
            </a:r>
            <a:r>
              <a:rPr lang="en-US" sz="2800" dirty="0"/>
              <a:t>– menu-positioning method that places the access point of the menu near the top line of the display; when accessed, menus open by dropping down onto the display</a:t>
            </a:r>
          </a:p>
        </p:txBody>
      </p:sp>
    </p:spTree>
    <p:extLst>
      <p:ext uri="{BB962C8B-B14F-4D97-AF65-F5344CB8AC3E}">
        <p14:creationId xmlns:p14="http://schemas.microsoft.com/office/powerpoint/2010/main" val="37977556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E02E6-BEA1-4E76-A0B1-F7B3488B281E}"/>
              </a:ext>
            </a:extLst>
          </p:cNvPr>
          <p:cNvSpPr>
            <a:spLocks noGrp="1"/>
          </p:cNvSpPr>
          <p:nvPr>
            <p:ph type="title"/>
          </p:nvPr>
        </p:nvSpPr>
        <p:spPr/>
        <p:txBody>
          <a:bodyPr/>
          <a:lstStyle/>
          <a:p>
            <a:r>
              <a:rPr lang="en-US" dirty="0"/>
              <a:t>Table 1: Guidelines for Menu Design</a:t>
            </a:r>
          </a:p>
        </p:txBody>
      </p:sp>
      <p:graphicFrame>
        <p:nvGraphicFramePr>
          <p:cNvPr id="5" name="Content Placeholder 4">
            <a:extLst>
              <a:ext uri="{FF2B5EF4-FFF2-40B4-BE49-F238E27FC236}">
                <a16:creationId xmlns:a16="http://schemas.microsoft.com/office/drawing/2014/main" id="{389AA515-37E7-4529-8D15-14001190D4E2}"/>
              </a:ext>
            </a:extLst>
          </p:cNvPr>
          <p:cNvGraphicFramePr>
            <a:graphicFrameLocks noGrp="1"/>
          </p:cNvGraphicFramePr>
          <p:nvPr>
            <p:ph sz="quarter" idx="14"/>
            <p:extLst>
              <p:ext uri="{D42A27DB-BD31-4B8C-83A1-F6EECF244321}">
                <p14:modId xmlns:p14="http://schemas.microsoft.com/office/powerpoint/2010/main" val="3036662880"/>
              </p:ext>
            </p:extLst>
          </p:nvPr>
        </p:nvGraphicFramePr>
        <p:xfrm>
          <a:off x="457200" y="1555750"/>
          <a:ext cx="8229600" cy="3870960"/>
        </p:xfrm>
        <a:graphic>
          <a:graphicData uri="http://schemas.openxmlformats.org/drawingml/2006/table">
            <a:tbl>
              <a:tblPr firstRow="1" bandRow="1">
                <a:tableStyleId>{40F9630F-82C1-40B7-BC3A-925EFCFF5E92}</a:tableStyleId>
              </a:tblPr>
              <a:tblGrid>
                <a:gridCol w="1570383">
                  <a:extLst>
                    <a:ext uri="{9D8B030D-6E8A-4147-A177-3AD203B41FA5}">
                      <a16:colId xmlns:a16="http://schemas.microsoft.com/office/drawing/2014/main" val="2683394000"/>
                    </a:ext>
                  </a:extLst>
                </a:gridCol>
                <a:gridCol w="6659217">
                  <a:extLst>
                    <a:ext uri="{9D8B030D-6E8A-4147-A177-3AD203B41FA5}">
                      <a16:colId xmlns:a16="http://schemas.microsoft.com/office/drawing/2014/main" val="2376026042"/>
                    </a:ext>
                  </a:extLst>
                </a:gridCol>
              </a:tblGrid>
              <a:tr h="370840">
                <a:tc>
                  <a:txBody>
                    <a:bodyPr/>
                    <a:lstStyle/>
                    <a:p>
                      <a:r>
                        <a:rPr lang="en-US" b="0" dirty="0"/>
                        <a:t>Wording</a:t>
                      </a:r>
                    </a:p>
                  </a:txBody>
                  <a:tcPr/>
                </a:tc>
                <a:tc>
                  <a:txBody>
                    <a:bodyPr/>
                    <a:lstStyle/>
                    <a:p>
                      <a:r>
                        <a:rPr lang="en-US" sz="1400" b="0" i="0" u="none" strike="noStrike" cap="none" baseline="0" dirty="0">
                          <a:solidFill>
                            <a:schemeClr val="dk1"/>
                          </a:solidFill>
                          <a:latin typeface="Arial"/>
                          <a:ea typeface="Arial"/>
                          <a:cs typeface="Arial"/>
                          <a:sym typeface="Arial"/>
                        </a:rPr>
                        <a:t>• Each menu should have a meaningful title.</a:t>
                      </a:r>
                    </a:p>
                    <a:p>
                      <a:r>
                        <a:rPr lang="en-US" sz="1400" b="0" i="0" u="none" strike="noStrike" cap="none" baseline="0" dirty="0">
                          <a:solidFill>
                            <a:schemeClr val="dk1"/>
                          </a:solidFill>
                          <a:latin typeface="Arial"/>
                          <a:ea typeface="Arial"/>
                          <a:cs typeface="Arial"/>
                          <a:sym typeface="Arial"/>
                        </a:rPr>
                        <a:t>• Command verbs should clearly and specifically describe operations.</a:t>
                      </a:r>
                    </a:p>
                    <a:p>
                      <a:r>
                        <a:rPr lang="en-US" sz="1400" b="0" i="0" u="none" strike="noStrike" cap="none" baseline="0" dirty="0">
                          <a:solidFill>
                            <a:schemeClr val="dk1"/>
                          </a:solidFill>
                          <a:latin typeface="Arial"/>
                          <a:ea typeface="Arial"/>
                          <a:cs typeface="Arial"/>
                          <a:sym typeface="Arial"/>
                        </a:rPr>
                        <a:t>• Menu items should be displayed in mixed uppercase and lowercase letters and have a clear, unambiguous interpretation.</a:t>
                      </a:r>
                      <a:endParaRPr lang="en-US" b="0" dirty="0"/>
                    </a:p>
                  </a:txBody>
                  <a:tcPr/>
                </a:tc>
                <a:extLst>
                  <a:ext uri="{0D108BD9-81ED-4DB2-BD59-A6C34878D82A}">
                    <a16:rowId xmlns:a16="http://schemas.microsoft.com/office/drawing/2014/main" val="372600213"/>
                  </a:ext>
                </a:extLst>
              </a:tr>
              <a:tr h="370840">
                <a:tc>
                  <a:txBody>
                    <a:bodyPr/>
                    <a:lstStyle/>
                    <a:p>
                      <a:r>
                        <a:rPr lang="en-US" dirty="0"/>
                        <a:t>Organization</a:t>
                      </a:r>
                    </a:p>
                  </a:txBody>
                  <a:tcPr/>
                </a:tc>
                <a:tc>
                  <a:txBody>
                    <a:bodyPr/>
                    <a:lstStyle/>
                    <a:p>
                      <a:r>
                        <a:rPr lang="en-US" sz="1400" b="0" i="0" u="none" strike="noStrike" cap="none" baseline="0" dirty="0">
                          <a:solidFill>
                            <a:schemeClr val="dk1"/>
                          </a:solidFill>
                          <a:latin typeface="Arial"/>
                          <a:ea typeface="Arial"/>
                          <a:cs typeface="Arial"/>
                          <a:sym typeface="Arial"/>
                        </a:rPr>
                        <a:t>• A consistent organizing principle should be used that relates to the tasks the intended users perform; for example, related options should be grouped together, and the same option should have the same wording and codes each time it appears.</a:t>
                      </a:r>
                      <a:endParaRPr lang="en-US" dirty="0"/>
                    </a:p>
                  </a:txBody>
                  <a:tcPr/>
                </a:tc>
                <a:extLst>
                  <a:ext uri="{0D108BD9-81ED-4DB2-BD59-A6C34878D82A}">
                    <a16:rowId xmlns:a16="http://schemas.microsoft.com/office/drawing/2014/main" val="3544615975"/>
                  </a:ext>
                </a:extLst>
              </a:tr>
              <a:tr h="370840">
                <a:tc>
                  <a:txBody>
                    <a:bodyPr/>
                    <a:lstStyle/>
                    <a:p>
                      <a:r>
                        <a:rPr lang="en-US" dirty="0"/>
                        <a:t>Length</a:t>
                      </a:r>
                    </a:p>
                  </a:txBody>
                  <a:tcPr/>
                </a:tc>
                <a:tc>
                  <a:txBody>
                    <a:bodyPr/>
                    <a:lstStyle/>
                    <a:p>
                      <a:r>
                        <a:rPr lang="en-US" sz="1400" b="0" i="0" u="none" strike="noStrike" cap="none" baseline="0" dirty="0">
                          <a:solidFill>
                            <a:schemeClr val="dk1"/>
                          </a:solidFill>
                          <a:latin typeface="Arial"/>
                          <a:ea typeface="Arial"/>
                          <a:cs typeface="Arial"/>
                          <a:sym typeface="Arial"/>
                        </a:rPr>
                        <a:t>• The number of menu choices should not exceed the length of the screen.</a:t>
                      </a:r>
                    </a:p>
                    <a:p>
                      <a:r>
                        <a:rPr lang="en-US" sz="1400" b="0" i="0" u="none" strike="noStrike" cap="none" baseline="0" dirty="0">
                          <a:solidFill>
                            <a:schemeClr val="dk1"/>
                          </a:solidFill>
                          <a:latin typeface="Arial"/>
                          <a:ea typeface="Arial"/>
                          <a:cs typeface="Arial"/>
                          <a:sym typeface="Arial"/>
                        </a:rPr>
                        <a:t>• Submenus should be used to break up exceedingly long menus.</a:t>
                      </a:r>
                      <a:endParaRPr lang="en-US" dirty="0"/>
                    </a:p>
                  </a:txBody>
                  <a:tcPr/>
                </a:tc>
                <a:extLst>
                  <a:ext uri="{0D108BD9-81ED-4DB2-BD59-A6C34878D82A}">
                    <a16:rowId xmlns:a16="http://schemas.microsoft.com/office/drawing/2014/main" val="3791752245"/>
                  </a:ext>
                </a:extLst>
              </a:tr>
              <a:tr h="370840">
                <a:tc>
                  <a:txBody>
                    <a:bodyPr/>
                    <a:lstStyle/>
                    <a:p>
                      <a:r>
                        <a:rPr lang="en-US" dirty="0"/>
                        <a:t>Selection</a:t>
                      </a:r>
                    </a:p>
                  </a:txBody>
                  <a:tcPr/>
                </a:tc>
                <a:tc>
                  <a:txBody>
                    <a:bodyPr/>
                    <a:lstStyle/>
                    <a:p>
                      <a:r>
                        <a:rPr lang="en-US" sz="1400" b="0" i="0" u="none" strike="noStrike" cap="none" baseline="0" dirty="0">
                          <a:solidFill>
                            <a:schemeClr val="dk1"/>
                          </a:solidFill>
                          <a:latin typeface="Arial"/>
                          <a:ea typeface="Arial"/>
                          <a:cs typeface="Arial"/>
                          <a:sym typeface="Arial"/>
                        </a:rPr>
                        <a:t>• Selection and entry methods should be consistent and reflect the size of the application and sophistication of the users.</a:t>
                      </a:r>
                    </a:p>
                    <a:p>
                      <a:r>
                        <a:rPr lang="en-US" sz="1400" b="0" i="0" u="none" strike="noStrike" cap="none" baseline="0" dirty="0">
                          <a:solidFill>
                            <a:schemeClr val="dk1"/>
                          </a:solidFill>
                          <a:latin typeface="Arial"/>
                          <a:ea typeface="Arial"/>
                          <a:cs typeface="Arial"/>
                          <a:sym typeface="Arial"/>
                        </a:rPr>
                        <a:t>• How the user is to select each option and the consequences of each option should be clear (e.g., whether another menu will appear).</a:t>
                      </a:r>
                      <a:endParaRPr lang="en-US" dirty="0"/>
                    </a:p>
                  </a:txBody>
                  <a:tcPr/>
                </a:tc>
                <a:extLst>
                  <a:ext uri="{0D108BD9-81ED-4DB2-BD59-A6C34878D82A}">
                    <a16:rowId xmlns:a16="http://schemas.microsoft.com/office/drawing/2014/main" val="1086105998"/>
                  </a:ext>
                </a:extLst>
              </a:tr>
              <a:tr h="370840">
                <a:tc>
                  <a:txBody>
                    <a:bodyPr/>
                    <a:lstStyle/>
                    <a:p>
                      <a:r>
                        <a:rPr lang="en-US" dirty="0"/>
                        <a:t>Highlighting</a:t>
                      </a:r>
                    </a:p>
                  </a:txBody>
                  <a:tcPr/>
                </a:tc>
                <a:tc>
                  <a:txBody>
                    <a:bodyPr/>
                    <a:lstStyle/>
                    <a:p>
                      <a:r>
                        <a:rPr lang="en-US" sz="1400" b="0" i="0" u="none" strike="noStrike" cap="none" baseline="0" dirty="0">
                          <a:solidFill>
                            <a:schemeClr val="dk1"/>
                          </a:solidFill>
                          <a:latin typeface="Arial"/>
                          <a:ea typeface="Arial"/>
                          <a:cs typeface="Arial"/>
                          <a:sym typeface="Arial"/>
                        </a:rPr>
                        <a:t>• Highlighting should be minimized and used only to convey selected options (e.g., a check mark) or unavailable options (e.g., dimmed text).</a:t>
                      </a:r>
                      <a:endParaRPr lang="en-US" dirty="0"/>
                    </a:p>
                  </a:txBody>
                  <a:tcPr/>
                </a:tc>
                <a:extLst>
                  <a:ext uri="{0D108BD9-81ED-4DB2-BD59-A6C34878D82A}">
                    <a16:rowId xmlns:a16="http://schemas.microsoft.com/office/drawing/2014/main" val="792298783"/>
                  </a:ext>
                </a:extLst>
              </a:tr>
            </a:tbl>
          </a:graphicData>
        </a:graphic>
      </p:graphicFrame>
    </p:spTree>
    <p:extLst>
      <p:ext uri="{BB962C8B-B14F-4D97-AF65-F5344CB8AC3E}">
        <p14:creationId xmlns:p14="http://schemas.microsoft.com/office/powerpoint/2010/main" val="36446379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D9EB4-9B34-42C5-B270-EECDE282FCC9}"/>
              </a:ext>
            </a:extLst>
          </p:cNvPr>
          <p:cNvSpPr>
            <a:spLocks noGrp="1"/>
          </p:cNvSpPr>
          <p:nvPr>
            <p:ph type="title"/>
          </p:nvPr>
        </p:nvSpPr>
        <p:spPr/>
        <p:txBody>
          <a:bodyPr/>
          <a:lstStyle/>
          <a:p>
            <a:r>
              <a:rPr lang="en-US" sz="2800" dirty="0"/>
              <a:t>Figure 2:Contrasting Menu Designs (a) Poor Menu Design (b) Improved Menu Design</a:t>
            </a:r>
          </a:p>
        </p:txBody>
      </p:sp>
      <p:pic>
        <p:nvPicPr>
          <p:cNvPr id="6" name="Content Placeholder 5" descr="A screenshot of a cell phone&#10;&#10;Description automatically generated">
            <a:extLst>
              <a:ext uri="{FF2B5EF4-FFF2-40B4-BE49-F238E27FC236}">
                <a16:creationId xmlns:a16="http://schemas.microsoft.com/office/drawing/2014/main" id="{EA087790-4BDE-4729-BD4F-215BA4E34BA6}"/>
              </a:ext>
            </a:extLst>
          </p:cNvPr>
          <p:cNvPicPr>
            <a:picLocks noGrp="1" noChangeAspect="1"/>
          </p:cNvPicPr>
          <p:nvPr>
            <p:ph sz="quarter" idx="13"/>
          </p:nvPr>
        </p:nvPicPr>
        <p:blipFill>
          <a:blip r:embed="rId2"/>
          <a:stretch>
            <a:fillRect/>
          </a:stretch>
        </p:blipFill>
        <p:spPr>
          <a:xfrm>
            <a:off x="1938233" y="1489425"/>
            <a:ext cx="5267534" cy="2268538"/>
          </a:xfrm>
        </p:spPr>
      </p:pic>
      <p:pic>
        <p:nvPicPr>
          <p:cNvPr id="8" name="Content Placeholder 7" descr="A picture containing screenshot&#10;&#10;Description automatically generated">
            <a:extLst>
              <a:ext uri="{FF2B5EF4-FFF2-40B4-BE49-F238E27FC236}">
                <a16:creationId xmlns:a16="http://schemas.microsoft.com/office/drawing/2014/main" id="{23741A9F-9A9E-4A16-BBE2-025DC56B3928}"/>
              </a:ext>
            </a:extLst>
          </p:cNvPr>
          <p:cNvPicPr>
            <a:picLocks noGrp="1" noChangeAspect="1"/>
          </p:cNvPicPr>
          <p:nvPr>
            <p:ph sz="quarter" idx="14"/>
          </p:nvPr>
        </p:nvPicPr>
        <p:blipFill>
          <a:blip r:embed="rId3"/>
          <a:stretch>
            <a:fillRect/>
          </a:stretch>
        </p:blipFill>
        <p:spPr>
          <a:xfrm>
            <a:off x="1938233" y="3838921"/>
            <a:ext cx="5267534" cy="2299402"/>
          </a:xfrm>
        </p:spPr>
      </p:pic>
    </p:spTree>
    <p:extLst>
      <p:ext uri="{BB962C8B-B14F-4D97-AF65-F5344CB8AC3E}">
        <p14:creationId xmlns:p14="http://schemas.microsoft.com/office/powerpoint/2010/main" val="38059709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CD44C-848E-4E5E-98DE-4AD29E57AAE7}"/>
              </a:ext>
            </a:extLst>
          </p:cNvPr>
          <p:cNvSpPr>
            <a:spLocks noGrp="1"/>
          </p:cNvSpPr>
          <p:nvPr>
            <p:ph type="title"/>
          </p:nvPr>
        </p:nvSpPr>
        <p:spPr/>
        <p:txBody>
          <a:bodyPr/>
          <a:lstStyle/>
          <a:p>
            <a:r>
              <a:rPr lang="en-US" dirty="0"/>
              <a:t>Figure 3:</a:t>
            </a:r>
            <a:r>
              <a:rPr lang="en-US" b="0" dirty="0"/>
              <a:t> </a:t>
            </a:r>
            <a:r>
              <a:rPr lang="en-US" dirty="0"/>
              <a:t>Menu Building with Microsoft Visual Basic.NET</a:t>
            </a:r>
          </a:p>
        </p:txBody>
      </p:sp>
      <p:sp>
        <p:nvSpPr>
          <p:cNvPr id="3" name="Text Placeholder 2">
            <a:extLst>
              <a:ext uri="{FF2B5EF4-FFF2-40B4-BE49-F238E27FC236}">
                <a16:creationId xmlns:a16="http://schemas.microsoft.com/office/drawing/2014/main" id="{07228D95-85C1-4B52-823E-328EC7BBF570}"/>
              </a:ext>
            </a:extLst>
          </p:cNvPr>
          <p:cNvSpPr>
            <a:spLocks noGrp="1"/>
          </p:cNvSpPr>
          <p:nvPr>
            <p:ph type="body" idx="1"/>
          </p:nvPr>
        </p:nvSpPr>
        <p:spPr>
          <a:xfrm>
            <a:off x="457200" y="5724939"/>
            <a:ext cx="8229600" cy="344399"/>
          </a:xfrm>
        </p:spPr>
        <p:txBody>
          <a:bodyPr/>
          <a:lstStyle/>
          <a:p>
            <a:r>
              <a:rPr lang="en-US" dirty="0"/>
              <a:t>(</a:t>
            </a:r>
            <a:r>
              <a:rPr lang="en-US" i="1" dirty="0"/>
              <a:t>Source: </a:t>
            </a:r>
            <a:r>
              <a:rPr lang="en-US" dirty="0"/>
              <a:t>Microsoft Corporation)</a:t>
            </a:r>
          </a:p>
        </p:txBody>
      </p:sp>
      <p:pic>
        <p:nvPicPr>
          <p:cNvPr id="6" name="Content Placeholder 5" descr="A screenshot of a computer&#10;&#10;Description automatically generated">
            <a:extLst>
              <a:ext uri="{FF2B5EF4-FFF2-40B4-BE49-F238E27FC236}">
                <a16:creationId xmlns:a16="http://schemas.microsoft.com/office/drawing/2014/main" id="{20274EA1-D07F-42F8-B68B-1BBB13A1480B}"/>
              </a:ext>
            </a:extLst>
          </p:cNvPr>
          <p:cNvPicPr>
            <a:picLocks noGrp="1" noChangeAspect="1"/>
          </p:cNvPicPr>
          <p:nvPr>
            <p:ph sz="quarter" idx="14"/>
          </p:nvPr>
        </p:nvPicPr>
        <p:blipFill>
          <a:blip r:embed="rId2"/>
          <a:stretch>
            <a:fillRect/>
          </a:stretch>
        </p:blipFill>
        <p:spPr>
          <a:xfrm>
            <a:off x="2183504" y="1555750"/>
            <a:ext cx="4776992" cy="3957638"/>
          </a:xfrm>
        </p:spPr>
      </p:pic>
    </p:spTree>
    <p:extLst>
      <p:ext uri="{BB962C8B-B14F-4D97-AF65-F5344CB8AC3E}">
        <p14:creationId xmlns:p14="http://schemas.microsoft.com/office/powerpoint/2010/main" val="6169728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06DDF-FA1B-4B0B-8F24-B6E9B8D15E5E}"/>
              </a:ext>
            </a:extLst>
          </p:cNvPr>
          <p:cNvSpPr>
            <a:spLocks noGrp="1"/>
          </p:cNvSpPr>
          <p:nvPr>
            <p:ph type="title"/>
          </p:nvPr>
        </p:nvSpPr>
        <p:spPr/>
        <p:txBody>
          <a:bodyPr/>
          <a:lstStyle/>
          <a:p>
            <a:r>
              <a:rPr lang="en-US" dirty="0"/>
              <a:t>Form Interaction</a:t>
            </a:r>
          </a:p>
        </p:txBody>
      </p:sp>
      <p:sp>
        <p:nvSpPr>
          <p:cNvPr id="4" name="Text Placeholder 3">
            <a:extLst>
              <a:ext uri="{FF2B5EF4-FFF2-40B4-BE49-F238E27FC236}">
                <a16:creationId xmlns:a16="http://schemas.microsoft.com/office/drawing/2014/main" id="{11694513-D06D-4272-A330-F2E3FC702BBE}"/>
              </a:ext>
            </a:extLst>
          </p:cNvPr>
          <p:cNvSpPr>
            <a:spLocks noGrp="1"/>
          </p:cNvSpPr>
          <p:nvPr>
            <p:ph type="body" idx="2"/>
          </p:nvPr>
        </p:nvSpPr>
        <p:spPr>
          <a:xfrm>
            <a:off x="457200" y="1439257"/>
            <a:ext cx="8229600" cy="4686906"/>
          </a:xfrm>
        </p:spPr>
        <p:txBody>
          <a:bodyPr/>
          <a:lstStyle/>
          <a:p>
            <a:pPr eaLnBrk="1" hangingPunct="1"/>
            <a:r>
              <a:rPr lang="en-US" altLang="en-US" sz="2800" b="1" dirty="0">
                <a:solidFill>
                  <a:srgbClr val="007FA3"/>
                </a:solidFill>
              </a:rPr>
              <a:t>Form interaction </a:t>
            </a:r>
            <a:r>
              <a:rPr lang="en-US" altLang="en-US" sz="2800" dirty="0"/>
              <a:t>– highly intuitive human-computer interaction method whereby data fields are formatted in a manner similar to paper-based forms</a:t>
            </a:r>
          </a:p>
          <a:p>
            <a:pPr lvl="1" eaLnBrk="1" hangingPunct="1"/>
            <a:r>
              <a:rPr lang="en-US" altLang="en-US" sz="2400" dirty="0"/>
              <a:t>Allows users to fill in the blanks when working with a system</a:t>
            </a:r>
          </a:p>
          <a:p>
            <a:pPr marL="586232" indent="-514350"/>
            <a:endParaRPr lang="en-US" sz="2800" dirty="0"/>
          </a:p>
        </p:txBody>
      </p:sp>
      <p:sp>
        <p:nvSpPr>
          <p:cNvPr id="5" name="Text Placeholder 4"/>
          <p:cNvSpPr>
            <a:spLocks noGrp="1"/>
          </p:cNvSpPr>
          <p:nvPr>
            <p:ph type="body" idx="1"/>
          </p:nvPr>
        </p:nvSpPr>
        <p:spPr/>
        <p:txBody>
          <a:bodyPr/>
          <a:lstStyle/>
          <a:p>
            <a:endParaRPr lang="en-US"/>
          </a:p>
        </p:txBody>
      </p:sp>
    </p:spTree>
    <p:extLst>
      <p:ext uri="{BB962C8B-B14F-4D97-AF65-F5344CB8AC3E}">
        <p14:creationId xmlns:p14="http://schemas.microsoft.com/office/powerpoint/2010/main" val="29795795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590F8-D1CF-4815-8773-F0AAE142E054}"/>
              </a:ext>
            </a:extLst>
          </p:cNvPr>
          <p:cNvSpPr>
            <a:spLocks noGrp="1"/>
          </p:cNvSpPr>
          <p:nvPr>
            <p:ph type="title"/>
          </p:nvPr>
        </p:nvSpPr>
        <p:spPr/>
        <p:txBody>
          <a:bodyPr/>
          <a:lstStyle/>
          <a:p>
            <a:r>
              <a:rPr lang="en-US" sz="3100" dirty="0"/>
              <a:t>Figure 4: Example of Form Interaction from the Google Advanced Search Engine</a:t>
            </a:r>
          </a:p>
        </p:txBody>
      </p:sp>
      <p:sp>
        <p:nvSpPr>
          <p:cNvPr id="3" name="Text Placeholder 2">
            <a:extLst>
              <a:ext uri="{FF2B5EF4-FFF2-40B4-BE49-F238E27FC236}">
                <a16:creationId xmlns:a16="http://schemas.microsoft.com/office/drawing/2014/main" id="{1D8A57C7-9EBE-4AD0-8A37-6A5638EC70C5}"/>
              </a:ext>
            </a:extLst>
          </p:cNvPr>
          <p:cNvSpPr>
            <a:spLocks noGrp="1"/>
          </p:cNvSpPr>
          <p:nvPr>
            <p:ph type="body" idx="1"/>
          </p:nvPr>
        </p:nvSpPr>
        <p:spPr>
          <a:xfrm>
            <a:off x="457200" y="5698435"/>
            <a:ext cx="8229600" cy="370903"/>
          </a:xfrm>
        </p:spPr>
        <p:txBody>
          <a:bodyPr/>
          <a:lstStyle/>
          <a:p>
            <a:r>
              <a:rPr lang="en-US" dirty="0"/>
              <a:t>(</a:t>
            </a:r>
            <a:r>
              <a:rPr lang="en-US" i="1" dirty="0"/>
              <a:t>Source: </a:t>
            </a:r>
            <a:r>
              <a:rPr lang="en-US" dirty="0"/>
              <a:t>Google, Inc.)</a:t>
            </a:r>
          </a:p>
        </p:txBody>
      </p:sp>
      <p:pic>
        <p:nvPicPr>
          <p:cNvPr id="6" name="Content Placeholder 5" descr="A screenshot of a cell phone&#10;&#10;Description automatically generated">
            <a:extLst>
              <a:ext uri="{FF2B5EF4-FFF2-40B4-BE49-F238E27FC236}">
                <a16:creationId xmlns:a16="http://schemas.microsoft.com/office/drawing/2014/main" id="{D45C0639-5B0E-4E68-8CDD-0851EF16DA19}"/>
              </a:ext>
            </a:extLst>
          </p:cNvPr>
          <p:cNvPicPr>
            <a:picLocks noGrp="1" noChangeAspect="1"/>
          </p:cNvPicPr>
          <p:nvPr>
            <p:ph sz="quarter" idx="14"/>
          </p:nvPr>
        </p:nvPicPr>
        <p:blipFill>
          <a:blip r:embed="rId2"/>
          <a:stretch>
            <a:fillRect/>
          </a:stretch>
        </p:blipFill>
        <p:spPr>
          <a:xfrm>
            <a:off x="2368135" y="1555750"/>
            <a:ext cx="4407730" cy="4143375"/>
          </a:xfrm>
        </p:spPr>
      </p:pic>
    </p:spTree>
    <p:extLst>
      <p:ext uri="{BB962C8B-B14F-4D97-AF65-F5344CB8AC3E}">
        <p14:creationId xmlns:p14="http://schemas.microsoft.com/office/powerpoint/2010/main" val="8559483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06DDF-FA1B-4B0B-8F24-B6E9B8D15E5E}"/>
              </a:ext>
            </a:extLst>
          </p:cNvPr>
          <p:cNvSpPr>
            <a:spLocks noGrp="1"/>
          </p:cNvSpPr>
          <p:nvPr>
            <p:ph type="title"/>
          </p:nvPr>
        </p:nvSpPr>
        <p:spPr/>
        <p:txBody>
          <a:bodyPr/>
          <a:lstStyle/>
          <a:p>
            <a:r>
              <a:rPr lang="en-US" dirty="0"/>
              <a:t>Object-Based Interaction</a:t>
            </a:r>
          </a:p>
        </p:txBody>
      </p:sp>
      <p:sp>
        <p:nvSpPr>
          <p:cNvPr id="3" name="Text Placeholder 2">
            <a:extLst>
              <a:ext uri="{FF2B5EF4-FFF2-40B4-BE49-F238E27FC236}">
                <a16:creationId xmlns:a16="http://schemas.microsoft.com/office/drawing/2014/main" id="{AEB47EAB-FC10-47F5-9725-84EB9C4D9F30}"/>
              </a:ext>
            </a:extLst>
          </p:cNvPr>
          <p:cNvSpPr>
            <a:spLocks noGrp="1"/>
          </p:cNvSpPr>
          <p:nvPr>
            <p:ph type="body" idx="1"/>
          </p:nvPr>
        </p:nvSpPr>
        <p:spPr>
          <a:xfrm>
            <a:off x="457200" y="816429"/>
            <a:ext cx="8229600" cy="442528"/>
          </a:xfrm>
        </p:spPr>
        <p:txBody>
          <a:bodyPr/>
          <a:lstStyle/>
          <a:p>
            <a:r>
              <a:rPr lang="en-US" b="1" dirty="0"/>
              <a:t>11.2</a:t>
            </a:r>
            <a:r>
              <a:rPr lang="en-US" b="1" dirty="0">
                <a:solidFill>
                  <a:schemeClr val="accent1"/>
                </a:solidFill>
              </a:rPr>
              <a:t> </a:t>
            </a:r>
            <a:r>
              <a:rPr lang="en-US" dirty="0"/>
              <a:t>Contrast and apply several methods for interacting with a system</a:t>
            </a:r>
          </a:p>
          <a:p>
            <a:endParaRPr lang="en-US" dirty="0"/>
          </a:p>
        </p:txBody>
      </p:sp>
      <p:sp>
        <p:nvSpPr>
          <p:cNvPr id="4" name="Text Placeholder 3">
            <a:extLst>
              <a:ext uri="{FF2B5EF4-FFF2-40B4-BE49-F238E27FC236}">
                <a16:creationId xmlns:a16="http://schemas.microsoft.com/office/drawing/2014/main" id="{11694513-D06D-4272-A330-F2E3FC702BBE}"/>
              </a:ext>
            </a:extLst>
          </p:cNvPr>
          <p:cNvSpPr>
            <a:spLocks noGrp="1"/>
          </p:cNvSpPr>
          <p:nvPr>
            <p:ph type="body" idx="2"/>
          </p:nvPr>
        </p:nvSpPr>
        <p:spPr>
          <a:xfrm>
            <a:off x="457200" y="1439257"/>
            <a:ext cx="8229600" cy="4686906"/>
          </a:xfrm>
        </p:spPr>
        <p:txBody>
          <a:bodyPr/>
          <a:lstStyle/>
          <a:p>
            <a:r>
              <a:rPr lang="en-US" sz="2800" b="1" dirty="0">
                <a:solidFill>
                  <a:srgbClr val="007FA3"/>
                </a:solidFill>
              </a:rPr>
              <a:t>Object-based interaction </a:t>
            </a:r>
            <a:r>
              <a:rPr lang="en-US" sz="2800" dirty="0">
                <a:solidFill>
                  <a:schemeClr val="tx1"/>
                </a:solidFill>
              </a:rPr>
              <a:t>– </a:t>
            </a:r>
            <a:r>
              <a:rPr lang="en-US" sz="2800" dirty="0"/>
              <a:t>human-computer interaction method in which symbols are used to represent commands or functions</a:t>
            </a:r>
          </a:p>
          <a:p>
            <a:r>
              <a:rPr lang="en-US" sz="2800" b="1" dirty="0">
                <a:solidFill>
                  <a:srgbClr val="007FA3"/>
                </a:solidFill>
              </a:rPr>
              <a:t>Icon</a:t>
            </a:r>
            <a:r>
              <a:rPr lang="en-US" sz="2800" dirty="0"/>
              <a:t> – graphical picture that represents specific functions within a system</a:t>
            </a:r>
          </a:p>
          <a:p>
            <a:pPr lvl="1"/>
            <a:r>
              <a:rPr lang="en-US" sz="2400" dirty="0"/>
              <a:t>Take up little screen space</a:t>
            </a:r>
          </a:p>
          <a:p>
            <a:pPr lvl="1"/>
            <a:r>
              <a:rPr lang="en-US" sz="2400" dirty="0"/>
              <a:t>Quickly understood by most users</a:t>
            </a:r>
          </a:p>
        </p:txBody>
      </p:sp>
    </p:spTree>
    <p:extLst>
      <p:ext uri="{BB962C8B-B14F-4D97-AF65-F5344CB8AC3E}">
        <p14:creationId xmlns:p14="http://schemas.microsoft.com/office/powerpoint/2010/main" val="21997633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3698C-49F0-4792-9754-AF43C91B7352}"/>
              </a:ext>
            </a:extLst>
          </p:cNvPr>
          <p:cNvSpPr>
            <a:spLocks noGrp="1"/>
          </p:cNvSpPr>
          <p:nvPr>
            <p:ph type="title"/>
          </p:nvPr>
        </p:nvSpPr>
        <p:spPr/>
        <p:txBody>
          <a:bodyPr/>
          <a:lstStyle/>
          <a:p>
            <a:r>
              <a:rPr lang="en-US" sz="3200" dirty="0"/>
              <a:t>Figure 5: Object-Based (Icon) Interface from Microsoft’s Snipping Tool</a:t>
            </a:r>
          </a:p>
        </p:txBody>
      </p:sp>
      <p:sp>
        <p:nvSpPr>
          <p:cNvPr id="3" name="Text Placeholder 2">
            <a:extLst>
              <a:ext uri="{FF2B5EF4-FFF2-40B4-BE49-F238E27FC236}">
                <a16:creationId xmlns:a16="http://schemas.microsoft.com/office/drawing/2014/main" id="{04DE26CD-C49C-4ACE-ABDE-E3D086673BE2}"/>
              </a:ext>
            </a:extLst>
          </p:cNvPr>
          <p:cNvSpPr>
            <a:spLocks noGrp="1"/>
          </p:cNvSpPr>
          <p:nvPr>
            <p:ph type="body" idx="1"/>
          </p:nvPr>
        </p:nvSpPr>
        <p:spPr>
          <a:xfrm>
            <a:off x="457200" y="5645426"/>
            <a:ext cx="8229600" cy="423912"/>
          </a:xfrm>
        </p:spPr>
        <p:txBody>
          <a:bodyPr/>
          <a:lstStyle/>
          <a:p>
            <a:r>
              <a:rPr lang="en-US" dirty="0"/>
              <a:t>(</a:t>
            </a:r>
            <a:r>
              <a:rPr lang="en-US" i="1" dirty="0"/>
              <a:t>Source: </a:t>
            </a:r>
            <a:r>
              <a:rPr lang="en-US" dirty="0"/>
              <a:t>Microsoft Corporation)</a:t>
            </a:r>
          </a:p>
        </p:txBody>
      </p:sp>
      <p:pic>
        <p:nvPicPr>
          <p:cNvPr id="6" name="Content Placeholder 5" descr="A screenshot of a cell phone&#10;&#10;Description automatically generated">
            <a:extLst>
              <a:ext uri="{FF2B5EF4-FFF2-40B4-BE49-F238E27FC236}">
                <a16:creationId xmlns:a16="http://schemas.microsoft.com/office/drawing/2014/main" id="{79B1D709-195F-4A17-A73D-D45859DBC02E}"/>
              </a:ext>
            </a:extLst>
          </p:cNvPr>
          <p:cNvPicPr>
            <a:picLocks noGrp="1" noChangeAspect="1"/>
          </p:cNvPicPr>
          <p:nvPr>
            <p:ph sz="quarter" idx="14"/>
          </p:nvPr>
        </p:nvPicPr>
        <p:blipFill>
          <a:blip r:embed="rId2"/>
          <a:stretch>
            <a:fillRect/>
          </a:stretch>
        </p:blipFill>
        <p:spPr>
          <a:xfrm>
            <a:off x="2207456" y="1555750"/>
            <a:ext cx="4729088" cy="3917950"/>
          </a:xfrm>
        </p:spPr>
      </p:pic>
    </p:spTree>
    <p:extLst>
      <p:ext uri="{BB962C8B-B14F-4D97-AF65-F5344CB8AC3E}">
        <p14:creationId xmlns:p14="http://schemas.microsoft.com/office/powerpoint/2010/main" val="148988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06DDF-FA1B-4B0B-8F24-B6E9B8D15E5E}"/>
              </a:ext>
            </a:extLst>
          </p:cNvPr>
          <p:cNvSpPr>
            <a:spLocks noGrp="1"/>
          </p:cNvSpPr>
          <p:nvPr>
            <p:ph type="title"/>
          </p:nvPr>
        </p:nvSpPr>
        <p:spPr/>
        <p:txBody>
          <a:bodyPr/>
          <a:lstStyle/>
          <a:p>
            <a:r>
              <a:rPr lang="en-US" dirty="0"/>
              <a:t>Natural Language Interaction</a:t>
            </a:r>
          </a:p>
        </p:txBody>
      </p:sp>
      <p:sp>
        <p:nvSpPr>
          <p:cNvPr id="4" name="Text Placeholder 3">
            <a:extLst>
              <a:ext uri="{FF2B5EF4-FFF2-40B4-BE49-F238E27FC236}">
                <a16:creationId xmlns:a16="http://schemas.microsoft.com/office/drawing/2014/main" id="{11694513-D06D-4272-A330-F2E3FC702BBE}"/>
              </a:ext>
            </a:extLst>
          </p:cNvPr>
          <p:cNvSpPr>
            <a:spLocks noGrp="1"/>
          </p:cNvSpPr>
          <p:nvPr>
            <p:ph type="body" idx="2"/>
          </p:nvPr>
        </p:nvSpPr>
        <p:spPr>
          <a:xfrm>
            <a:off x="457200" y="1439257"/>
            <a:ext cx="8229600" cy="4686906"/>
          </a:xfrm>
        </p:spPr>
        <p:txBody>
          <a:bodyPr/>
          <a:lstStyle/>
          <a:p>
            <a:r>
              <a:rPr lang="en-US" sz="2800" b="1" dirty="0">
                <a:solidFill>
                  <a:srgbClr val="007FA3"/>
                </a:solidFill>
              </a:rPr>
              <a:t>Natural language interaction </a:t>
            </a:r>
            <a:r>
              <a:rPr lang="en-US" sz="2800" dirty="0"/>
              <a:t>– human-computer interaction method whereby inputs to and outputs from a computer-based application are in a conventional spoken language such as English</a:t>
            </a:r>
          </a:p>
          <a:p>
            <a:pPr lvl="1"/>
            <a:r>
              <a:rPr lang="en-US" altLang="en-US" sz="2400" dirty="0"/>
              <a:t>Based on research in artificial intelligence</a:t>
            </a:r>
          </a:p>
          <a:p>
            <a:pPr lvl="1"/>
            <a:r>
              <a:rPr lang="en-US" altLang="en-US" sz="2400" dirty="0"/>
              <a:t>Current implementations are tedious and difficult to work with, not as viable as other interaction methods</a:t>
            </a:r>
          </a:p>
          <a:p>
            <a:endParaRPr lang="en-US" sz="2800" dirty="0"/>
          </a:p>
        </p:txBody>
      </p:sp>
    </p:spTree>
    <p:extLst>
      <p:ext uri="{BB962C8B-B14F-4D97-AF65-F5344CB8AC3E}">
        <p14:creationId xmlns:p14="http://schemas.microsoft.com/office/powerpoint/2010/main" val="14376810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06DDF-FA1B-4B0B-8F24-B6E9B8D15E5E}"/>
              </a:ext>
            </a:extLst>
          </p:cNvPr>
          <p:cNvSpPr>
            <a:spLocks noGrp="1"/>
          </p:cNvSpPr>
          <p:nvPr>
            <p:ph type="title"/>
          </p:nvPr>
        </p:nvSpPr>
        <p:spPr/>
        <p:txBody>
          <a:bodyPr/>
          <a:lstStyle/>
          <a:p>
            <a:r>
              <a:rPr lang="en-US" sz="3200" dirty="0"/>
              <a:t>Hardware Options for System Interaction</a:t>
            </a:r>
          </a:p>
        </p:txBody>
      </p:sp>
      <p:sp>
        <p:nvSpPr>
          <p:cNvPr id="4" name="Text Placeholder 3">
            <a:extLst>
              <a:ext uri="{FF2B5EF4-FFF2-40B4-BE49-F238E27FC236}">
                <a16:creationId xmlns:a16="http://schemas.microsoft.com/office/drawing/2014/main" id="{11694513-D06D-4272-A330-F2E3FC702BBE}"/>
              </a:ext>
            </a:extLst>
          </p:cNvPr>
          <p:cNvSpPr>
            <a:spLocks noGrp="1"/>
          </p:cNvSpPr>
          <p:nvPr>
            <p:ph type="body" idx="2"/>
          </p:nvPr>
        </p:nvSpPr>
        <p:spPr>
          <a:xfrm>
            <a:off x="457200" y="1439257"/>
            <a:ext cx="8229600" cy="4686906"/>
          </a:xfrm>
        </p:spPr>
        <p:txBody>
          <a:bodyPr/>
          <a:lstStyle/>
          <a:p>
            <a:pPr marL="586232" indent="-514350"/>
            <a:r>
              <a:rPr lang="en-US" sz="2800" dirty="0"/>
              <a:t>A growing number of hardware devices are employed to support human-computer interaction</a:t>
            </a:r>
          </a:p>
          <a:p>
            <a:pPr marL="586232" indent="-514350"/>
            <a:r>
              <a:rPr lang="en-US" sz="2800" dirty="0"/>
              <a:t>Selection of an interaction device must be selected during the logical design phase</a:t>
            </a:r>
          </a:p>
          <a:p>
            <a:pPr marL="586232" indent="-514350"/>
            <a:r>
              <a:rPr lang="en-US" sz="2800" dirty="0"/>
              <a:t>To design the most effective interfaces you need to understand the capabilities of the various methods and devices</a:t>
            </a:r>
          </a:p>
        </p:txBody>
      </p:sp>
    </p:spTree>
    <p:extLst>
      <p:ext uri="{BB962C8B-B14F-4D97-AF65-F5344CB8AC3E}">
        <p14:creationId xmlns:p14="http://schemas.microsoft.com/office/powerpoint/2010/main" val="42173232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0A9FE-F3F9-4C7C-8ED4-58F707DBC91B}"/>
              </a:ext>
            </a:extLst>
          </p:cNvPr>
          <p:cNvSpPr>
            <a:spLocks noGrp="1"/>
          </p:cNvSpPr>
          <p:nvPr>
            <p:ph type="title"/>
          </p:nvPr>
        </p:nvSpPr>
        <p:spPr/>
        <p:txBody>
          <a:bodyPr/>
          <a:lstStyle/>
          <a:p>
            <a:r>
              <a:rPr lang="en-US" sz="3400" dirty="0"/>
              <a:t>Table 2: Common Devices for Interacting with an Information System</a:t>
            </a:r>
          </a:p>
        </p:txBody>
      </p:sp>
      <p:graphicFrame>
        <p:nvGraphicFramePr>
          <p:cNvPr id="5" name="Content Placeholder 4">
            <a:extLst>
              <a:ext uri="{FF2B5EF4-FFF2-40B4-BE49-F238E27FC236}">
                <a16:creationId xmlns:a16="http://schemas.microsoft.com/office/drawing/2014/main" id="{D66429F8-564C-43E0-8C63-6385200CA5AA}"/>
              </a:ext>
            </a:extLst>
          </p:cNvPr>
          <p:cNvGraphicFramePr>
            <a:graphicFrameLocks noGrp="1"/>
          </p:cNvGraphicFramePr>
          <p:nvPr>
            <p:ph sz="quarter" idx="14"/>
            <p:extLst>
              <p:ext uri="{D42A27DB-BD31-4B8C-83A1-F6EECF244321}">
                <p14:modId xmlns:p14="http://schemas.microsoft.com/office/powerpoint/2010/main" val="3713824453"/>
              </p:ext>
            </p:extLst>
          </p:nvPr>
        </p:nvGraphicFramePr>
        <p:xfrm>
          <a:off x="457200" y="1462985"/>
          <a:ext cx="8229600" cy="4782820"/>
        </p:xfrm>
        <a:graphic>
          <a:graphicData uri="http://schemas.openxmlformats.org/drawingml/2006/table">
            <a:tbl>
              <a:tblPr firstRow="1" bandRow="1">
                <a:tableStyleId>{40F9630F-82C1-40B7-BC3A-925EFCFF5E92}</a:tableStyleId>
              </a:tblPr>
              <a:tblGrid>
                <a:gridCol w="1106557">
                  <a:extLst>
                    <a:ext uri="{9D8B030D-6E8A-4147-A177-3AD203B41FA5}">
                      <a16:colId xmlns:a16="http://schemas.microsoft.com/office/drawing/2014/main" val="329848380"/>
                    </a:ext>
                  </a:extLst>
                </a:gridCol>
                <a:gridCol w="7123043">
                  <a:extLst>
                    <a:ext uri="{9D8B030D-6E8A-4147-A177-3AD203B41FA5}">
                      <a16:colId xmlns:a16="http://schemas.microsoft.com/office/drawing/2014/main" val="2894710521"/>
                    </a:ext>
                  </a:extLst>
                </a:gridCol>
              </a:tblGrid>
              <a:tr h="370840">
                <a:tc>
                  <a:txBody>
                    <a:bodyPr/>
                    <a:lstStyle/>
                    <a:p>
                      <a:r>
                        <a:rPr lang="en-US" b="1" dirty="0"/>
                        <a:t>Device</a:t>
                      </a:r>
                    </a:p>
                  </a:txBody>
                  <a:tcPr/>
                </a:tc>
                <a:tc>
                  <a:txBody>
                    <a:bodyPr/>
                    <a:lstStyle/>
                    <a:p>
                      <a:r>
                        <a:rPr lang="en-US" sz="1400" b="1" i="0" u="none" strike="noStrike" cap="none" baseline="0" dirty="0">
                          <a:solidFill>
                            <a:schemeClr val="dk1"/>
                          </a:solidFill>
                          <a:latin typeface="Arial"/>
                          <a:ea typeface="Arial"/>
                          <a:cs typeface="Arial"/>
                          <a:sym typeface="Arial"/>
                        </a:rPr>
                        <a:t>Description and Primary Characteristics or Usage</a:t>
                      </a:r>
                      <a:endParaRPr lang="en-US" b="1" dirty="0"/>
                    </a:p>
                  </a:txBody>
                  <a:tcPr/>
                </a:tc>
                <a:extLst>
                  <a:ext uri="{0D108BD9-81ED-4DB2-BD59-A6C34878D82A}">
                    <a16:rowId xmlns:a16="http://schemas.microsoft.com/office/drawing/2014/main" val="1340381970"/>
                  </a:ext>
                </a:extLst>
              </a:tr>
              <a:tr h="0">
                <a:tc>
                  <a:txBody>
                    <a:bodyPr/>
                    <a:lstStyle/>
                    <a:p>
                      <a:r>
                        <a:rPr lang="en-US" sz="1150" dirty="0"/>
                        <a:t>Keyboard</a:t>
                      </a:r>
                    </a:p>
                  </a:txBody>
                  <a:tcPr/>
                </a:tc>
                <a:tc>
                  <a:txBody>
                    <a:bodyPr/>
                    <a:lstStyle/>
                    <a:p>
                      <a:r>
                        <a:rPr lang="en-US" sz="1150" b="0" i="0" u="none" strike="noStrike" cap="none" baseline="0" dirty="0">
                          <a:solidFill>
                            <a:schemeClr val="dk1"/>
                          </a:solidFill>
                          <a:latin typeface="Arial"/>
                          <a:ea typeface="Arial"/>
                          <a:cs typeface="Arial"/>
                          <a:sym typeface="Arial"/>
                        </a:rPr>
                        <a:t>Users push an array of small buttons that represent symbols that are then translated into words and commands. Keyboards are widely understood and provide considerable flexibility for interaction.</a:t>
                      </a:r>
                      <a:endParaRPr lang="en-US" sz="1150" dirty="0"/>
                    </a:p>
                  </a:txBody>
                  <a:tcPr/>
                </a:tc>
                <a:extLst>
                  <a:ext uri="{0D108BD9-81ED-4DB2-BD59-A6C34878D82A}">
                    <a16:rowId xmlns:a16="http://schemas.microsoft.com/office/drawing/2014/main" val="1754801861"/>
                  </a:ext>
                </a:extLst>
              </a:tr>
              <a:tr h="0">
                <a:tc>
                  <a:txBody>
                    <a:bodyPr/>
                    <a:lstStyle/>
                    <a:p>
                      <a:r>
                        <a:rPr lang="en-US" sz="1150" dirty="0"/>
                        <a:t>Mouse</a:t>
                      </a:r>
                    </a:p>
                  </a:txBody>
                  <a:tcPr/>
                </a:tc>
                <a:tc>
                  <a:txBody>
                    <a:bodyPr/>
                    <a:lstStyle/>
                    <a:p>
                      <a:r>
                        <a:rPr lang="en-US" sz="1150" b="0" i="0" u="none" strike="noStrike" cap="none" baseline="0" dirty="0">
                          <a:solidFill>
                            <a:schemeClr val="dk1"/>
                          </a:solidFill>
                          <a:latin typeface="Arial"/>
                          <a:ea typeface="Arial"/>
                          <a:cs typeface="Arial"/>
                          <a:sym typeface="Arial"/>
                        </a:rPr>
                        <a:t>A small plastic box that users push across a flat surface and whose movements are translated into cursor movement on a computer display. Buttons on the mouse tell the system when an item is selected. A mouse works well on flat desks but may not be practical in dirty or busy environments, such as a shop floor or check-out area in a retail store. Newer pen-based mice provide the user with more of the feel of a writing implement.</a:t>
                      </a:r>
                      <a:endParaRPr lang="en-US" sz="1150" dirty="0"/>
                    </a:p>
                  </a:txBody>
                  <a:tcPr/>
                </a:tc>
                <a:extLst>
                  <a:ext uri="{0D108BD9-81ED-4DB2-BD59-A6C34878D82A}">
                    <a16:rowId xmlns:a16="http://schemas.microsoft.com/office/drawing/2014/main" val="575932890"/>
                  </a:ext>
                </a:extLst>
              </a:tr>
              <a:tr h="370840">
                <a:tc>
                  <a:txBody>
                    <a:bodyPr/>
                    <a:lstStyle/>
                    <a:p>
                      <a:r>
                        <a:rPr lang="en-US" sz="1150" dirty="0"/>
                        <a:t>Joystick</a:t>
                      </a:r>
                    </a:p>
                  </a:txBody>
                  <a:tcPr/>
                </a:tc>
                <a:tc>
                  <a:txBody>
                    <a:bodyPr/>
                    <a:lstStyle/>
                    <a:p>
                      <a:r>
                        <a:rPr lang="en-US" sz="1150" b="0" i="0" u="none" strike="noStrike" cap="none" baseline="0" dirty="0">
                          <a:solidFill>
                            <a:schemeClr val="dk1"/>
                          </a:solidFill>
                          <a:latin typeface="Arial"/>
                          <a:ea typeface="Arial"/>
                          <a:cs typeface="Arial"/>
                          <a:sym typeface="Arial"/>
                        </a:rPr>
                        <a:t>A small vertical lever mounted on a base that steers the cursor on a computer display. Provides similar functionality to a mouse.</a:t>
                      </a:r>
                      <a:endParaRPr lang="en-US" sz="1150" dirty="0"/>
                    </a:p>
                  </a:txBody>
                  <a:tcPr/>
                </a:tc>
                <a:extLst>
                  <a:ext uri="{0D108BD9-81ED-4DB2-BD59-A6C34878D82A}">
                    <a16:rowId xmlns:a16="http://schemas.microsoft.com/office/drawing/2014/main" val="2126534979"/>
                  </a:ext>
                </a:extLst>
              </a:tr>
              <a:tr h="370840">
                <a:tc>
                  <a:txBody>
                    <a:bodyPr/>
                    <a:lstStyle/>
                    <a:p>
                      <a:r>
                        <a:rPr lang="en-US" sz="1150" dirty="0"/>
                        <a:t>Trackball</a:t>
                      </a:r>
                    </a:p>
                  </a:txBody>
                  <a:tcPr/>
                </a:tc>
                <a:tc>
                  <a:txBody>
                    <a:bodyPr/>
                    <a:lstStyle/>
                    <a:p>
                      <a:r>
                        <a:rPr lang="en-US" sz="1150" b="0" i="0" u="none" strike="noStrike" cap="none" baseline="0" dirty="0">
                          <a:solidFill>
                            <a:schemeClr val="dk1"/>
                          </a:solidFill>
                          <a:latin typeface="Arial"/>
                          <a:ea typeface="Arial"/>
                          <a:cs typeface="Arial"/>
                          <a:sym typeface="Arial"/>
                        </a:rPr>
                        <a:t>A sphere mounted on a fixed base that steers the cursor on a computer display. A suitable replacement for a mouse when work space for a mouse is not available.</a:t>
                      </a:r>
                      <a:endParaRPr lang="en-US" sz="1150" dirty="0"/>
                    </a:p>
                  </a:txBody>
                  <a:tcPr/>
                </a:tc>
                <a:extLst>
                  <a:ext uri="{0D108BD9-81ED-4DB2-BD59-A6C34878D82A}">
                    <a16:rowId xmlns:a16="http://schemas.microsoft.com/office/drawing/2014/main" val="2001559630"/>
                  </a:ext>
                </a:extLst>
              </a:tr>
              <a:tr h="370840">
                <a:tc>
                  <a:txBody>
                    <a:bodyPr/>
                    <a:lstStyle/>
                    <a:p>
                      <a:r>
                        <a:rPr lang="en-US" sz="1150" dirty="0"/>
                        <a:t>Touch Screen</a:t>
                      </a:r>
                    </a:p>
                  </a:txBody>
                  <a:tcPr/>
                </a:tc>
                <a:tc>
                  <a:txBody>
                    <a:bodyPr/>
                    <a:lstStyle/>
                    <a:p>
                      <a:r>
                        <a:rPr lang="en-US" sz="1150" b="0" i="0" u="none" strike="noStrike" cap="none" baseline="0" dirty="0">
                          <a:solidFill>
                            <a:schemeClr val="dk1"/>
                          </a:solidFill>
                          <a:latin typeface="Arial"/>
                          <a:ea typeface="Arial"/>
                          <a:cs typeface="Arial"/>
                          <a:sym typeface="Arial"/>
                        </a:rPr>
                        <a:t>Selections are made by touching a computer display. This works well in dirty environments or for users with limited dexterity or expertise.</a:t>
                      </a:r>
                      <a:endParaRPr lang="en-US" sz="1150" dirty="0"/>
                    </a:p>
                  </a:txBody>
                  <a:tcPr/>
                </a:tc>
                <a:extLst>
                  <a:ext uri="{0D108BD9-81ED-4DB2-BD59-A6C34878D82A}">
                    <a16:rowId xmlns:a16="http://schemas.microsoft.com/office/drawing/2014/main" val="2130206360"/>
                  </a:ext>
                </a:extLst>
              </a:tr>
              <a:tr h="370840">
                <a:tc>
                  <a:txBody>
                    <a:bodyPr/>
                    <a:lstStyle/>
                    <a:p>
                      <a:r>
                        <a:rPr lang="en-US" sz="1150" dirty="0"/>
                        <a:t>Light Pen</a:t>
                      </a:r>
                    </a:p>
                  </a:txBody>
                  <a:tcPr/>
                </a:tc>
                <a:tc>
                  <a:txBody>
                    <a:bodyPr/>
                    <a:lstStyle/>
                    <a:p>
                      <a:r>
                        <a:rPr lang="en-US" sz="1150" b="0" i="0" u="none" strike="noStrike" cap="none" baseline="0" dirty="0">
                          <a:solidFill>
                            <a:schemeClr val="dk1"/>
                          </a:solidFill>
                          <a:latin typeface="Arial"/>
                          <a:ea typeface="Arial"/>
                          <a:cs typeface="Arial"/>
                          <a:sym typeface="Arial"/>
                        </a:rPr>
                        <a:t>Selections are made by pressing a pen-like device against the screen. A light pen works well when the user needs to have a more direct interaction with the contents of the screen.</a:t>
                      </a:r>
                      <a:endParaRPr lang="en-US" sz="1150" dirty="0"/>
                    </a:p>
                  </a:txBody>
                  <a:tcPr/>
                </a:tc>
                <a:extLst>
                  <a:ext uri="{0D108BD9-81ED-4DB2-BD59-A6C34878D82A}">
                    <a16:rowId xmlns:a16="http://schemas.microsoft.com/office/drawing/2014/main" val="2741407007"/>
                  </a:ext>
                </a:extLst>
              </a:tr>
              <a:tr h="370840">
                <a:tc>
                  <a:txBody>
                    <a:bodyPr/>
                    <a:lstStyle/>
                    <a:p>
                      <a:r>
                        <a:rPr lang="en-US" sz="1150" dirty="0"/>
                        <a:t>Graphic Tablet</a:t>
                      </a:r>
                    </a:p>
                  </a:txBody>
                  <a:tcPr/>
                </a:tc>
                <a:tc>
                  <a:txBody>
                    <a:bodyPr/>
                    <a:lstStyle/>
                    <a:p>
                      <a:r>
                        <a:rPr lang="en-US" sz="1150" b="0" i="0" u="none" strike="noStrike" cap="none" baseline="0" dirty="0">
                          <a:solidFill>
                            <a:schemeClr val="dk1"/>
                          </a:solidFill>
                          <a:latin typeface="Arial"/>
                          <a:ea typeface="Arial"/>
                          <a:cs typeface="Arial"/>
                          <a:sym typeface="Arial"/>
                        </a:rPr>
                        <a:t>Moving a pen-like device across a flat tablet steers the cursor on a computer display. Selections are made by pressing a button or by pressing the pen against the tablet. This device works well for drawing and graphical applications.</a:t>
                      </a:r>
                      <a:endParaRPr lang="en-US" sz="1150" dirty="0"/>
                    </a:p>
                  </a:txBody>
                  <a:tcPr/>
                </a:tc>
                <a:extLst>
                  <a:ext uri="{0D108BD9-81ED-4DB2-BD59-A6C34878D82A}">
                    <a16:rowId xmlns:a16="http://schemas.microsoft.com/office/drawing/2014/main" val="2189722961"/>
                  </a:ext>
                </a:extLst>
              </a:tr>
              <a:tr h="370840">
                <a:tc>
                  <a:txBody>
                    <a:bodyPr/>
                    <a:lstStyle/>
                    <a:p>
                      <a:r>
                        <a:rPr lang="en-US" sz="1150" dirty="0"/>
                        <a:t>Voice</a:t>
                      </a:r>
                    </a:p>
                  </a:txBody>
                  <a:tcPr/>
                </a:tc>
                <a:tc>
                  <a:txBody>
                    <a:bodyPr/>
                    <a:lstStyle/>
                    <a:p>
                      <a:r>
                        <a:rPr lang="en-US" sz="1150" b="0" i="0" u="none" strike="noStrike" cap="none" baseline="0" dirty="0">
                          <a:solidFill>
                            <a:schemeClr val="dk1"/>
                          </a:solidFill>
                          <a:latin typeface="Arial"/>
                          <a:ea typeface="Arial"/>
                          <a:cs typeface="Arial"/>
                          <a:sym typeface="Arial"/>
                        </a:rPr>
                        <a:t>Spoken words are captured and translated by the computer into text and commands. This is most appropriate for users with physical challenges or when hands need to be free to do other tasks while interacting with the application.</a:t>
                      </a:r>
                      <a:endParaRPr lang="en-US" sz="1150" dirty="0"/>
                    </a:p>
                  </a:txBody>
                  <a:tcPr/>
                </a:tc>
                <a:extLst>
                  <a:ext uri="{0D108BD9-81ED-4DB2-BD59-A6C34878D82A}">
                    <a16:rowId xmlns:a16="http://schemas.microsoft.com/office/drawing/2014/main" val="3705324064"/>
                  </a:ext>
                </a:extLst>
              </a:tr>
            </a:tbl>
          </a:graphicData>
        </a:graphic>
      </p:graphicFrame>
    </p:spTree>
    <p:extLst>
      <p:ext uri="{BB962C8B-B14F-4D97-AF65-F5344CB8AC3E}">
        <p14:creationId xmlns:p14="http://schemas.microsoft.com/office/powerpoint/2010/main" val="9376752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06DDF-FA1B-4B0B-8F24-B6E9B8D15E5E}"/>
              </a:ext>
            </a:extLst>
          </p:cNvPr>
          <p:cNvSpPr>
            <a:spLocks noGrp="1"/>
          </p:cNvSpPr>
          <p:nvPr>
            <p:ph type="title"/>
          </p:nvPr>
        </p:nvSpPr>
        <p:spPr/>
        <p:txBody>
          <a:bodyPr/>
          <a:lstStyle/>
          <a:p>
            <a:r>
              <a:rPr lang="en-US" dirty="0"/>
              <a:t>Designing Interfaces</a:t>
            </a:r>
          </a:p>
        </p:txBody>
      </p:sp>
      <p:sp>
        <p:nvSpPr>
          <p:cNvPr id="4" name="Text Placeholder 3">
            <a:extLst>
              <a:ext uri="{FF2B5EF4-FFF2-40B4-BE49-F238E27FC236}">
                <a16:creationId xmlns:a16="http://schemas.microsoft.com/office/drawing/2014/main" id="{11694513-D06D-4272-A330-F2E3FC702BBE}"/>
              </a:ext>
            </a:extLst>
          </p:cNvPr>
          <p:cNvSpPr>
            <a:spLocks noGrp="1"/>
          </p:cNvSpPr>
          <p:nvPr>
            <p:ph type="body" idx="2"/>
          </p:nvPr>
        </p:nvSpPr>
        <p:spPr>
          <a:xfrm>
            <a:off x="457200" y="1439257"/>
            <a:ext cx="8229600" cy="4686906"/>
          </a:xfrm>
        </p:spPr>
        <p:txBody>
          <a:bodyPr/>
          <a:lstStyle/>
          <a:p>
            <a:pPr marL="586232" indent="-514350">
              <a:spcBef>
                <a:spcPts val="600"/>
              </a:spcBef>
            </a:pPr>
            <a:r>
              <a:rPr lang="en-US" sz="2800" dirty="0"/>
              <a:t>Should use standard forms for forms/reports</a:t>
            </a:r>
          </a:p>
          <a:p>
            <a:pPr marL="586232" indent="-514350">
              <a:spcBef>
                <a:spcPts val="600"/>
              </a:spcBef>
            </a:pPr>
            <a:r>
              <a:rPr lang="en-US" sz="2800" dirty="0"/>
              <a:t>Typical paper based form has several common general areas such as:</a:t>
            </a:r>
          </a:p>
          <a:p>
            <a:pPr lvl="1"/>
            <a:r>
              <a:rPr lang="en-US" altLang="en-US" sz="2400" dirty="0"/>
              <a:t>Header information</a:t>
            </a:r>
          </a:p>
          <a:p>
            <a:pPr lvl="1"/>
            <a:r>
              <a:rPr lang="en-US" altLang="en-US" sz="2400" dirty="0"/>
              <a:t>Sequence and time-related information</a:t>
            </a:r>
          </a:p>
          <a:p>
            <a:pPr lvl="1"/>
            <a:r>
              <a:rPr lang="en-US" altLang="en-US" sz="2400" dirty="0"/>
              <a:t>Instruction or formatting information</a:t>
            </a:r>
          </a:p>
          <a:p>
            <a:pPr lvl="1"/>
            <a:r>
              <a:rPr lang="en-US" altLang="en-US" sz="2400" dirty="0"/>
              <a:t>Body or data details</a:t>
            </a:r>
          </a:p>
          <a:p>
            <a:pPr lvl="1"/>
            <a:r>
              <a:rPr lang="en-US" altLang="en-US" sz="2400" dirty="0"/>
              <a:t>Totals or data summary</a:t>
            </a:r>
          </a:p>
          <a:p>
            <a:pPr lvl="1"/>
            <a:r>
              <a:rPr lang="en-US" altLang="en-US" sz="2400" dirty="0"/>
              <a:t>Authorization or signatures</a:t>
            </a:r>
          </a:p>
          <a:p>
            <a:pPr lvl="1"/>
            <a:r>
              <a:rPr lang="en-US" altLang="en-US" sz="2400" dirty="0"/>
              <a:t>Comments</a:t>
            </a:r>
          </a:p>
          <a:p>
            <a:pPr marL="586232" indent="-514350">
              <a:spcBef>
                <a:spcPts val="600"/>
              </a:spcBef>
            </a:pPr>
            <a:endParaRPr lang="en-US" sz="2800" dirty="0"/>
          </a:p>
        </p:txBody>
      </p:sp>
    </p:spTree>
    <p:extLst>
      <p:ext uri="{BB962C8B-B14F-4D97-AF65-F5344CB8AC3E}">
        <p14:creationId xmlns:p14="http://schemas.microsoft.com/office/powerpoint/2010/main" val="25283251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B79B89-56D5-47F3-91D4-E459B456B62C}"/>
              </a:ext>
            </a:extLst>
          </p:cNvPr>
          <p:cNvSpPr>
            <a:spLocks noGrp="1"/>
          </p:cNvSpPr>
          <p:nvPr>
            <p:ph type="title"/>
          </p:nvPr>
        </p:nvSpPr>
        <p:spPr/>
        <p:txBody>
          <a:bodyPr/>
          <a:lstStyle/>
          <a:p>
            <a:r>
              <a:rPr lang="en-US" sz="2800" dirty="0"/>
              <a:t>Figure 6: Paper-Based Form for Reporting Customer Sales Activity (Pine Valley Furniture)</a:t>
            </a:r>
          </a:p>
        </p:txBody>
      </p:sp>
      <p:pic>
        <p:nvPicPr>
          <p:cNvPr id="6" name="Content Placeholder 5" descr="A screenshot of a cell phone&#10;&#10;Description automatically generated">
            <a:extLst>
              <a:ext uri="{FF2B5EF4-FFF2-40B4-BE49-F238E27FC236}">
                <a16:creationId xmlns:a16="http://schemas.microsoft.com/office/drawing/2014/main" id="{B452F5AA-9861-4E04-AE00-0F7F28649C3B}"/>
              </a:ext>
            </a:extLst>
          </p:cNvPr>
          <p:cNvPicPr>
            <a:picLocks noGrp="1" noChangeAspect="1"/>
          </p:cNvPicPr>
          <p:nvPr>
            <p:ph sz="quarter" idx="14"/>
          </p:nvPr>
        </p:nvPicPr>
        <p:blipFill>
          <a:blip r:embed="rId2"/>
          <a:stretch>
            <a:fillRect/>
          </a:stretch>
        </p:blipFill>
        <p:spPr>
          <a:xfrm>
            <a:off x="2848998" y="1555750"/>
            <a:ext cx="3446004" cy="4367213"/>
          </a:xfrm>
        </p:spPr>
      </p:pic>
    </p:spTree>
    <p:extLst>
      <p:ext uri="{BB962C8B-B14F-4D97-AF65-F5344CB8AC3E}">
        <p14:creationId xmlns:p14="http://schemas.microsoft.com/office/powerpoint/2010/main" val="9062221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DC4ED-F421-43C5-B578-3F14E9790303}"/>
              </a:ext>
            </a:extLst>
          </p:cNvPr>
          <p:cNvSpPr>
            <a:spLocks noGrp="1"/>
          </p:cNvSpPr>
          <p:nvPr>
            <p:ph type="title"/>
          </p:nvPr>
        </p:nvSpPr>
        <p:spPr/>
        <p:txBody>
          <a:bodyPr/>
          <a:lstStyle/>
          <a:p>
            <a:r>
              <a:rPr lang="en-US" sz="2800" dirty="0"/>
              <a:t>Figure 7: Computer-Based Form Reporting Customer Sales Activity (Pine Valley Furniture)</a:t>
            </a:r>
          </a:p>
        </p:txBody>
      </p:sp>
      <p:sp>
        <p:nvSpPr>
          <p:cNvPr id="3" name="Text Placeholder 2">
            <a:extLst>
              <a:ext uri="{FF2B5EF4-FFF2-40B4-BE49-F238E27FC236}">
                <a16:creationId xmlns:a16="http://schemas.microsoft.com/office/drawing/2014/main" id="{46894643-5451-4A88-9E53-D3699368EAAA}"/>
              </a:ext>
            </a:extLst>
          </p:cNvPr>
          <p:cNvSpPr>
            <a:spLocks noGrp="1"/>
          </p:cNvSpPr>
          <p:nvPr>
            <p:ph type="body" idx="1"/>
          </p:nvPr>
        </p:nvSpPr>
        <p:spPr>
          <a:xfrm>
            <a:off x="457200" y="5724939"/>
            <a:ext cx="8229600" cy="344399"/>
          </a:xfrm>
        </p:spPr>
        <p:txBody>
          <a:bodyPr/>
          <a:lstStyle/>
          <a:p>
            <a:r>
              <a:rPr lang="en-US" dirty="0"/>
              <a:t>(</a:t>
            </a:r>
            <a:r>
              <a:rPr lang="en-US" i="1" dirty="0"/>
              <a:t>Source: </a:t>
            </a:r>
            <a:r>
              <a:rPr lang="en-US" dirty="0"/>
              <a:t>Microsoft Corporation)</a:t>
            </a:r>
          </a:p>
        </p:txBody>
      </p:sp>
      <p:pic>
        <p:nvPicPr>
          <p:cNvPr id="6" name="Content Placeholder 5" descr="A screenshot of a cell phone&#10;&#10;Description automatically generated">
            <a:extLst>
              <a:ext uri="{FF2B5EF4-FFF2-40B4-BE49-F238E27FC236}">
                <a16:creationId xmlns:a16="http://schemas.microsoft.com/office/drawing/2014/main" id="{AE85B13F-95AE-4724-8B82-FE1185A8763A}"/>
              </a:ext>
            </a:extLst>
          </p:cNvPr>
          <p:cNvPicPr>
            <a:picLocks noGrp="1" noChangeAspect="1"/>
          </p:cNvPicPr>
          <p:nvPr>
            <p:ph sz="quarter" idx="14"/>
          </p:nvPr>
        </p:nvPicPr>
        <p:blipFill>
          <a:blip r:embed="rId2"/>
          <a:stretch>
            <a:fillRect/>
          </a:stretch>
        </p:blipFill>
        <p:spPr>
          <a:xfrm>
            <a:off x="2731877" y="1555750"/>
            <a:ext cx="3680246" cy="4168775"/>
          </a:xfrm>
        </p:spPr>
      </p:pic>
    </p:spTree>
    <p:extLst>
      <p:ext uri="{BB962C8B-B14F-4D97-AF65-F5344CB8AC3E}">
        <p14:creationId xmlns:p14="http://schemas.microsoft.com/office/powerpoint/2010/main" val="7185114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02423E-47BB-4372-B6E2-DB75D148346D}"/>
              </a:ext>
            </a:extLst>
          </p:cNvPr>
          <p:cNvSpPr>
            <a:spLocks noGrp="1"/>
          </p:cNvSpPr>
          <p:nvPr>
            <p:ph type="title"/>
          </p:nvPr>
        </p:nvSpPr>
        <p:spPr>
          <a:xfrm>
            <a:off x="457200" y="215371"/>
            <a:ext cx="8229600" cy="1215864"/>
          </a:xfrm>
        </p:spPr>
        <p:txBody>
          <a:bodyPr/>
          <a:lstStyle/>
          <a:p>
            <a:r>
              <a:rPr lang="en-US" sz="2400" dirty="0"/>
              <a:t>Figure 8: Contrasting the Navigation Flow Within a Data Entry Form (a) Proper Flow Between Data Entry Field (b) Poor Flow Between Data Entry Fields </a:t>
            </a:r>
          </a:p>
        </p:txBody>
      </p:sp>
      <p:pic>
        <p:nvPicPr>
          <p:cNvPr id="6" name="Content Placeholder 5" descr="A screenshot of a cell phone&#10;&#10;Description automatically generated">
            <a:extLst>
              <a:ext uri="{FF2B5EF4-FFF2-40B4-BE49-F238E27FC236}">
                <a16:creationId xmlns:a16="http://schemas.microsoft.com/office/drawing/2014/main" id="{10857F78-B3F3-4272-A945-CBD55A823176}"/>
              </a:ext>
            </a:extLst>
          </p:cNvPr>
          <p:cNvPicPr>
            <a:picLocks noGrp="1" noChangeAspect="1"/>
          </p:cNvPicPr>
          <p:nvPr>
            <p:ph sz="quarter" idx="13"/>
          </p:nvPr>
        </p:nvPicPr>
        <p:blipFill>
          <a:blip r:embed="rId2"/>
          <a:stretch>
            <a:fillRect/>
          </a:stretch>
        </p:blipFill>
        <p:spPr>
          <a:xfrm>
            <a:off x="2619304" y="1431926"/>
            <a:ext cx="3905391" cy="2265432"/>
          </a:xfrm>
        </p:spPr>
      </p:pic>
      <p:pic>
        <p:nvPicPr>
          <p:cNvPr id="8" name="Content Placeholder 7" descr="A screenshot of a cell phone&#10;&#10;Description automatically generated">
            <a:extLst>
              <a:ext uri="{FF2B5EF4-FFF2-40B4-BE49-F238E27FC236}">
                <a16:creationId xmlns:a16="http://schemas.microsoft.com/office/drawing/2014/main" id="{C0A430E9-4B44-4786-8FAD-8BFEF00DBA41}"/>
              </a:ext>
            </a:extLst>
          </p:cNvPr>
          <p:cNvPicPr>
            <a:picLocks noGrp="1" noChangeAspect="1"/>
          </p:cNvPicPr>
          <p:nvPr>
            <p:ph sz="quarter" idx="14"/>
          </p:nvPr>
        </p:nvPicPr>
        <p:blipFill>
          <a:blip r:embed="rId3"/>
          <a:stretch>
            <a:fillRect/>
          </a:stretch>
        </p:blipFill>
        <p:spPr>
          <a:xfrm>
            <a:off x="2619303" y="3865908"/>
            <a:ext cx="3905391" cy="2265432"/>
          </a:xfrm>
        </p:spPr>
      </p:pic>
    </p:spTree>
    <p:extLst>
      <p:ext uri="{BB962C8B-B14F-4D97-AF65-F5344CB8AC3E}">
        <p14:creationId xmlns:p14="http://schemas.microsoft.com/office/powerpoint/2010/main" val="30953531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B9213-2EA8-4055-96B2-FFAF58BD2CC1}"/>
              </a:ext>
            </a:extLst>
          </p:cNvPr>
          <p:cNvSpPr>
            <a:spLocks noGrp="1"/>
          </p:cNvSpPr>
          <p:nvPr>
            <p:ph type="title"/>
          </p:nvPr>
        </p:nvSpPr>
        <p:spPr/>
        <p:txBody>
          <a:bodyPr/>
          <a:lstStyle/>
          <a:p>
            <a:r>
              <a:rPr lang="en-US" dirty="0"/>
              <a:t>Table 3: Options for Entering or Selecting Text</a:t>
            </a:r>
          </a:p>
        </p:txBody>
      </p:sp>
      <p:pic>
        <p:nvPicPr>
          <p:cNvPr id="6" name="Content Placeholder 5" descr="A screenshot of a cell phone&#10;&#10;Description automatically generated">
            <a:extLst>
              <a:ext uri="{FF2B5EF4-FFF2-40B4-BE49-F238E27FC236}">
                <a16:creationId xmlns:a16="http://schemas.microsoft.com/office/drawing/2014/main" id="{7E3EDE0A-551F-47C3-B189-BC35A7C33092}"/>
              </a:ext>
            </a:extLst>
          </p:cNvPr>
          <p:cNvPicPr>
            <a:picLocks noGrp="1" noChangeAspect="1"/>
          </p:cNvPicPr>
          <p:nvPr>
            <p:ph sz="quarter" idx="14"/>
          </p:nvPr>
        </p:nvPicPr>
        <p:blipFill>
          <a:blip r:embed="rId2"/>
          <a:stretch>
            <a:fillRect/>
          </a:stretch>
        </p:blipFill>
        <p:spPr>
          <a:xfrm>
            <a:off x="991616" y="1555750"/>
            <a:ext cx="7160768" cy="4195763"/>
          </a:xfrm>
        </p:spPr>
      </p:pic>
    </p:spTree>
    <p:extLst>
      <p:ext uri="{BB962C8B-B14F-4D97-AF65-F5344CB8AC3E}">
        <p14:creationId xmlns:p14="http://schemas.microsoft.com/office/powerpoint/2010/main" val="13897320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6BDE0-FF5F-4E53-AF8B-82F926206424}"/>
              </a:ext>
            </a:extLst>
          </p:cNvPr>
          <p:cNvSpPr>
            <a:spLocks noGrp="1"/>
          </p:cNvSpPr>
          <p:nvPr>
            <p:ph type="title"/>
          </p:nvPr>
        </p:nvSpPr>
        <p:spPr/>
        <p:txBody>
          <a:bodyPr/>
          <a:lstStyle/>
          <a:p>
            <a:r>
              <a:rPr lang="en-US" sz="3000" dirty="0"/>
              <a:t>Table 4: Validation Tests and Techniques to Enhance the Validity of Data Input</a:t>
            </a:r>
          </a:p>
        </p:txBody>
      </p:sp>
      <p:graphicFrame>
        <p:nvGraphicFramePr>
          <p:cNvPr id="5" name="Content Placeholder 4">
            <a:extLst>
              <a:ext uri="{FF2B5EF4-FFF2-40B4-BE49-F238E27FC236}">
                <a16:creationId xmlns:a16="http://schemas.microsoft.com/office/drawing/2014/main" id="{C8A26003-D865-4A9A-A7EE-761A6BB08E15}"/>
              </a:ext>
            </a:extLst>
          </p:cNvPr>
          <p:cNvGraphicFramePr>
            <a:graphicFrameLocks noGrp="1"/>
          </p:cNvGraphicFramePr>
          <p:nvPr>
            <p:ph sz="quarter" idx="14"/>
            <p:extLst>
              <p:ext uri="{D42A27DB-BD31-4B8C-83A1-F6EECF244321}">
                <p14:modId xmlns:p14="http://schemas.microsoft.com/office/powerpoint/2010/main" val="1377625710"/>
              </p:ext>
            </p:extLst>
          </p:nvPr>
        </p:nvGraphicFramePr>
        <p:xfrm>
          <a:off x="457200" y="1555750"/>
          <a:ext cx="8229600" cy="4648476"/>
        </p:xfrm>
        <a:graphic>
          <a:graphicData uri="http://schemas.openxmlformats.org/drawingml/2006/table">
            <a:tbl>
              <a:tblPr firstRow="1" bandRow="1">
                <a:tableStyleId>{40F9630F-82C1-40B7-BC3A-925EFCFF5E92}</a:tableStyleId>
              </a:tblPr>
              <a:tblGrid>
                <a:gridCol w="1557130">
                  <a:extLst>
                    <a:ext uri="{9D8B030D-6E8A-4147-A177-3AD203B41FA5}">
                      <a16:colId xmlns:a16="http://schemas.microsoft.com/office/drawing/2014/main" val="1092846149"/>
                    </a:ext>
                  </a:extLst>
                </a:gridCol>
                <a:gridCol w="6672470">
                  <a:extLst>
                    <a:ext uri="{9D8B030D-6E8A-4147-A177-3AD203B41FA5}">
                      <a16:colId xmlns:a16="http://schemas.microsoft.com/office/drawing/2014/main" val="2426620049"/>
                    </a:ext>
                  </a:extLst>
                </a:gridCol>
              </a:tblGrid>
              <a:tr h="432076">
                <a:tc>
                  <a:txBody>
                    <a:bodyPr/>
                    <a:lstStyle/>
                    <a:p>
                      <a:r>
                        <a:rPr lang="en-US" dirty="0"/>
                        <a:t>Validation Test</a:t>
                      </a:r>
                    </a:p>
                  </a:txBody>
                  <a:tcPr/>
                </a:tc>
                <a:tc>
                  <a:txBody>
                    <a:bodyPr/>
                    <a:lstStyle/>
                    <a:p>
                      <a:r>
                        <a:rPr lang="en-US" dirty="0"/>
                        <a:t>Description</a:t>
                      </a:r>
                    </a:p>
                  </a:txBody>
                  <a:tcPr/>
                </a:tc>
                <a:extLst>
                  <a:ext uri="{0D108BD9-81ED-4DB2-BD59-A6C34878D82A}">
                    <a16:rowId xmlns:a16="http://schemas.microsoft.com/office/drawing/2014/main" val="2095106715"/>
                  </a:ext>
                </a:extLst>
              </a:tr>
              <a:tr h="370840">
                <a:tc>
                  <a:txBody>
                    <a:bodyPr/>
                    <a:lstStyle/>
                    <a:p>
                      <a:r>
                        <a:rPr lang="en-US" sz="1200" dirty="0"/>
                        <a:t>Class or Composition</a:t>
                      </a:r>
                    </a:p>
                  </a:txBody>
                  <a:tcPr/>
                </a:tc>
                <a:tc>
                  <a:txBody>
                    <a:bodyPr/>
                    <a:lstStyle/>
                    <a:p>
                      <a:r>
                        <a:rPr lang="en-US" sz="1200" b="0" i="0" u="none" strike="noStrike" cap="none" baseline="0" dirty="0">
                          <a:solidFill>
                            <a:schemeClr val="dk1"/>
                          </a:solidFill>
                          <a:latin typeface="Arial"/>
                          <a:ea typeface="Arial"/>
                          <a:cs typeface="Arial"/>
                          <a:sym typeface="Arial"/>
                        </a:rPr>
                        <a:t>Test to ensure that data are of proper type (e.g., all numeric, all alphabetic, all alphanumeric)</a:t>
                      </a:r>
                      <a:endParaRPr lang="en-US" sz="1200" dirty="0"/>
                    </a:p>
                  </a:txBody>
                  <a:tcPr/>
                </a:tc>
                <a:extLst>
                  <a:ext uri="{0D108BD9-81ED-4DB2-BD59-A6C34878D82A}">
                    <a16:rowId xmlns:a16="http://schemas.microsoft.com/office/drawing/2014/main" val="1282627453"/>
                  </a:ext>
                </a:extLst>
              </a:tr>
              <a:tr h="370840">
                <a:tc>
                  <a:txBody>
                    <a:bodyPr/>
                    <a:lstStyle/>
                    <a:p>
                      <a:r>
                        <a:rPr lang="en-US" sz="1200" dirty="0"/>
                        <a:t>Combinations</a:t>
                      </a:r>
                    </a:p>
                  </a:txBody>
                  <a:tcPr/>
                </a:tc>
                <a:tc>
                  <a:txBody>
                    <a:bodyPr/>
                    <a:lstStyle/>
                    <a:p>
                      <a:r>
                        <a:rPr lang="en-US" sz="1200" b="0" i="0" u="none" strike="noStrike" cap="none" baseline="0" dirty="0">
                          <a:solidFill>
                            <a:schemeClr val="dk1"/>
                          </a:solidFill>
                          <a:latin typeface="Arial"/>
                          <a:ea typeface="Arial"/>
                          <a:cs typeface="Arial"/>
                          <a:sym typeface="Arial"/>
                        </a:rPr>
                        <a:t>Test to see if the value combinations of two or more data fields are appropriate or make sense (e.g., Does the quantity sold make sense given the type of product?)</a:t>
                      </a:r>
                      <a:endParaRPr lang="en-US" sz="1200" dirty="0"/>
                    </a:p>
                  </a:txBody>
                  <a:tcPr/>
                </a:tc>
                <a:extLst>
                  <a:ext uri="{0D108BD9-81ED-4DB2-BD59-A6C34878D82A}">
                    <a16:rowId xmlns:a16="http://schemas.microsoft.com/office/drawing/2014/main" val="1176711361"/>
                  </a:ext>
                </a:extLst>
              </a:tr>
              <a:tr h="370840">
                <a:tc>
                  <a:txBody>
                    <a:bodyPr/>
                    <a:lstStyle/>
                    <a:p>
                      <a:r>
                        <a:rPr lang="en-US" sz="1200" dirty="0"/>
                        <a:t>Expected Values</a:t>
                      </a:r>
                    </a:p>
                  </a:txBody>
                  <a:tcPr/>
                </a:tc>
                <a:tc>
                  <a:txBody>
                    <a:bodyPr/>
                    <a:lstStyle/>
                    <a:p>
                      <a:r>
                        <a:rPr lang="en-US" sz="1200" b="0" i="0" u="none" strike="noStrike" cap="none" baseline="0" dirty="0">
                          <a:solidFill>
                            <a:schemeClr val="dk1"/>
                          </a:solidFill>
                          <a:latin typeface="Arial"/>
                          <a:ea typeface="Arial"/>
                          <a:cs typeface="Arial"/>
                          <a:sym typeface="Arial"/>
                        </a:rPr>
                        <a:t>Test to see if data are what is expected (e.g., match with existing customer names, payment amount, etc.)</a:t>
                      </a:r>
                      <a:endParaRPr lang="en-US" sz="1200" dirty="0"/>
                    </a:p>
                  </a:txBody>
                  <a:tcPr/>
                </a:tc>
                <a:extLst>
                  <a:ext uri="{0D108BD9-81ED-4DB2-BD59-A6C34878D82A}">
                    <a16:rowId xmlns:a16="http://schemas.microsoft.com/office/drawing/2014/main" val="3485059009"/>
                  </a:ext>
                </a:extLst>
              </a:tr>
              <a:tr h="370840">
                <a:tc>
                  <a:txBody>
                    <a:bodyPr/>
                    <a:lstStyle/>
                    <a:p>
                      <a:r>
                        <a:rPr lang="en-US" sz="1200" dirty="0"/>
                        <a:t>Missing Data</a:t>
                      </a:r>
                    </a:p>
                  </a:txBody>
                  <a:tcPr/>
                </a:tc>
                <a:tc>
                  <a:txBody>
                    <a:bodyPr/>
                    <a:lstStyle/>
                    <a:p>
                      <a:r>
                        <a:rPr lang="en-US" sz="1200" b="0" i="0" u="none" strike="noStrike" cap="none" baseline="0" dirty="0">
                          <a:solidFill>
                            <a:schemeClr val="dk1"/>
                          </a:solidFill>
                          <a:latin typeface="Arial"/>
                          <a:ea typeface="Arial"/>
                          <a:cs typeface="Arial"/>
                          <a:sym typeface="Arial"/>
                        </a:rPr>
                        <a:t>Test for existence of data items in all fields of a record (e.g., Is there a quantity field on each line item of a customer order?)</a:t>
                      </a:r>
                      <a:endParaRPr lang="en-US" sz="1200" dirty="0"/>
                    </a:p>
                  </a:txBody>
                  <a:tcPr/>
                </a:tc>
                <a:extLst>
                  <a:ext uri="{0D108BD9-81ED-4DB2-BD59-A6C34878D82A}">
                    <a16:rowId xmlns:a16="http://schemas.microsoft.com/office/drawing/2014/main" val="2386226986"/>
                  </a:ext>
                </a:extLst>
              </a:tr>
              <a:tr h="370840">
                <a:tc>
                  <a:txBody>
                    <a:bodyPr/>
                    <a:lstStyle/>
                    <a:p>
                      <a:r>
                        <a:rPr lang="en-US" sz="1200" dirty="0"/>
                        <a:t>Pictures/Templates</a:t>
                      </a:r>
                    </a:p>
                  </a:txBody>
                  <a:tcPr/>
                </a:tc>
                <a:tc>
                  <a:txBody>
                    <a:bodyPr/>
                    <a:lstStyle/>
                    <a:p>
                      <a:r>
                        <a:rPr lang="en-US" sz="1200" b="0" i="0" u="none" strike="noStrike" cap="none" baseline="0" dirty="0">
                          <a:solidFill>
                            <a:schemeClr val="dk1"/>
                          </a:solidFill>
                          <a:latin typeface="Arial"/>
                          <a:ea typeface="Arial"/>
                          <a:cs typeface="Arial"/>
                          <a:sym typeface="Arial"/>
                        </a:rPr>
                        <a:t>Test to ensure that data conform to a standard format (e.g., Are hyphens in the right places for a student ID number?)</a:t>
                      </a:r>
                      <a:endParaRPr lang="en-US" sz="1200" dirty="0"/>
                    </a:p>
                  </a:txBody>
                  <a:tcPr/>
                </a:tc>
                <a:extLst>
                  <a:ext uri="{0D108BD9-81ED-4DB2-BD59-A6C34878D82A}">
                    <a16:rowId xmlns:a16="http://schemas.microsoft.com/office/drawing/2014/main" val="3007598754"/>
                  </a:ext>
                </a:extLst>
              </a:tr>
              <a:tr h="370840">
                <a:tc>
                  <a:txBody>
                    <a:bodyPr/>
                    <a:lstStyle/>
                    <a:p>
                      <a:r>
                        <a:rPr lang="en-US" sz="1200" dirty="0"/>
                        <a:t>Range</a:t>
                      </a:r>
                    </a:p>
                  </a:txBody>
                  <a:tcPr/>
                </a:tc>
                <a:tc>
                  <a:txBody>
                    <a:bodyPr/>
                    <a:lstStyle/>
                    <a:p>
                      <a:r>
                        <a:rPr lang="en-US" sz="1200" b="0" i="0" u="none" strike="noStrike" cap="none" baseline="0" dirty="0">
                          <a:solidFill>
                            <a:schemeClr val="dk1"/>
                          </a:solidFill>
                          <a:latin typeface="Arial"/>
                          <a:ea typeface="Arial"/>
                          <a:cs typeface="Arial"/>
                          <a:sym typeface="Arial"/>
                        </a:rPr>
                        <a:t>Test to ensure data are within proper range of values (e.g., Is a student’s grade point average between 0 and 4.0?)</a:t>
                      </a:r>
                      <a:endParaRPr lang="en-US" sz="1200" dirty="0"/>
                    </a:p>
                  </a:txBody>
                  <a:tcPr/>
                </a:tc>
                <a:extLst>
                  <a:ext uri="{0D108BD9-81ED-4DB2-BD59-A6C34878D82A}">
                    <a16:rowId xmlns:a16="http://schemas.microsoft.com/office/drawing/2014/main" val="102161087"/>
                  </a:ext>
                </a:extLst>
              </a:tr>
              <a:tr h="370840">
                <a:tc>
                  <a:txBody>
                    <a:bodyPr/>
                    <a:lstStyle/>
                    <a:p>
                      <a:r>
                        <a:rPr lang="en-US" sz="1200" dirty="0"/>
                        <a:t>Reasonableness</a:t>
                      </a:r>
                    </a:p>
                  </a:txBody>
                  <a:tcPr/>
                </a:tc>
                <a:tc>
                  <a:txBody>
                    <a:bodyPr/>
                    <a:lstStyle/>
                    <a:p>
                      <a:r>
                        <a:rPr lang="en-US" sz="1200" b="0" i="0" u="none" strike="noStrike" cap="none" baseline="0" dirty="0">
                          <a:solidFill>
                            <a:schemeClr val="dk1"/>
                          </a:solidFill>
                          <a:latin typeface="Arial"/>
                          <a:ea typeface="Arial"/>
                          <a:cs typeface="Arial"/>
                          <a:sym typeface="Arial"/>
                        </a:rPr>
                        <a:t>Test to ensure data are reasonable for situation (e.g., pay rate for a specific type of employee)</a:t>
                      </a:r>
                      <a:endParaRPr lang="en-US" sz="1200" dirty="0"/>
                    </a:p>
                  </a:txBody>
                  <a:tcPr/>
                </a:tc>
                <a:extLst>
                  <a:ext uri="{0D108BD9-81ED-4DB2-BD59-A6C34878D82A}">
                    <a16:rowId xmlns:a16="http://schemas.microsoft.com/office/drawing/2014/main" val="3083577673"/>
                  </a:ext>
                </a:extLst>
              </a:tr>
              <a:tr h="370840">
                <a:tc>
                  <a:txBody>
                    <a:bodyPr/>
                    <a:lstStyle/>
                    <a:p>
                      <a:r>
                        <a:rPr lang="en-US" sz="1200" dirty="0"/>
                        <a:t>Self-Checking Digits</a:t>
                      </a:r>
                    </a:p>
                  </a:txBody>
                  <a:tcPr/>
                </a:tc>
                <a:tc>
                  <a:txBody>
                    <a:bodyPr/>
                    <a:lstStyle/>
                    <a:p>
                      <a:r>
                        <a:rPr lang="en-US" sz="1200" b="0" i="0" u="none" strike="noStrike" cap="none" baseline="0" dirty="0">
                          <a:solidFill>
                            <a:schemeClr val="dk1"/>
                          </a:solidFill>
                          <a:latin typeface="Arial"/>
                          <a:ea typeface="Arial"/>
                          <a:cs typeface="Arial"/>
                          <a:sym typeface="Arial"/>
                        </a:rPr>
                        <a:t>Test where an extra digit is added to a numeric field in which its value is derived using a standard formula (see Figure 11-14)</a:t>
                      </a:r>
                      <a:endParaRPr lang="en-US" sz="1200" dirty="0"/>
                    </a:p>
                  </a:txBody>
                  <a:tcPr/>
                </a:tc>
                <a:extLst>
                  <a:ext uri="{0D108BD9-81ED-4DB2-BD59-A6C34878D82A}">
                    <a16:rowId xmlns:a16="http://schemas.microsoft.com/office/drawing/2014/main" val="3948379359"/>
                  </a:ext>
                </a:extLst>
              </a:tr>
              <a:tr h="245386">
                <a:tc>
                  <a:txBody>
                    <a:bodyPr/>
                    <a:lstStyle/>
                    <a:p>
                      <a:r>
                        <a:rPr lang="en-US" sz="1200" dirty="0"/>
                        <a:t>Size</a:t>
                      </a:r>
                    </a:p>
                  </a:txBody>
                  <a:tcPr/>
                </a:tc>
                <a:tc>
                  <a:txBody>
                    <a:bodyPr/>
                    <a:lstStyle/>
                    <a:p>
                      <a:r>
                        <a:rPr lang="en-US" sz="1200" b="0" i="0" u="none" strike="noStrike" cap="none" baseline="0" dirty="0">
                          <a:solidFill>
                            <a:schemeClr val="dk1"/>
                          </a:solidFill>
                          <a:latin typeface="Arial"/>
                          <a:ea typeface="Arial"/>
                          <a:cs typeface="Arial"/>
                          <a:sym typeface="Arial"/>
                        </a:rPr>
                        <a:t>Test for too few or too many characters (e.g., Is social security number exactly nine digits?)</a:t>
                      </a:r>
                      <a:endParaRPr lang="en-US" sz="1200" dirty="0"/>
                    </a:p>
                  </a:txBody>
                  <a:tcPr/>
                </a:tc>
                <a:extLst>
                  <a:ext uri="{0D108BD9-81ED-4DB2-BD59-A6C34878D82A}">
                    <a16:rowId xmlns:a16="http://schemas.microsoft.com/office/drawing/2014/main" val="3616785687"/>
                  </a:ext>
                </a:extLst>
              </a:tr>
              <a:tr h="370840">
                <a:tc>
                  <a:txBody>
                    <a:bodyPr/>
                    <a:lstStyle/>
                    <a:p>
                      <a:r>
                        <a:rPr lang="en-US" sz="1200" dirty="0"/>
                        <a:t>Values</a:t>
                      </a:r>
                    </a:p>
                  </a:txBody>
                  <a:tcPr/>
                </a:tc>
                <a:tc>
                  <a:txBody>
                    <a:bodyPr/>
                    <a:lstStyle/>
                    <a:p>
                      <a:r>
                        <a:rPr lang="en-US" sz="1200" b="0" i="0" u="none" strike="noStrike" cap="none" baseline="0" dirty="0">
                          <a:solidFill>
                            <a:schemeClr val="dk1"/>
                          </a:solidFill>
                          <a:latin typeface="Arial"/>
                          <a:ea typeface="Arial"/>
                          <a:cs typeface="Arial"/>
                          <a:sym typeface="Arial"/>
                        </a:rPr>
                        <a:t>Test to make sure values come from set of standard values (e.g., two-letter state codes)</a:t>
                      </a:r>
                      <a:endParaRPr lang="en-US" sz="1200" dirty="0"/>
                    </a:p>
                  </a:txBody>
                  <a:tcPr/>
                </a:tc>
                <a:extLst>
                  <a:ext uri="{0D108BD9-81ED-4DB2-BD59-A6C34878D82A}">
                    <a16:rowId xmlns:a16="http://schemas.microsoft.com/office/drawing/2014/main" val="1870815018"/>
                  </a:ext>
                </a:extLst>
              </a:tr>
            </a:tbl>
          </a:graphicData>
        </a:graphic>
      </p:graphicFrame>
    </p:spTree>
    <p:extLst>
      <p:ext uri="{BB962C8B-B14F-4D97-AF65-F5344CB8AC3E}">
        <p14:creationId xmlns:p14="http://schemas.microsoft.com/office/powerpoint/2010/main" val="25551469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06DDF-FA1B-4B0B-8F24-B6E9B8D15E5E}"/>
              </a:ext>
            </a:extLst>
          </p:cNvPr>
          <p:cNvSpPr>
            <a:spLocks noGrp="1"/>
          </p:cNvSpPr>
          <p:nvPr>
            <p:ph type="title"/>
          </p:nvPr>
        </p:nvSpPr>
        <p:spPr/>
        <p:txBody>
          <a:bodyPr/>
          <a:lstStyle/>
          <a:p>
            <a:r>
              <a:rPr lang="en-US" dirty="0"/>
              <a:t>Providing Feedback</a:t>
            </a:r>
          </a:p>
        </p:txBody>
      </p:sp>
      <p:sp>
        <p:nvSpPr>
          <p:cNvPr id="3" name="Text Placeholder 2">
            <a:extLst>
              <a:ext uri="{FF2B5EF4-FFF2-40B4-BE49-F238E27FC236}">
                <a16:creationId xmlns:a16="http://schemas.microsoft.com/office/drawing/2014/main" id="{AEB47EAB-FC10-47F5-9725-84EB9C4D9F30}"/>
              </a:ext>
            </a:extLst>
          </p:cNvPr>
          <p:cNvSpPr>
            <a:spLocks noGrp="1"/>
          </p:cNvSpPr>
          <p:nvPr>
            <p:ph type="body" idx="1"/>
          </p:nvPr>
        </p:nvSpPr>
        <p:spPr>
          <a:xfrm>
            <a:off x="457200" y="816429"/>
            <a:ext cx="8229600" cy="442528"/>
          </a:xfrm>
        </p:spPr>
        <p:txBody>
          <a:bodyPr/>
          <a:lstStyle/>
          <a:p>
            <a:r>
              <a:rPr lang="en-US" sz="1500" b="1" dirty="0"/>
              <a:t>11.3</a:t>
            </a:r>
            <a:r>
              <a:rPr lang="en-US" sz="1500" dirty="0"/>
              <a:t> Describe and apply the general guidelines for designing interfaces and specific guidelines for layout design, structuring data entry fields, providing feedback, and system help</a:t>
            </a:r>
          </a:p>
          <a:p>
            <a:endParaRPr lang="en-US" dirty="0"/>
          </a:p>
        </p:txBody>
      </p:sp>
      <p:sp>
        <p:nvSpPr>
          <p:cNvPr id="4" name="Text Placeholder 3">
            <a:extLst>
              <a:ext uri="{FF2B5EF4-FFF2-40B4-BE49-F238E27FC236}">
                <a16:creationId xmlns:a16="http://schemas.microsoft.com/office/drawing/2014/main" id="{11694513-D06D-4272-A330-F2E3FC702BBE}"/>
              </a:ext>
            </a:extLst>
          </p:cNvPr>
          <p:cNvSpPr>
            <a:spLocks noGrp="1"/>
          </p:cNvSpPr>
          <p:nvPr>
            <p:ph type="body" idx="2"/>
          </p:nvPr>
        </p:nvSpPr>
        <p:spPr>
          <a:xfrm>
            <a:off x="457200" y="1439257"/>
            <a:ext cx="8229600" cy="4686906"/>
          </a:xfrm>
        </p:spPr>
        <p:txBody>
          <a:bodyPr/>
          <a:lstStyle/>
          <a:p>
            <a:pPr eaLnBrk="1" hangingPunct="1">
              <a:lnSpc>
                <a:spcPct val="90000"/>
              </a:lnSpc>
            </a:pPr>
            <a:r>
              <a:rPr lang="en-US" altLang="en-US" sz="2800" dirty="0"/>
              <a:t>Three types of system feedback:</a:t>
            </a:r>
          </a:p>
          <a:p>
            <a:pPr lvl="1" eaLnBrk="1" hangingPunct="1">
              <a:lnSpc>
                <a:spcPct val="90000"/>
              </a:lnSpc>
            </a:pPr>
            <a:r>
              <a:rPr lang="en-US" altLang="en-US" sz="2400" b="1" dirty="0"/>
              <a:t>Status information</a:t>
            </a:r>
            <a:r>
              <a:rPr lang="en-US" altLang="en-US" sz="2400" dirty="0"/>
              <a:t>: keep user informed of what’s going on, helpful when user has to wait for response</a:t>
            </a:r>
          </a:p>
          <a:p>
            <a:pPr lvl="1" eaLnBrk="1" hangingPunct="1">
              <a:lnSpc>
                <a:spcPct val="90000"/>
              </a:lnSpc>
            </a:pPr>
            <a:r>
              <a:rPr lang="en-US" altLang="en-US" sz="2400" b="1" dirty="0"/>
              <a:t>Prompting cues</a:t>
            </a:r>
            <a:r>
              <a:rPr lang="en-US" altLang="en-US" sz="2400" dirty="0"/>
              <a:t>: tell user when input is needed, and how to provide the input</a:t>
            </a:r>
          </a:p>
          <a:p>
            <a:pPr lvl="1" eaLnBrk="1" hangingPunct="1">
              <a:lnSpc>
                <a:spcPct val="90000"/>
              </a:lnSpc>
            </a:pPr>
            <a:r>
              <a:rPr lang="en-US" altLang="en-US" sz="2400" b="1" dirty="0"/>
              <a:t>Error or warning messages</a:t>
            </a:r>
            <a:r>
              <a:rPr lang="en-US" altLang="en-US" sz="2400" dirty="0"/>
              <a:t>: inform user that something is wrong, either with data entry or system operation</a:t>
            </a:r>
          </a:p>
          <a:p>
            <a:pPr marL="586232" indent="-514350"/>
            <a:endParaRPr lang="en-US" sz="2800" dirty="0"/>
          </a:p>
        </p:txBody>
      </p:sp>
    </p:spTree>
    <p:extLst>
      <p:ext uri="{BB962C8B-B14F-4D97-AF65-F5344CB8AC3E}">
        <p14:creationId xmlns:p14="http://schemas.microsoft.com/office/powerpoint/2010/main" val="10605775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52636-CE48-4898-AB30-750B017CD080}"/>
              </a:ext>
            </a:extLst>
          </p:cNvPr>
          <p:cNvSpPr>
            <a:spLocks noGrp="1"/>
          </p:cNvSpPr>
          <p:nvPr>
            <p:ph type="title"/>
          </p:nvPr>
        </p:nvSpPr>
        <p:spPr/>
        <p:txBody>
          <a:bodyPr/>
          <a:lstStyle/>
          <a:p>
            <a:r>
              <a:rPr lang="en-US" dirty="0"/>
              <a:t>Table 5: Examples of Poor and Improved Error Messages</a:t>
            </a:r>
          </a:p>
        </p:txBody>
      </p:sp>
      <p:graphicFrame>
        <p:nvGraphicFramePr>
          <p:cNvPr id="5" name="Content Placeholder 4">
            <a:extLst>
              <a:ext uri="{FF2B5EF4-FFF2-40B4-BE49-F238E27FC236}">
                <a16:creationId xmlns:a16="http://schemas.microsoft.com/office/drawing/2014/main" id="{653E0FBB-F9A0-4FE5-B771-DF200832EDD2}"/>
              </a:ext>
            </a:extLst>
          </p:cNvPr>
          <p:cNvGraphicFramePr>
            <a:graphicFrameLocks noGrp="1"/>
          </p:cNvGraphicFramePr>
          <p:nvPr>
            <p:ph sz="quarter" idx="14"/>
            <p:extLst>
              <p:ext uri="{D42A27DB-BD31-4B8C-83A1-F6EECF244321}">
                <p14:modId xmlns:p14="http://schemas.microsoft.com/office/powerpoint/2010/main" val="2604803532"/>
              </p:ext>
            </p:extLst>
          </p:nvPr>
        </p:nvGraphicFramePr>
        <p:xfrm>
          <a:off x="457200" y="1555750"/>
          <a:ext cx="8229600" cy="2296160"/>
        </p:xfrm>
        <a:graphic>
          <a:graphicData uri="http://schemas.openxmlformats.org/drawingml/2006/table">
            <a:tbl>
              <a:tblPr firstRow="1" bandRow="1">
                <a:tableStyleId>{40F9630F-82C1-40B7-BC3A-925EFCFF5E92}</a:tableStyleId>
              </a:tblPr>
              <a:tblGrid>
                <a:gridCol w="2511287">
                  <a:extLst>
                    <a:ext uri="{9D8B030D-6E8A-4147-A177-3AD203B41FA5}">
                      <a16:colId xmlns:a16="http://schemas.microsoft.com/office/drawing/2014/main" val="1889263206"/>
                    </a:ext>
                  </a:extLst>
                </a:gridCol>
                <a:gridCol w="5718313">
                  <a:extLst>
                    <a:ext uri="{9D8B030D-6E8A-4147-A177-3AD203B41FA5}">
                      <a16:colId xmlns:a16="http://schemas.microsoft.com/office/drawing/2014/main" val="1340211815"/>
                    </a:ext>
                  </a:extLst>
                </a:gridCol>
              </a:tblGrid>
              <a:tr h="370840">
                <a:tc>
                  <a:txBody>
                    <a:bodyPr/>
                    <a:lstStyle/>
                    <a:p>
                      <a:r>
                        <a:rPr lang="en-US" dirty="0"/>
                        <a:t>Poor Error Messages</a:t>
                      </a:r>
                    </a:p>
                  </a:txBody>
                  <a:tcPr/>
                </a:tc>
                <a:tc>
                  <a:txBody>
                    <a:bodyPr/>
                    <a:lstStyle/>
                    <a:p>
                      <a:r>
                        <a:rPr lang="en-US" dirty="0"/>
                        <a:t>Improved Error Messages</a:t>
                      </a:r>
                    </a:p>
                  </a:txBody>
                  <a:tcPr/>
                </a:tc>
                <a:extLst>
                  <a:ext uri="{0D108BD9-81ED-4DB2-BD59-A6C34878D82A}">
                    <a16:rowId xmlns:a16="http://schemas.microsoft.com/office/drawing/2014/main" val="3442501094"/>
                  </a:ext>
                </a:extLst>
              </a:tr>
              <a:tr h="370840">
                <a:tc>
                  <a:txBody>
                    <a:bodyPr/>
                    <a:lstStyle/>
                    <a:p>
                      <a:r>
                        <a:rPr lang="en-US" sz="1400" b="0" i="0" u="none" strike="noStrike" cap="none" baseline="0" dirty="0">
                          <a:solidFill>
                            <a:schemeClr val="dk1"/>
                          </a:solidFill>
                          <a:latin typeface="Arial"/>
                          <a:ea typeface="Arial"/>
                          <a:cs typeface="Arial"/>
                          <a:sym typeface="Arial"/>
                        </a:rPr>
                        <a:t>ERROR 56 OPENING FILE</a:t>
                      </a:r>
                      <a:endParaRPr lang="en-US" dirty="0"/>
                    </a:p>
                  </a:txBody>
                  <a:tcPr/>
                </a:tc>
                <a:tc>
                  <a:txBody>
                    <a:bodyPr/>
                    <a:lstStyle/>
                    <a:p>
                      <a:r>
                        <a:rPr lang="en-US" sz="1400" b="0" i="0" u="none" strike="noStrike" cap="none" baseline="0" dirty="0">
                          <a:solidFill>
                            <a:schemeClr val="dk1"/>
                          </a:solidFill>
                          <a:latin typeface="Arial"/>
                          <a:ea typeface="Arial"/>
                          <a:cs typeface="Arial"/>
                          <a:sym typeface="Arial"/>
                        </a:rPr>
                        <a:t>The file name you typed was not found. Press F2 to list valid file</a:t>
                      </a:r>
                    </a:p>
                    <a:p>
                      <a:r>
                        <a:rPr lang="en-US" sz="1400" b="0" i="0" u="none" strike="noStrike" cap="none" baseline="0" dirty="0">
                          <a:solidFill>
                            <a:schemeClr val="dk1"/>
                          </a:solidFill>
                          <a:latin typeface="Arial"/>
                          <a:ea typeface="Arial"/>
                          <a:cs typeface="Arial"/>
                          <a:sym typeface="Arial"/>
                        </a:rPr>
                        <a:t>names.</a:t>
                      </a:r>
                      <a:endParaRPr lang="en-US" dirty="0"/>
                    </a:p>
                  </a:txBody>
                  <a:tcPr/>
                </a:tc>
                <a:extLst>
                  <a:ext uri="{0D108BD9-81ED-4DB2-BD59-A6C34878D82A}">
                    <a16:rowId xmlns:a16="http://schemas.microsoft.com/office/drawing/2014/main" val="3934692343"/>
                  </a:ext>
                </a:extLst>
              </a:tr>
              <a:tr h="370840">
                <a:tc>
                  <a:txBody>
                    <a:bodyPr/>
                    <a:lstStyle/>
                    <a:p>
                      <a:r>
                        <a:rPr lang="en-US" sz="1400" b="0" i="0" u="none" strike="noStrike" cap="none" baseline="0" dirty="0">
                          <a:solidFill>
                            <a:schemeClr val="dk1"/>
                          </a:solidFill>
                          <a:latin typeface="Arial"/>
                          <a:ea typeface="Arial"/>
                          <a:cs typeface="Arial"/>
                          <a:sym typeface="Arial"/>
                        </a:rPr>
                        <a:t>WRONG CHOICE</a:t>
                      </a:r>
                      <a:endParaRPr lang="en-US" dirty="0"/>
                    </a:p>
                  </a:txBody>
                  <a:tcPr/>
                </a:tc>
                <a:tc>
                  <a:txBody>
                    <a:bodyPr/>
                    <a:lstStyle/>
                    <a:p>
                      <a:r>
                        <a:rPr lang="en-US" sz="1400" b="0" i="0" u="none" strike="noStrike" cap="none" baseline="0" dirty="0">
                          <a:solidFill>
                            <a:schemeClr val="dk1"/>
                          </a:solidFill>
                          <a:latin typeface="Arial"/>
                          <a:ea typeface="Arial"/>
                          <a:cs typeface="Arial"/>
                          <a:sym typeface="Arial"/>
                        </a:rPr>
                        <a:t>Please enter an option from the menu.</a:t>
                      </a:r>
                      <a:endParaRPr lang="en-US" dirty="0"/>
                    </a:p>
                  </a:txBody>
                  <a:tcPr/>
                </a:tc>
                <a:extLst>
                  <a:ext uri="{0D108BD9-81ED-4DB2-BD59-A6C34878D82A}">
                    <a16:rowId xmlns:a16="http://schemas.microsoft.com/office/drawing/2014/main" val="2602151327"/>
                  </a:ext>
                </a:extLst>
              </a:tr>
              <a:tr h="370840">
                <a:tc>
                  <a:txBody>
                    <a:bodyPr/>
                    <a:lstStyle/>
                    <a:p>
                      <a:r>
                        <a:rPr lang="en-US" sz="1400" b="0" i="0" u="none" strike="noStrike" cap="none" baseline="0" dirty="0">
                          <a:solidFill>
                            <a:schemeClr val="dk1"/>
                          </a:solidFill>
                          <a:latin typeface="Arial"/>
                          <a:ea typeface="Arial"/>
                          <a:cs typeface="Arial"/>
                          <a:sym typeface="Arial"/>
                        </a:rPr>
                        <a:t>DATA ENTRY ERROR</a:t>
                      </a:r>
                      <a:endParaRPr lang="en-US" dirty="0"/>
                    </a:p>
                  </a:txBody>
                  <a:tcPr/>
                </a:tc>
                <a:tc>
                  <a:txBody>
                    <a:bodyPr/>
                    <a:lstStyle/>
                    <a:p>
                      <a:r>
                        <a:rPr lang="en-US" sz="1400" b="0" i="0" u="none" strike="noStrike" cap="none" baseline="0" dirty="0">
                          <a:solidFill>
                            <a:schemeClr val="dk1"/>
                          </a:solidFill>
                          <a:latin typeface="Arial"/>
                          <a:ea typeface="Arial"/>
                          <a:cs typeface="Arial"/>
                          <a:sym typeface="Arial"/>
                        </a:rPr>
                        <a:t>The prior entry contains a value outside the range of acceptable</a:t>
                      </a:r>
                    </a:p>
                    <a:p>
                      <a:r>
                        <a:rPr lang="en-US" sz="1400" b="0" i="0" u="none" strike="noStrike" cap="none" baseline="0" dirty="0">
                          <a:solidFill>
                            <a:schemeClr val="dk1"/>
                          </a:solidFill>
                          <a:latin typeface="Arial"/>
                          <a:ea typeface="Arial"/>
                          <a:cs typeface="Arial"/>
                          <a:sym typeface="Arial"/>
                        </a:rPr>
                        <a:t>values. Press F9 for list of acceptable values.</a:t>
                      </a:r>
                      <a:endParaRPr lang="en-US" dirty="0"/>
                    </a:p>
                  </a:txBody>
                  <a:tcPr/>
                </a:tc>
                <a:extLst>
                  <a:ext uri="{0D108BD9-81ED-4DB2-BD59-A6C34878D82A}">
                    <a16:rowId xmlns:a16="http://schemas.microsoft.com/office/drawing/2014/main" val="623569365"/>
                  </a:ext>
                </a:extLst>
              </a:tr>
              <a:tr h="370840">
                <a:tc>
                  <a:txBody>
                    <a:bodyPr/>
                    <a:lstStyle/>
                    <a:p>
                      <a:r>
                        <a:rPr lang="en-US" sz="1400" b="0" i="0" u="none" strike="noStrike" cap="none" baseline="0" dirty="0">
                          <a:solidFill>
                            <a:schemeClr val="dk1"/>
                          </a:solidFill>
                          <a:latin typeface="Arial"/>
                          <a:ea typeface="Arial"/>
                          <a:cs typeface="Arial"/>
                          <a:sym typeface="Arial"/>
                        </a:rPr>
                        <a:t>FILE CREATION ERROR</a:t>
                      </a:r>
                      <a:endParaRPr lang="en-US" dirty="0"/>
                    </a:p>
                  </a:txBody>
                  <a:tcPr/>
                </a:tc>
                <a:tc>
                  <a:txBody>
                    <a:bodyPr/>
                    <a:lstStyle/>
                    <a:p>
                      <a:r>
                        <a:rPr lang="en-US" sz="1400" b="0" i="0" u="none" strike="noStrike" cap="none" baseline="0" dirty="0">
                          <a:solidFill>
                            <a:schemeClr val="dk1"/>
                          </a:solidFill>
                          <a:latin typeface="Arial"/>
                          <a:ea typeface="Arial"/>
                          <a:cs typeface="Arial"/>
                          <a:sym typeface="Arial"/>
                        </a:rPr>
                        <a:t>The file name you entered already exists. Press F10 if you want</a:t>
                      </a:r>
                    </a:p>
                    <a:p>
                      <a:r>
                        <a:rPr lang="en-US" sz="1400" b="0" i="0" u="none" strike="noStrike" cap="none" baseline="0" dirty="0">
                          <a:solidFill>
                            <a:schemeClr val="dk1"/>
                          </a:solidFill>
                          <a:latin typeface="Arial"/>
                          <a:ea typeface="Arial"/>
                          <a:cs typeface="Arial"/>
                          <a:sym typeface="Arial"/>
                        </a:rPr>
                        <a:t>to overwrite it. Press F2 if you want to save it to a new name.</a:t>
                      </a:r>
                      <a:endParaRPr lang="en-US" dirty="0"/>
                    </a:p>
                  </a:txBody>
                  <a:tcPr/>
                </a:tc>
                <a:extLst>
                  <a:ext uri="{0D108BD9-81ED-4DB2-BD59-A6C34878D82A}">
                    <a16:rowId xmlns:a16="http://schemas.microsoft.com/office/drawing/2014/main" val="324446585"/>
                  </a:ext>
                </a:extLst>
              </a:tr>
            </a:tbl>
          </a:graphicData>
        </a:graphic>
      </p:graphicFrame>
    </p:spTree>
    <p:extLst>
      <p:ext uri="{BB962C8B-B14F-4D97-AF65-F5344CB8AC3E}">
        <p14:creationId xmlns:p14="http://schemas.microsoft.com/office/powerpoint/2010/main" val="639300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2FA17-CD71-4713-BB70-365007697303}"/>
              </a:ext>
            </a:extLst>
          </p:cNvPr>
          <p:cNvSpPr>
            <a:spLocks noGrp="1"/>
          </p:cNvSpPr>
          <p:nvPr>
            <p:ph type="title"/>
          </p:nvPr>
        </p:nvSpPr>
        <p:spPr/>
        <p:txBody>
          <a:bodyPr/>
          <a:lstStyle/>
          <a:p>
            <a:r>
              <a:rPr lang="en-US" sz="2800"/>
              <a:t>Table 6: </a:t>
            </a:r>
            <a:r>
              <a:rPr lang="en-US" sz="2800" dirty="0"/>
              <a:t>Common Errors When Designing the Interface of Websites</a:t>
            </a:r>
          </a:p>
        </p:txBody>
      </p:sp>
      <p:graphicFrame>
        <p:nvGraphicFramePr>
          <p:cNvPr id="5" name="Content Placeholder 4">
            <a:extLst>
              <a:ext uri="{FF2B5EF4-FFF2-40B4-BE49-F238E27FC236}">
                <a16:creationId xmlns:a16="http://schemas.microsoft.com/office/drawing/2014/main" id="{04082C1E-584E-4C15-A334-C6CE35839BF4}"/>
              </a:ext>
            </a:extLst>
          </p:cNvPr>
          <p:cNvGraphicFramePr>
            <a:graphicFrameLocks noGrp="1"/>
          </p:cNvGraphicFramePr>
          <p:nvPr>
            <p:ph sz="quarter" idx="14"/>
            <p:extLst>
              <p:ext uri="{D42A27DB-BD31-4B8C-83A1-F6EECF244321}">
                <p14:modId xmlns:p14="http://schemas.microsoft.com/office/powerpoint/2010/main" val="1012228219"/>
              </p:ext>
            </p:extLst>
          </p:nvPr>
        </p:nvGraphicFramePr>
        <p:xfrm>
          <a:off x="457200" y="1295399"/>
          <a:ext cx="8229600" cy="4819650"/>
        </p:xfrm>
        <a:graphic>
          <a:graphicData uri="http://schemas.openxmlformats.org/drawingml/2006/table">
            <a:tbl>
              <a:tblPr firstRow="1" bandRow="1">
                <a:tableStyleId>{40F9630F-82C1-40B7-BC3A-925EFCFF5E92}</a:tableStyleId>
              </a:tblPr>
              <a:tblGrid>
                <a:gridCol w="1729409">
                  <a:extLst>
                    <a:ext uri="{9D8B030D-6E8A-4147-A177-3AD203B41FA5}">
                      <a16:colId xmlns:a16="http://schemas.microsoft.com/office/drawing/2014/main" val="2605066641"/>
                    </a:ext>
                  </a:extLst>
                </a:gridCol>
                <a:gridCol w="6500191">
                  <a:extLst>
                    <a:ext uri="{9D8B030D-6E8A-4147-A177-3AD203B41FA5}">
                      <a16:colId xmlns:a16="http://schemas.microsoft.com/office/drawing/2014/main" val="2255044002"/>
                    </a:ext>
                  </a:extLst>
                </a:gridCol>
              </a:tblGrid>
              <a:tr h="370840">
                <a:tc>
                  <a:txBody>
                    <a:bodyPr/>
                    <a:lstStyle/>
                    <a:p>
                      <a:r>
                        <a:rPr lang="en-US" dirty="0"/>
                        <a:t>Error</a:t>
                      </a:r>
                    </a:p>
                  </a:txBody>
                  <a:tcPr/>
                </a:tc>
                <a:tc>
                  <a:txBody>
                    <a:bodyPr/>
                    <a:lstStyle/>
                    <a:p>
                      <a:r>
                        <a:rPr lang="en-US" dirty="0"/>
                        <a:t>Description</a:t>
                      </a:r>
                    </a:p>
                  </a:txBody>
                  <a:tcPr/>
                </a:tc>
                <a:extLst>
                  <a:ext uri="{0D108BD9-81ED-4DB2-BD59-A6C34878D82A}">
                    <a16:rowId xmlns:a16="http://schemas.microsoft.com/office/drawing/2014/main" val="1005865928"/>
                  </a:ext>
                </a:extLst>
              </a:tr>
              <a:tr h="370840">
                <a:tc>
                  <a:txBody>
                    <a:bodyPr/>
                    <a:lstStyle/>
                    <a:p>
                      <a:r>
                        <a:rPr lang="en-US" sz="1000" dirty="0"/>
                        <a:t>Opening New Browser Window</a:t>
                      </a:r>
                    </a:p>
                  </a:txBody>
                  <a:tcPr/>
                </a:tc>
                <a:tc>
                  <a:txBody>
                    <a:bodyPr/>
                    <a:lstStyle/>
                    <a:p>
                      <a:r>
                        <a:rPr lang="en-US" sz="1000" b="0" i="0" u="none" strike="noStrike" cap="none" baseline="0" dirty="0">
                          <a:solidFill>
                            <a:schemeClr val="dk1"/>
                          </a:solidFill>
                          <a:latin typeface="Arial"/>
                          <a:ea typeface="Arial"/>
                          <a:cs typeface="Arial"/>
                          <a:sym typeface="Arial"/>
                        </a:rPr>
                        <a:t>Avoid opening a new browser window when a user clicks on a link unless it is clearly marked that a new window will be opened; users may not see that a new window has been opened, which will complicate navigation, especially moving backward.</a:t>
                      </a:r>
                      <a:endParaRPr lang="en-US" sz="1000" dirty="0"/>
                    </a:p>
                  </a:txBody>
                  <a:tcPr/>
                </a:tc>
                <a:extLst>
                  <a:ext uri="{0D108BD9-81ED-4DB2-BD59-A6C34878D82A}">
                    <a16:rowId xmlns:a16="http://schemas.microsoft.com/office/drawing/2014/main" val="2215080412"/>
                  </a:ext>
                </a:extLst>
              </a:tr>
              <a:tr h="370840">
                <a:tc>
                  <a:txBody>
                    <a:bodyPr/>
                    <a:lstStyle/>
                    <a:p>
                      <a:r>
                        <a:rPr lang="en-US" sz="1000" b="0" i="0" u="none" strike="noStrike" cap="none" baseline="0" dirty="0">
                          <a:solidFill>
                            <a:schemeClr val="dk1"/>
                          </a:solidFill>
                          <a:latin typeface="Arial"/>
                          <a:ea typeface="Arial"/>
                          <a:cs typeface="Arial"/>
                          <a:sym typeface="Arial"/>
                        </a:rPr>
                        <a:t>Breaking or Slowing Down the Back Button</a:t>
                      </a:r>
                      <a:endParaRPr lang="en-US" sz="1000" dirty="0"/>
                    </a:p>
                  </a:txBody>
                  <a:tcPr/>
                </a:tc>
                <a:tc>
                  <a:txBody>
                    <a:bodyPr/>
                    <a:lstStyle/>
                    <a:p>
                      <a:r>
                        <a:rPr lang="en-US" sz="1000" b="0" i="0" u="none" strike="noStrike" cap="none" baseline="0" dirty="0">
                          <a:solidFill>
                            <a:schemeClr val="dk1"/>
                          </a:solidFill>
                          <a:latin typeface="Arial"/>
                          <a:ea typeface="Arial"/>
                          <a:cs typeface="Arial"/>
                          <a:sym typeface="Arial"/>
                        </a:rPr>
                        <a:t>Make sure users can use the back button to return to prior pages. Avoid opening new browser windows, using an immediate redirect where, when users click the back button, they are pushed  or forward to an undesired location.</a:t>
                      </a:r>
                      <a:endParaRPr lang="en-US" sz="1000" dirty="0"/>
                    </a:p>
                  </a:txBody>
                  <a:tcPr/>
                </a:tc>
                <a:extLst>
                  <a:ext uri="{0D108BD9-81ED-4DB2-BD59-A6C34878D82A}">
                    <a16:rowId xmlns:a16="http://schemas.microsoft.com/office/drawing/2014/main" val="1391545720"/>
                  </a:ext>
                </a:extLst>
              </a:tr>
              <a:tr h="370840">
                <a:tc>
                  <a:txBody>
                    <a:bodyPr/>
                    <a:lstStyle/>
                    <a:p>
                      <a:r>
                        <a:rPr lang="en-US" sz="1000" b="0" i="0" u="none" strike="noStrike" cap="none" baseline="0" dirty="0">
                          <a:solidFill>
                            <a:schemeClr val="dk1"/>
                          </a:solidFill>
                          <a:latin typeface="Arial"/>
                          <a:ea typeface="Arial"/>
                          <a:cs typeface="Arial"/>
                          <a:sym typeface="Arial"/>
                        </a:rPr>
                        <a:t>Complex URLs</a:t>
                      </a:r>
                      <a:endParaRPr lang="en-US" sz="1000" dirty="0"/>
                    </a:p>
                  </a:txBody>
                  <a:tcPr/>
                </a:tc>
                <a:tc>
                  <a:txBody>
                    <a:bodyPr/>
                    <a:lstStyle/>
                    <a:p>
                      <a:r>
                        <a:rPr lang="en-US" sz="1000" b="0" i="0" u="none" strike="noStrike" cap="none" baseline="0" dirty="0">
                          <a:solidFill>
                            <a:schemeClr val="dk1"/>
                          </a:solidFill>
                          <a:latin typeface="Arial"/>
                          <a:ea typeface="Arial"/>
                          <a:cs typeface="Arial"/>
                          <a:sym typeface="Arial"/>
                        </a:rPr>
                        <a:t>Avoid overly long and complex URLs because it makes it more difficult for users to understand where they are and can cause problems if users want to e-mail page locations to colleagues.</a:t>
                      </a:r>
                      <a:endParaRPr lang="en-US" sz="1000" dirty="0"/>
                    </a:p>
                  </a:txBody>
                  <a:tcPr/>
                </a:tc>
                <a:extLst>
                  <a:ext uri="{0D108BD9-81ED-4DB2-BD59-A6C34878D82A}">
                    <a16:rowId xmlns:a16="http://schemas.microsoft.com/office/drawing/2014/main" val="1103518801"/>
                  </a:ext>
                </a:extLst>
              </a:tr>
              <a:tr h="370840">
                <a:tc>
                  <a:txBody>
                    <a:bodyPr/>
                    <a:lstStyle/>
                    <a:p>
                      <a:r>
                        <a:rPr lang="en-US" sz="1000" b="0" i="0" u="none" strike="noStrike" cap="none" baseline="0" dirty="0">
                          <a:solidFill>
                            <a:schemeClr val="dk1"/>
                          </a:solidFill>
                          <a:latin typeface="Arial"/>
                          <a:ea typeface="Arial"/>
                          <a:cs typeface="Arial"/>
                          <a:sym typeface="Arial"/>
                        </a:rPr>
                        <a:t>Orphan Pages</a:t>
                      </a:r>
                      <a:endParaRPr lang="en-US" sz="1000" dirty="0"/>
                    </a:p>
                  </a:txBody>
                  <a:tcPr/>
                </a:tc>
                <a:tc>
                  <a:txBody>
                    <a:bodyPr/>
                    <a:lstStyle/>
                    <a:p>
                      <a:r>
                        <a:rPr lang="en-US" sz="1000" b="0" i="0" u="none" strike="noStrike" cap="none" baseline="0" dirty="0">
                          <a:solidFill>
                            <a:schemeClr val="dk1"/>
                          </a:solidFill>
                          <a:latin typeface="Arial"/>
                          <a:ea typeface="Arial"/>
                          <a:cs typeface="Arial"/>
                          <a:sym typeface="Arial"/>
                        </a:rPr>
                        <a:t>Avoid having pages with no “parent” that can be reached by using a back button; requires users to “hack” the end of the URL to get back to some other prior page.</a:t>
                      </a:r>
                      <a:endParaRPr lang="en-US" sz="1000" dirty="0"/>
                    </a:p>
                  </a:txBody>
                  <a:tcPr/>
                </a:tc>
                <a:extLst>
                  <a:ext uri="{0D108BD9-81ED-4DB2-BD59-A6C34878D82A}">
                    <a16:rowId xmlns:a16="http://schemas.microsoft.com/office/drawing/2014/main" val="1068432383"/>
                  </a:ext>
                </a:extLst>
              </a:tr>
              <a:tr h="370840">
                <a:tc>
                  <a:txBody>
                    <a:bodyPr/>
                    <a:lstStyle/>
                    <a:p>
                      <a:r>
                        <a:rPr lang="en-US" sz="1000" b="0" i="0" u="none" strike="noStrike" cap="none" baseline="0" dirty="0">
                          <a:solidFill>
                            <a:schemeClr val="dk1"/>
                          </a:solidFill>
                          <a:latin typeface="Arial"/>
                          <a:ea typeface="Arial"/>
                          <a:cs typeface="Arial"/>
                          <a:sym typeface="Arial"/>
                        </a:rPr>
                        <a:t>Scrolling Navigation Pages</a:t>
                      </a:r>
                      <a:endParaRPr lang="en-US" sz="1000" dirty="0"/>
                    </a:p>
                  </a:txBody>
                  <a:tcPr/>
                </a:tc>
                <a:tc>
                  <a:txBody>
                    <a:bodyPr/>
                    <a:lstStyle/>
                    <a:p>
                      <a:r>
                        <a:rPr lang="en-US" sz="1000" b="0" i="0" u="none" strike="noStrike" cap="none" baseline="0" dirty="0">
                          <a:solidFill>
                            <a:schemeClr val="dk1"/>
                          </a:solidFill>
                          <a:latin typeface="Arial"/>
                          <a:ea typeface="Arial"/>
                          <a:cs typeface="Arial"/>
                          <a:sym typeface="Arial"/>
                        </a:rPr>
                        <a:t>Avoid placing navigational links below where a page opens because many users may miss these important options that are below the opening window.</a:t>
                      </a:r>
                      <a:endParaRPr lang="en-US" sz="1000" dirty="0"/>
                    </a:p>
                  </a:txBody>
                  <a:tcPr/>
                </a:tc>
                <a:extLst>
                  <a:ext uri="{0D108BD9-81ED-4DB2-BD59-A6C34878D82A}">
                    <a16:rowId xmlns:a16="http://schemas.microsoft.com/office/drawing/2014/main" val="139531241"/>
                  </a:ext>
                </a:extLst>
              </a:tr>
              <a:tr h="370840">
                <a:tc>
                  <a:txBody>
                    <a:bodyPr/>
                    <a:lstStyle/>
                    <a:p>
                      <a:r>
                        <a:rPr lang="en-US" sz="1000" b="0" i="0" u="none" strike="noStrike" cap="none" baseline="0" dirty="0">
                          <a:solidFill>
                            <a:schemeClr val="dk1"/>
                          </a:solidFill>
                          <a:latin typeface="Arial"/>
                          <a:ea typeface="Arial"/>
                          <a:cs typeface="Arial"/>
                          <a:sym typeface="Arial"/>
                        </a:rPr>
                        <a:t>Lack of Navigation Support</a:t>
                      </a:r>
                      <a:endParaRPr lang="en-US" sz="1000" dirty="0"/>
                    </a:p>
                  </a:txBody>
                  <a:tcPr/>
                </a:tc>
                <a:tc>
                  <a:txBody>
                    <a:bodyPr/>
                    <a:lstStyle/>
                    <a:p>
                      <a:r>
                        <a:rPr lang="en-US" sz="1000" b="0" i="0" u="none" strike="noStrike" cap="none" baseline="0" dirty="0">
                          <a:solidFill>
                            <a:schemeClr val="dk1"/>
                          </a:solidFill>
                          <a:latin typeface="Arial"/>
                          <a:ea typeface="Arial"/>
                          <a:cs typeface="Arial"/>
                          <a:sym typeface="Arial"/>
                        </a:rPr>
                        <a:t>Make sure your pages conform to users’ expectations by providing commonly used icon links such as a site logo at the top or other major elements. Also place these elements on pages in a consistent manner.</a:t>
                      </a:r>
                      <a:endParaRPr lang="en-US" sz="1000" dirty="0"/>
                    </a:p>
                  </a:txBody>
                  <a:tcPr/>
                </a:tc>
                <a:extLst>
                  <a:ext uri="{0D108BD9-81ED-4DB2-BD59-A6C34878D82A}">
                    <a16:rowId xmlns:a16="http://schemas.microsoft.com/office/drawing/2014/main" val="4121860579"/>
                  </a:ext>
                </a:extLst>
              </a:tr>
              <a:tr h="516890">
                <a:tc>
                  <a:txBody>
                    <a:bodyPr/>
                    <a:lstStyle/>
                    <a:p>
                      <a:r>
                        <a:rPr lang="en-US" sz="1000" b="0" i="0" u="none" strike="noStrike" cap="none" baseline="0" dirty="0">
                          <a:solidFill>
                            <a:schemeClr val="dk1"/>
                          </a:solidFill>
                          <a:latin typeface="Arial"/>
                          <a:ea typeface="Arial"/>
                          <a:cs typeface="Arial"/>
                          <a:sym typeface="Arial"/>
                        </a:rPr>
                        <a:t>Hidden Links</a:t>
                      </a:r>
                      <a:endParaRPr lang="en-US" sz="1000" dirty="0"/>
                    </a:p>
                  </a:txBody>
                  <a:tcPr/>
                </a:tc>
                <a:tc>
                  <a:txBody>
                    <a:bodyPr/>
                    <a:lstStyle/>
                    <a:p>
                      <a:r>
                        <a:rPr lang="en-US" sz="1000" b="0" i="0" u="none" strike="noStrike" cap="none" baseline="0" dirty="0">
                          <a:solidFill>
                            <a:schemeClr val="dk1"/>
                          </a:solidFill>
                          <a:latin typeface="Arial"/>
                          <a:ea typeface="Arial"/>
                          <a:cs typeface="Arial"/>
                          <a:sym typeface="Arial"/>
                        </a:rPr>
                        <a:t>Make sure you leave a border around images that are links, don’t change link colors from normal</a:t>
                      </a:r>
                    </a:p>
                    <a:p>
                      <a:r>
                        <a:rPr lang="en-US" sz="1000" b="0" i="0" u="none" strike="noStrike" cap="none" baseline="0" dirty="0">
                          <a:solidFill>
                            <a:schemeClr val="dk1"/>
                          </a:solidFill>
                          <a:latin typeface="Arial"/>
                          <a:ea typeface="Arial"/>
                          <a:cs typeface="Arial"/>
                          <a:sym typeface="Arial"/>
                        </a:rPr>
                        <a:t>defaults, and avoid embedding links within long blocks of text.</a:t>
                      </a:r>
                      <a:endParaRPr lang="en-US" sz="1000" dirty="0"/>
                    </a:p>
                  </a:txBody>
                  <a:tcPr/>
                </a:tc>
                <a:extLst>
                  <a:ext uri="{0D108BD9-81ED-4DB2-BD59-A6C34878D82A}">
                    <a16:rowId xmlns:a16="http://schemas.microsoft.com/office/drawing/2014/main" val="3681600827"/>
                  </a:ext>
                </a:extLst>
              </a:tr>
              <a:tr h="370840">
                <a:tc>
                  <a:txBody>
                    <a:bodyPr/>
                    <a:lstStyle/>
                    <a:p>
                      <a:r>
                        <a:rPr lang="en-US" sz="1000" b="0" i="0" u="none" strike="noStrike" cap="none" baseline="0" dirty="0">
                          <a:solidFill>
                            <a:schemeClr val="dk1"/>
                          </a:solidFill>
                          <a:latin typeface="Arial"/>
                          <a:ea typeface="Arial"/>
                          <a:cs typeface="Arial"/>
                          <a:sym typeface="Arial"/>
                        </a:rPr>
                        <a:t>Links That Don’t Provide Enough Information</a:t>
                      </a:r>
                      <a:endParaRPr lang="en-US" sz="1000" dirty="0"/>
                    </a:p>
                  </a:txBody>
                  <a:tcPr/>
                </a:tc>
                <a:tc>
                  <a:txBody>
                    <a:bodyPr/>
                    <a:lstStyle/>
                    <a:p>
                      <a:r>
                        <a:rPr lang="en-US" sz="1000" b="0" i="0" u="none" strike="noStrike" cap="none" baseline="0" dirty="0">
                          <a:solidFill>
                            <a:schemeClr val="dk1"/>
                          </a:solidFill>
                          <a:latin typeface="Arial"/>
                          <a:ea typeface="Arial"/>
                          <a:cs typeface="Arial"/>
                          <a:sym typeface="Arial"/>
                        </a:rPr>
                        <a:t>Avoid not turning off link-marking borders so that links clearly show which links users have clicked</a:t>
                      </a:r>
                    </a:p>
                    <a:p>
                      <a:r>
                        <a:rPr lang="en-US" sz="1000" b="0" i="0" u="none" strike="noStrike" cap="none" baseline="0" dirty="0">
                          <a:solidFill>
                            <a:schemeClr val="dk1"/>
                          </a:solidFill>
                          <a:latin typeface="Arial"/>
                          <a:ea typeface="Arial"/>
                          <a:cs typeface="Arial"/>
                          <a:sym typeface="Arial"/>
                        </a:rPr>
                        <a:t>and which they have not. Make sure users know which links are internal anchor points versus</a:t>
                      </a:r>
                    </a:p>
                    <a:p>
                      <a:r>
                        <a:rPr lang="en-US" sz="1000" b="0" i="0" u="none" strike="noStrike" cap="none" baseline="0" dirty="0">
                          <a:solidFill>
                            <a:schemeClr val="dk1"/>
                          </a:solidFill>
                          <a:latin typeface="Arial"/>
                          <a:ea typeface="Arial"/>
                          <a:cs typeface="Arial"/>
                          <a:sym typeface="Arial"/>
                        </a:rPr>
                        <a:t>external links, and indicate if a link brings up a separate browser window from those that do not.</a:t>
                      </a:r>
                    </a:p>
                    <a:p>
                      <a:r>
                        <a:rPr lang="en-US" sz="1000" b="0" i="0" u="none" strike="noStrike" cap="none" baseline="0" dirty="0">
                          <a:solidFill>
                            <a:schemeClr val="dk1"/>
                          </a:solidFill>
                          <a:latin typeface="Arial"/>
                          <a:ea typeface="Arial"/>
                          <a:cs typeface="Arial"/>
                          <a:sym typeface="Arial"/>
                        </a:rPr>
                        <a:t>Finally, make sure link images and text provide enough information to users so that they understand</a:t>
                      </a:r>
                    </a:p>
                    <a:p>
                      <a:r>
                        <a:rPr lang="en-US" sz="1000" b="0" i="0" u="none" strike="noStrike" cap="none" baseline="0" dirty="0">
                          <a:solidFill>
                            <a:schemeClr val="dk1"/>
                          </a:solidFill>
                          <a:latin typeface="Arial"/>
                          <a:ea typeface="Arial"/>
                          <a:cs typeface="Arial"/>
                          <a:sym typeface="Arial"/>
                        </a:rPr>
                        <a:t>the meaning of the link.</a:t>
                      </a:r>
                      <a:endParaRPr lang="en-US" sz="1000" dirty="0"/>
                    </a:p>
                  </a:txBody>
                  <a:tcPr/>
                </a:tc>
                <a:extLst>
                  <a:ext uri="{0D108BD9-81ED-4DB2-BD59-A6C34878D82A}">
                    <a16:rowId xmlns:a16="http://schemas.microsoft.com/office/drawing/2014/main" val="2428922329"/>
                  </a:ext>
                </a:extLst>
              </a:tr>
              <a:tr h="226612">
                <a:tc>
                  <a:txBody>
                    <a:bodyPr/>
                    <a:lstStyle/>
                    <a:p>
                      <a:r>
                        <a:rPr lang="en-US" sz="1000" b="0" i="0" u="none" strike="noStrike" cap="none" baseline="0" dirty="0">
                          <a:solidFill>
                            <a:schemeClr val="dk1"/>
                          </a:solidFill>
                          <a:latin typeface="Arial"/>
                          <a:ea typeface="Arial"/>
                          <a:cs typeface="Arial"/>
                          <a:sym typeface="Arial"/>
                        </a:rPr>
                        <a:t>Buttons That Provide No Click Feedback</a:t>
                      </a:r>
                      <a:endParaRPr lang="en-US" sz="1000" dirty="0"/>
                    </a:p>
                  </a:txBody>
                  <a:tcPr/>
                </a:tc>
                <a:tc>
                  <a:txBody>
                    <a:bodyPr/>
                    <a:lstStyle/>
                    <a:p>
                      <a:r>
                        <a:rPr lang="en-US" sz="1000" b="0" i="0" u="none" strike="noStrike" cap="none" baseline="0" dirty="0">
                          <a:solidFill>
                            <a:schemeClr val="dk1"/>
                          </a:solidFill>
                          <a:latin typeface="Arial"/>
                          <a:ea typeface="Arial"/>
                          <a:cs typeface="Arial"/>
                          <a:sym typeface="Arial"/>
                        </a:rPr>
                        <a:t>Avoid using image buttons that don’t clearly change when being clicked; use Web GUI toolkit buttons,</a:t>
                      </a:r>
                    </a:p>
                    <a:p>
                      <a:r>
                        <a:rPr lang="en-US" sz="1000" b="0" i="0" u="none" strike="noStrike" cap="none" baseline="0" dirty="0">
                          <a:solidFill>
                            <a:schemeClr val="dk1"/>
                          </a:solidFill>
                          <a:latin typeface="Arial"/>
                          <a:ea typeface="Arial"/>
                          <a:cs typeface="Arial"/>
                          <a:sym typeface="Arial"/>
                        </a:rPr>
                        <a:t>HTML form-submit buttons, or simple textual links.</a:t>
                      </a:r>
                      <a:endParaRPr lang="en-US" sz="1000" dirty="0"/>
                    </a:p>
                  </a:txBody>
                  <a:tcPr/>
                </a:tc>
                <a:extLst>
                  <a:ext uri="{0D108BD9-81ED-4DB2-BD59-A6C34878D82A}">
                    <a16:rowId xmlns:a16="http://schemas.microsoft.com/office/drawing/2014/main" val="1477783867"/>
                  </a:ext>
                </a:extLst>
              </a:tr>
            </a:tbl>
          </a:graphicData>
        </a:graphic>
      </p:graphicFrame>
    </p:spTree>
    <p:extLst>
      <p:ext uri="{BB962C8B-B14F-4D97-AF65-F5344CB8AC3E}">
        <p14:creationId xmlns:p14="http://schemas.microsoft.com/office/powerpoint/2010/main" val="3476914616"/>
      </p:ext>
    </p:extLst>
  </p:cSld>
  <p:clrMapOvr>
    <a:masterClrMapping/>
  </p:clrMapOvr>
</p:sld>
</file>

<file path=ppt/theme/theme1.xml><?xml version="1.0" encoding="utf-8"?>
<a:theme xmlns:a="http://schemas.openxmlformats.org/drawingml/2006/main" name="1_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5" id="{C1D44C1E-9EBB-412A-BA0C-DCE179B6EC19}" vid="{3161DD84-284C-40F7-B4D0-8E6A5EB9A114}"/>
    </a:ext>
  </a:extLst>
</a:theme>
</file>

<file path=ppt/theme/theme2.xml><?xml version="1.0" encoding="utf-8"?>
<a:theme xmlns:a="http://schemas.openxmlformats.org/drawingml/2006/main" name="508 Lecture">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5" id="{C1D44C1E-9EBB-412A-BA0C-DCE179B6EC19}" vid="{BFC39A0E-65C1-4534-BBED-7B0D47F25E23}"/>
    </a:ext>
  </a:ext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ValacichTemplate</Template>
  <TotalTime>435</TotalTime>
  <Words>2157</Words>
  <Application>Microsoft Office PowerPoint</Application>
  <PresentationFormat>On-screen Show (4:3)</PresentationFormat>
  <Paragraphs>189</Paragraphs>
  <Slides>28</Slides>
  <Notes>1</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28</vt:i4>
      </vt:variant>
    </vt:vector>
  </HeadingPairs>
  <TitlesOfParts>
    <vt:vector size="34" baseType="lpstr">
      <vt:lpstr>Arial</vt:lpstr>
      <vt:lpstr>Noto Sans Symbols</vt:lpstr>
      <vt:lpstr>Times New Roman</vt:lpstr>
      <vt:lpstr>Verdana</vt:lpstr>
      <vt:lpstr>1_508 Lecture</vt:lpstr>
      <vt:lpstr>508 Lecture</vt:lpstr>
      <vt:lpstr>Week  10</vt:lpstr>
      <vt:lpstr>Introduction</vt:lpstr>
      <vt:lpstr>Interface Designs</vt:lpstr>
      <vt:lpstr>Interaction Methods and Devices</vt:lpstr>
      <vt:lpstr>Methods of Interacting</vt:lpstr>
      <vt:lpstr>Command Language Interaction</vt:lpstr>
      <vt:lpstr>Menu Interaction</vt:lpstr>
      <vt:lpstr>Figure 1: Various Types of Menu Configurations</vt:lpstr>
      <vt:lpstr>Pop-up Menu</vt:lpstr>
      <vt:lpstr>Table 1: Guidelines for Menu Design</vt:lpstr>
      <vt:lpstr>Figure 2:Contrasting Menu Designs (a) Poor Menu Design (b) Improved Menu Design</vt:lpstr>
      <vt:lpstr>Figure 3: Menu Building with Microsoft Visual Basic.NET</vt:lpstr>
      <vt:lpstr>Form Interaction</vt:lpstr>
      <vt:lpstr>Figure 4: Example of Form Interaction from the Google Advanced Search Engine</vt:lpstr>
      <vt:lpstr>Object-Based Interaction</vt:lpstr>
      <vt:lpstr>Figure 5: Object-Based (Icon) Interface from Microsoft’s Snipping Tool</vt:lpstr>
      <vt:lpstr>Natural Language Interaction</vt:lpstr>
      <vt:lpstr>Hardware Options for System Interaction</vt:lpstr>
      <vt:lpstr>Table 2: Common Devices for Interacting with an Information System</vt:lpstr>
      <vt:lpstr>Designing Interfaces</vt:lpstr>
      <vt:lpstr>Figure 6: Paper-Based Form for Reporting Customer Sales Activity (Pine Valley Furniture)</vt:lpstr>
      <vt:lpstr>Figure 7: Computer-Based Form Reporting Customer Sales Activity (Pine Valley Furniture)</vt:lpstr>
      <vt:lpstr>Figure 8: Contrasting the Navigation Flow Within a Data Entry Form (a) Proper Flow Between Data Entry Field (b) Poor Flow Between Data Entry Fields </vt:lpstr>
      <vt:lpstr>Table 3: Options for Entering or Selecting Text</vt:lpstr>
      <vt:lpstr>Table 4: Validation Tests and Techniques to Enhance the Validity of Data Input</vt:lpstr>
      <vt:lpstr>Providing Feedback</vt:lpstr>
      <vt:lpstr>Table 5: Examples of Poor and Improved Error Messages</vt:lpstr>
      <vt:lpstr>Table 6: Common Errors When Designing the Interface of Websites</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Modern Systems Analysis and Design</dc:title>
  <dc:subject>Psychology</dc:subject>
  <dc:creator>Harold Wise</dc:creator>
  <cp:keywords>Psychology</cp:keywords>
  <cp:lastModifiedBy>NURUL FAZMIDAR BINTI MOHD NOOR</cp:lastModifiedBy>
  <cp:revision>88</cp:revision>
  <dcterms:created xsi:type="dcterms:W3CDTF">2019-01-04T22:00:33Z</dcterms:created>
  <dcterms:modified xsi:type="dcterms:W3CDTF">2022-12-07T06:38:44Z</dcterms:modified>
</cp:coreProperties>
</file>