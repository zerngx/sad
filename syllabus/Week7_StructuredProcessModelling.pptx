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0"/>
  </p:notesMasterIdLst>
  <p:sldIdLst>
    <p:sldId id="346" r:id="rId2"/>
    <p:sldId id="347" r:id="rId3"/>
    <p:sldId id="348" r:id="rId4"/>
    <p:sldId id="261" r:id="rId5"/>
    <p:sldId id="302" r:id="rId6"/>
    <p:sldId id="262" r:id="rId7"/>
    <p:sldId id="303" r:id="rId8"/>
    <p:sldId id="263" r:id="rId9"/>
    <p:sldId id="304" r:id="rId10"/>
    <p:sldId id="305" r:id="rId11"/>
    <p:sldId id="306" r:id="rId12"/>
    <p:sldId id="307" r:id="rId13"/>
    <p:sldId id="265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267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271" r:id="rId33"/>
    <p:sldId id="325" r:id="rId34"/>
    <p:sldId id="272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276" r:id="rId44"/>
    <p:sldId id="334" r:id="rId45"/>
    <p:sldId id="335" r:id="rId46"/>
    <p:sldId id="336" r:id="rId47"/>
    <p:sldId id="279" r:id="rId48"/>
    <p:sldId id="282" r:id="rId49"/>
    <p:sldId id="283" r:id="rId50"/>
    <p:sldId id="284" r:id="rId51"/>
    <p:sldId id="285" r:id="rId52"/>
    <p:sldId id="286" r:id="rId53"/>
    <p:sldId id="337" r:id="rId54"/>
    <p:sldId id="288" r:id="rId55"/>
    <p:sldId id="338" r:id="rId56"/>
    <p:sldId id="339" r:id="rId57"/>
    <p:sldId id="340" r:id="rId58"/>
    <p:sldId id="341" r:id="rId59"/>
    <p:sldId id="342" r:id="rId60"/>
    <p:sldId id="291" r:id="rId61"/>
    <p:sldId id="292" r:id="rId62"/>
    <p:sldId id="343" r:id="rId63"/>
    <p:sldId id="344" r:id="rId64"/>
    <p:sldId id="345" r:id="rId65"/>
    <p:sldId id="294" r:id="rId66"/>
    <p:sldId id="298" r:id="rId67"/>
    <p:sldId id="299" r:id="rId68"/>
    <p:sldId id="300" r:id="rId6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26" y="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B1B86F0-4BF0-4AB1-8D00-73294BCC4E59}" type="datetimeFigureOut">
              <a:rPr lang="en-US"/>
              <a:pPr>
                <a:defRPr/>
              </a:pPr>
              <a:t>11/28/2022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9DC73F9-0F27-47EB-95CE-BE70BE1FF6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47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822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1E9ED7-396F-4C95-8895-D87E50BFABC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12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E7238E-A872-4F58-917C-01A8D0DA05B5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/>
              <a:t>4</a:t>
            </a: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6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2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solidFill>
            <a:srgbClr val="FFFFFF"/>
          </a:solidFill>
          <a:ln w="12700"/>
        </p:spPr>
      </p:sp>
      <p:sp>
        <p:nvSpPr>
          <p:cNvPr id="81928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0488" tIns="44450" rIns="90488" bIns="44450"/>
          <a:lstStyle/>
          <a:p>
            <a:pPr eaLnBrk="1" hangingPunct="1">
              <a:spcBef>
                <a:spcPct val="3000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31866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0C8185-D204-4DC7-8E53-03BC45D603B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7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7304C3-9D42-45B2-AA6C-8AB4DDDDF58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10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230B2D-3B26-45B5-B1D4-3F213B261EF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8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8BAA88-8CD3-4DA5-A475-D5D05F2E6F6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46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09ED68-59A1-4987-82BB-09A3EC1ECE2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01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C4C3D32-E6F6-4DF8-A1CF-79E328A0D1F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7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C91E6A-2E36-4A0B-BCEA-6456FB6B90B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71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913B9A-A979-4B94-98B4-93010FF3DD9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7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4F7981-298E-4E3D-A1EE-A5DFB6371D2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64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7E172F-6110-410D-B931-00B31565541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21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3B15A76-4650-4943-A1B0-ED7DC111DD1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27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498E6E-1D62-4A32-ADB2-5BB7E30C512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22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2D4D45-E9E7-4BFE-A205-EC98E956599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29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1D5917-289D-437D-ABF8-2E6128BB311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37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786B20-51C5-4B8D-A3B4-9993D489D79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9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DE774F-3AA5-46C4-9F3C-E3CDBF102EB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95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84AF45-D8DF-4F40-8B31-3CBDE2FDB55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92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CAE237-4D6B-41DB-8CF4-66CAC810965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44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0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F0CFA7-48B7-4249-9006-A759886442F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16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445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2303BE-D97E-42AB-BE59-AE9999980C0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90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engage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5970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0"/>
            <a:ext cx="7467600" cy="1447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1981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D7ED4-9D82-4E6E-B1E9-1E0A135129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274" y="3959224"/>
            <a:ext cx="2244725" cy="28987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18CF4-6215-4CC3-A61A-19A720782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6A47B-59FA-4976-B271-491AAEDCD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12896-8F85-417A-8A33-C03CEF2EEE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AEB0B-EFFD-452C-9A54-469397D11D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2818C-8E6D-40A0-83A7-5C13F06CA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BDBDD-C5FD-49ED-90E8-A85A15EAB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E14BBF-1B99-4476-8729-662C98AB96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C4870-4115-4529-ABD2-D92C21EAE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DF140-6CF2-43E7-944D-2C943C708C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0B75-9187-4468-94C3-7A8CB6F05E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BBAA3-FE5E-407D-B48F-02A4551EC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2346400"/>
            <a:ext cx="4371926" cy="42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928567"/>
            <a:ext cx="5391000" cy="39072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21683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6183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227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2/5/2009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EFC9519-73AB-4057-8406-ACAE930D26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buSzPct val="25000"/>
            </a:pPr>
            <a:r>
              <a:rPr lang="en-US" sz="4000" b="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7</a:t>
            </a:r>
            <a:r>
              <a:rPr lang="en-US" sz="4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40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latin typeface="+mj-lt"/>
              </a:rPr>
              <a:t/>
            </a:r>
            <a:br>
              <a:rPr lang="en-US" sz="3600" dirty="0">
                <a:latin typeface="+mj-lt"/>
              </a:rPr>
            </a:br>
            <a:endParaRPr lang="en-US" sz="3600" b="1" i="0" u="none" strike="noStrike" cap="none" dirty="0">
              <a:solidFill>
                <a:srgbClr val="007FA3"/>
              </a:solidFill>
              <a:latin typeface="+mj-lt"/>
              <a:sym typeface="Times New Roman"/>
            </a:endParaRPr>
          </a:p>
        </p:txBody>
      </p:sp>
      <p:sp>
        <p:nvSpPr>
          <p:cNvPr id="199" name="Shape 199"/>
          <p:cNvSpPr txBox="1">
            <a:spLocks noGrp="1"/>
          </p:cNvSpPr>
          <p:nvPr>
            <p:ph type="body" idx="4294967295"/>
          </p:nvPr>
        </p:nvSpPr>
        <p:spPr>
          <a:xfrm>
            <a:off x="838200" y="1752600"/>
            <a:ext cx="4038600" cy="29257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007FA3"/>
              </a:buClr>
              <a:buSzPct val="25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 System Process Requirements</a:t>
            </a:r>
          </a:p>
        </p:txBody>
      </p:sp>
    </p:spTree>
    <p:extLst>
      <p:ext uri="{BB962C8B-B14F-4D97-AF65-F5344CB8AC3E}">
        <p14:creationId xmlns:p14="http://schemas.microsoft.com/office/powerpoint/2010/main" val="389382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86232" indent="-514350"/>
            <a:r>
              <a:rPr lang="en-US" sz="2800" dirty="0"/>
              <a:t>Process modeling – graphically representing functions, processes that capture, manipulate, store, and distribute data between a system and components within a system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Data flow diagram (DFD) </a:t>
            </a:r>
            <a:r>
              <a:rPr lang="en-US" sz="2800" dirty="0"/>
              <a:t>– picture of the movement of data between external entities and the processes and data stores within a system.</a:t>
            </a:r>
          </a:p>
        </p:txBody>
      </p:sp>
    </p:spTree>
    <p:extLst>
      <p:ext uri="{BB962C8B-B14F-4D97-AF65-F5344CB8AC3E}">
        <p14:creationId xmlns:p14="http://schemas.microsoft.com/office/powerpoint/2010/main" val="257139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C9160A-7784-4447-A258-DBFC084C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8375515" cy="1094362"/>
          </a:xfrm>
        </p:spPr>
        <p:txBody>
          <a:bodyPr/>
          <a:lstStyle/>
          <a:p>
            <a:r>
              <a:rPr lang="en-US" sz="3200" dirty="0"/>
              <a:t>Figure </a:t>
            </a:r>
            <a:r>
              <a:rPr lang="en-US" sz="3200" dirty="0" smtClean="0"/>
              <a:t>1</a:t>
            </a:r>
            <a:r>
              <a:rPr lang="en-US" sz="3200" dirty="0"/>
              <a:t>: Systems Development Life Cycle with the Analysis Phase Highlighted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xmlns="" id="{81D4438F-EEA3-4125-8097-5900E180F27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876353" y="1555750"/>
            <a:ext cx="7391293" cy="3392488"/>
          </a:xfrm>
        </p:spPr>
      </p:pic>
      <p:sp>
        <p:nvSpPr>
          <p:cNvPr id="3" name="TextBox 2"/>
          <p:cNvSpPr txBox="1"/>
          <p:nvPr/>
        </p:nvSpPr>
        <p:spPr>
          <a:xfrm>
            <a:off x="853204" y="5638800"/>
            <a:ext cx="621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smtClean="0"/>
              <a:t>Used </a:t>
            </a:r>
            <a:r>
              <a:rPr lang="en-US" dirty="0"/>
              <a:t>Data and Process Modeling Tools</a:t>
            </a:r>
            <a:r>
              <a:rPr lang="en-MY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0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Overview of Data and Process Modeling Tools</a:t>
            </a:r>
          </a:p>
        </p:txBody>
      </p:sp>
      <p:sp>
        <p:nvSpPr>
          <p:cNvPr id="2355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sz="2800" dirty="0" smtClean="0"/>
              <a:t>Systems analysts use many graphical techniques to describe an information system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sz="2800" dirty="0" smtClean="0"/>
              <a:t>One of popular method data and modeling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US" sz="2800" dirty="0" smtClean="0"/>
              <a:t>Data and modeling process involves three tools:</a:t>
            </a:r>
          </a:p>
          <a:p>
            <a:pPr marL="914400" indent="-449263" algn="just">
              <a:buFont typeface="Wingdings" pitchFamily="2" charset="2"/>
              <a:buAutoNum type="arabicPeriod"/>
              <a:defRPr/>
            </a:pPr>
            <a:r>
              <a:rPr lang="en-US" sz="2800" dirty="0" smtClean="0"/>
              <a:t>Data Flow Diagrams</a:t>
            </a:r>
          </a:p>
          <a:p>
            <a:pPr marL="914400" indent="-449263" algn="just">
              <a:buFont typeface="Wingdings" pitchFamily="2" charset="2"/>
              <a:buAutoNum type="arabicPeriod"/>
              <a:defRPr/>
            </a:pPr>
            <a:r>
              <a:rPr lang="en-US" sz="2800" dirty="0" smtClean="0"/>
              <a:t>Data Dictionary</a:t>
            </a:r>
          </a:p>
          <a:p>
            <a:pPr marL="914400" indent="-449263" algn="just">
              <a:buFont typeface="Wingdings" pitchFamily="2" charset="2"/>
              <a:buAutoNum type="arabicPeriod"/>
              <a:defRPr/>
            </a:pPr>
            <a:r>
              <a:rPr lang="en-US" sz="2800" dirty="0" smtClean="0"/>
              <a:t>Process Descriptions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 smtClean="0"/>
              <a:t>Other graphical tools: object models and Entity-relationship Diagrams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71DF77-578C-4005-BB2E-C5228CAB97BE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Overview of Data and Process Modeling Tools</a:t>
            </a:r>
          </a:p>
        </p:txBody>
      </p:sp>
      <p:sp>
        <p:nvSpPr>
          <p:cNvPr id="6147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381000" y="1292225"/>
            <a:ext cx="8305800" cy="4673600"/>
          </a:xfrm>
        </p:spPr>
        <p:txBody>
          <a:bodyPr/>
          <a:lstStyle/>
          <a:p>
            <a:pPr marL="465138" indent="-465138" algn="just">
              <a:buFont typeface="Arial" pitchFamily="34" charset="0"/>
              <a:buChar char="•"/>
              <a:defRPr/>
            </a:pPr>
            <a:r>
              <a:rPr lang="en-US" sz="2800" b="1" dirty="0" smtClean="0"/>
              <a:t>Data Flow Diagrams</a:t>
            </a:r>
          </a:p>
          <a:p>
            <a:pPr marL="465138" indent="-465138" algn="just">
              <a:buFont typeface="Wingdings" pitchFamily="2" charset="2"/>
              <a:buNone/>
              <a:defRPr/>
            </a:pPr>
            <a:r>
              <a:rPr lang="en-US" sz="2800" b="0" dirty="0" smtClean="0"/>
              <a:t>	Diagrams that shows how the systems stores, processes and transforms data into useful information</a:t>
            </a:r>
          </a:p>
          <a:p>
            <a:pPr marL="465138" indent="-465138" algn="just">
              <a:buFont typeface="Arial" pitchFamily="34" charset="0"/>
              <a:buChar char="•"/>
              <a:defRPr/>
            </a:pPr>
            <a:r>
              <a:rPr lang="en-US" sz="2800" b="1" dirty="0" smtClean="0"/>
              <a:t>Data Dictionary</a:t>
            </a:r>
          </a:p>
          <a:p>
            <a:pPr marL="465138" indent="-465138" algn="just">
              <a:buFont typeface="Wingdings" pitchFamily="2" charset="2"/>
              <a:buNone/>
              <a:defRPr/>
            </a:pPr>
            <a:r>
              <a:rPr lang="en-US" sz="2800" b="0" dirty="0" smtClean="0"/>
              <a:t>	A central storehouse of information about a system’s data.</a:t>
            </a:r>
          </a:p>
          <a:p>
            <a:pPr marL="465138" indent="-465138" algn="just">
              <a:buFont typeface="Arial" pitchFamily="34" charset="0"/>
              <a:buChar char="•"/>
              <a:defRPr/>
            </a:pPr>
            <a:r>
              <a:rPr lang="en-US" sz="2800" b="1" dirty="0" smtClean="0"/>
              <a:t>Process Descriptions</a:t>
            </a:r>
          </a:p>
          <a:p>
            <a:pPr marL="465138" indent="-465138" algn="just">
              <a:buFont typeface="Wingdings" pitchFamily="2" charset="2"/>
              <a:buNone/>
              <a:defRPr/>
            </a:pPr>
            <a:r>
              <a:rPr lang="en-US" sz="2800" b="0" dirty="0" smtClean="0"/>
              <a:t>	A documentation of a functional primitive's details, which represents a specific set of processing steps and business logic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Flow Diagrams</a:t>
            </a:r>
          </a:p>
        </p:txBody>
      </p:sp>
      <p:sp>
        <p:nvSpPr>
          <p:cNvPr id="25602" name="Tex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A data flow diagram (DFD) </a:t>
            </a:r>
            <a:r>
              <a:rPr lang="en-US" b="1" dirty="0" smtClean="0"/>
              <a:t>shows how data moves</a:t>
            </a:r>
            <a:r>
              <a:rPr lang="en-US" dirty="0" smtClean="0"/>
              <a:t> through an information system but does not show program logic or processing steps</a:t>
            </a:r>
          </a:p>
          <a:p>
            <a:pPr eaLnBrk="1" hangingPunct="1"/>
            <a:r>
              <a:rPr lang="en-US" dirty="0" smtClean="0"/>
              <a:t>A set of DFDs provides a logical model that shows </a:t>
            </a:r>
            <a:r>
              <a:rPr lang="en-US" b="1" i="1" dirty="0" smtClean="0"/>
              <a:t>what</a:t>
            </a:r>
            <a:r>
              <a:rPr lang="en-US" dirty="0" smtClean="0"/>
              <a:t> the system does, not </a:t>
            </a:r>
            <a:r>
              <a:rPr lang="en-US" i="1" dirty="0" smtClean="0"/>
              <a:t>how</a:t>
            </a:r>
            <a:r>
              <a:rPr lang="en-US" dirty="0" smtClean="0"/>
              <a:t> it does it</a:t>
            </a:r>
          </a:p>
          <a:p>
            <a:pPr eaLnBrk="1" hangingPunct="1"/>
            <a:r>
              <a:rPr lang="en-US" dirty="0" smtClean="0"/>
              <a:t>A DFD uses various symbols to show how the system transforms input data into useful information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68B98E-71AE-4DEF-9234-A6577275C69A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</a:t>
            </a:r>
          </a:p>
          <a:p>
            <a:pPr>
              <a:buFont typeface="Wingdings" pitchFamily="2" charset="2"/>
              <a:buNone/>
            </a:pPr>
            <a:endParaRPr lang="en-US" sz="800" b="0" dirty="0" smtClean="0"/>
          </a:p>
          <a:p>
            <a:r>
              <a:rPr lang="en-US" b="0" dirty="0" smtClean="0"/>
              <a:t>Four basic symbols that represents </a:t>
            </a:r>
            <a:r>
              <a:rPr lang="en-US" b="0" i="1" dirty="0" smtClean="0"/>
              <a:t>processes</a:t>
            </a:r>
            <a:r>
              <a:rPr lang="en-US" b="0" dirty="0" smtClean="0"/>
              <a:t>, </a:t>
            </a:r>
            <a:r>
              <a:rPr lang="en-US" b="0" i="1" dirty="0" smtClean="0"/>
              <a:t>data flows</a:t>
            </a:r>
            <a:r>
              <a:rPr lang="en-US" b="0" dirty="0" smtClean="0"/>
              <a:t>, </a:t>
            </a:r>
            <a:r>
              <a:rPr lang="en-US" b="0" i="1" dirty="0" smtClean="0"/>
              <a:t>data stores</a:t>
            </a:r>
            <a:r>
              <a:rPr lang="en-US" b="0" dirty="0" smtClean="0"/>
              <a:t>, and </a:t>
            </a:r>
            <a:r>
              <a:rPr lang="en-US" b="0" i="1" dirty="0" smtClean="0"/>
              <a:t>entities</a:t>
            </a:r>
            <a:r>
              <a:rPr lang="en-US" b="0" dirty="0" smtClean="0"/>
              <a:t>.</a:t>
            </a:r>
          </a:p>
          <a:p>
            <a:endParaRPr lang="en-US" sz="800" b="0" dirty="0" smtClean="0"/>
          </a:p>
          <a:p>
            <a:r>
              <a:rPr lang="en-US" b="0" dirty="0" smtClean="0"/>
              <a:t>There are several versions of DFD symbols exists, but they all serve the same purpose.</a:t>
            </a:r>
          </a:p>
          <a:p>
            <a:endParaRPr lang="en-US" sz="800" b="0" dirty="0" smtClean="0"/>
          </a:p>
          <a:p>
            <a:r>
              <a:rPr lang="en-US" b="0" dirty="0" smtClean="0"/>
              <a:t>Examples: </a:t>
            </a:r>
            <a:r>
              <a:rPr lang="en-US" dirty="0" err="1" smtClean="0"/>
              <a:t>Gane</a:t>
            </a:r>
            <a:r>
              <a:rPr lang="en-US" dirty="0" smtClean="0"/>
              <a:t> and </a:t>
            </a:r>
            <a:r>
              <a:rPr lang="en-US" dirty="0" err="1" smtClean="0"/>
              <a:t>Sarson</a:t>
            </a:r>
            <a:r>
              <a:rPr lang="en-US" dirty="0" smtClean="0"/>
              <a:t> </a:t>
            </a:r>
            <a:r>
              <a:rPr lang="en-US" b="0" dirty="0" smtClean="0"/>
              <a:t>and Yourdon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Flow Diagrams</a:t>
            </a:r>
          </a:p>
        </p:txBody>
      </p:sp>
      <p:sp>
        <p:nvSpPr>
          <p:cNvPr id="27650" name="Tex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eaLnBrk="1" hangingPunct="1"/>
            <a:r>
              <a:rPr lang="en-US" dirty="0" smtClean="0"/>
              <a:t>DFD Symbols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9ED96A-16D6-48A2-AFE0-9F68CF142EB0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052" y="1752600"/>
            <a:ext cx="545821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Process Symbol</a:t>
            </a:r>
          </a:p>
          <a:p>
            <a:pPr>
              <a:buFont typeface="Wingdings" pitchFamily="2" charset="2"/>
              <a:buNone/>
            </a:pPr>
            <a:endParaRPr lang="en-US" sz="1000" dirty="0" smtClean="0"/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dirty="0" smtClean="0"/>
              <a:t>A rectangle with rounded corners</a:t>
            </a:r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dirty="0" smtClean="0"/>
              <a:t>The name of the process appears inside the rectangle.</a:t>
            </a:r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dirty="0" smtClean="0"/>
              <a:t>The process name identifies a specific function</a:t>
            </a:r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b="1" dirty="0" smtClean="0"/>
              <a:t>Examples:</a:t>
            </a:r>
            <a:r>
              <a:rPr lang="en-US" dirty="0" smtClean="0"/>
              <a:t> APPLY RENT PAYMENT, CALCULATE COMMISION, VERIFY ORDER</a:t>
            </a: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609600"/>
            <a:ext cx="14478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800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Process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471488" lvl="2" indent="-471488" algn="just"/>
            <a:r>
              <a:rPr lang="en-US" sz="2800" b="1" dirty="0" smtClean="0"/>
              <a:t>Receives input data</a:t>
            </a:r>
            <a:r>
              <a:rPr lang="en-US" sz="2800" dirty="0" smtClean="0"/>
              <a:t> and </a:t>
            </a:r>
            <a:r>
              <a:rPr lang="en-US" sz="2800" b="1" dirty="0" smtClean="0"/>
              <a:t>produces output </a:t>
            </a:r>
            <a:r>
              <a:rPr lang="en-US" sz="2800" dirty="0" smtClean="0"/>
              <a:t>that has a different content, form, or both</a:t>
            </a:r>
          </a:p>
          <a:p>
            <a:pPr marL="471488" lvl="2" indent="-471488" algn="just"/>
            <a:r>
              <a:rPr lang="en-US" sz="2800" dirty="0" smtClean="0"/>
              <a:t>A process can be </a:t>
            </a:r>
            <a:r>
              <a:rPr lang="en-US" sz="2800" b="1" dirty="0" smtClean="0"/>
              <a:t>procedure or algorithm</a:t>
            </a:r>
          </a:p>
          <a:p>
            <a:pPr marL="471488" lvl="2" indent="-471488" algn="just"/>
            <a:r>
              <a:rPr lang="en-US" sz="2800" b="1" dirty="0" smtClean="0"/>
              <a:t>Contain the business logic</a:t>
            </a:r>
            <a:r>
              <a:rPr lang="en-US" sz="2800" dirty="0" smtClean="0"/>
              <a:t>, also called business rules</a:t>
            </a:r>
          </a:p>
          <a:p>
            <a:pPr marL="471488" lvl="2" indent="-471488" algn="just"/>
            <a:r>
              <a:rPr lang="en-US" sz="2800" dirty="0" smtClean="0"/>
              <a:t>Referred to as a </a:t>
            </a:r>
            <a:r>
              <a:rPr lang="en-US" sz="2800" b="1" dirty="0" smtClean="0"/>
              <a:t>black box </a:t>
            </a:r>
            <a:r>
              <a:rPr lang="en-US" sz="2800" dirty="0" smtClean="0"/>
              <a:t>(because the underlying details and logic of the process are hidden)</a:t>
            </a:r>
          </a:p>
          <a:p>
            <a:pPr marL="471488" lvl="2" indent="-471488" algn="just"/>
            <a:r>
              <a:rPr lang="en-US" sz="2800" dirty="0" smtClean="0"/>
              <a:t>To show additional levels of detail, can zoom in on a process symbol and create a more in-depth DFD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61125" y="649288"/>
            <a:ext cx="14478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062913" cy="48387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Data Flow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465138" lvl="2" indent="-465138"/>
            <a:r>
              <a:rPr lang="en-US" sz="2800" dirty="0" smtClean="0"/>
              <a:t>A data flow is a path for data </a:t>
            </a:r>
            <a:r>
              <a:rPr lang="en-US" sz="2800" b="1" dirty="0" smtClean="0"/>
              <a:t>to move</a:t>
            </a:r>
            <a:r>
              <a:rPr lang="en-US" sz="2800" dirty="0" smtClean="0"/>
              <a:t> from one path of the IS to another</a:t>
            </a:r>
          </a:p>
          <a:p>
            <a:pPr marL="465138" lvl="2" indent="-465138"/>
            <a:r>
              <a:rPr lang="en-US" sz="2800" dirty="0" smtClean="0"/>
              <a:t>It represents data movement among processes, data stores and external entities.</a:t>
            </a:r>
          </a:p>
          <a:p>
            <a:pPr marL="465138" lvl="2" indent="-465138"/>
            <a:r>
              <a:rPr lang="en-US" sz="2800" dirty="0" smtClean="0"/>
              <a:t>A line with a single or double arrowhead</a:t>
            </a:r>
          </a:p>
          <a:p>
            <a:pPr marL="465138" lvl="2" indent="-465138"/>
            <a:r>
              <a:rPr lang="en-US" sz="2800" dirty="0" smtClean="0"/>
              <a:t>Data flow name appears above, below, or alongside the line</a:t>
            </a:r>
          </a:p>
          <a:p>
            <a:pPr marL="465138" lvl="2" indent="-465138"/>
            <a:r>
              <a:rPr lang="en-US" sz="2800" dirty="0" smtClean="0"/>
              <a:t>Examples:  DEPOSIT, INVOICE, PAYMENT, STUDENT GRADE, ORDER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Diagrams</a:t>
            </a:r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7925" y="1449388"/>
            <a:ext cx="208597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153399" cy="47625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DFD Symbols: Data Flow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465138" lvl="2" indent="-465138" algn="just"/>
            <a:r>
              <a:rPr lang="en-US" sz="2800" dirty="0" smtClean="0"/>
              <a:t>Represents </a:t>
            </a:r>
            <a:r>
              <a:rPr lang="en-US" sz="2800" b="1" dirty="0" smtClean="0"/>
              <a:t>one or more data </a:t>
            </a:r>
            <a:r>
              <a:rPr lang="en-US" sz="2800" dirty="0" smtClean="0"/>
              <a:t>items. Example: single data item (student ID Number) or include a set of data (such as class roster with student ID numbers and names)</a:t>
            </a:r>
          </a:p>
          <a:p>
            <a:pPr marL="465138" lvl="2" indent="-465138" algn="just"/>
            <a:r>
              <a:rPr lang="en-US" sz="2800" dirty="0" smtClean="0"/>
              <a:t>Does not show the detailed content (included in data dictionary)</a:t>
            </a:r>
          </a:p>
          <a:p>
            <a:pPr marL="465138" lvl="2" indent="-465138" algn="just"/>
            <a:r>
              <a:rPr lang="en-US" sz="2800" dirty="0" smtClean="0"/>
              <a:t>At least </a:t>
            </a:r>
            <a:r>
              <a:rPr lang="en-US" sz="2800" b="1" dirty="0" smtClean="0"/>
              <a:t>one data flow must enter </a:t>
            </a:r>
            <a:r>
              <a:rPr lang="en-US" sz="2800" dirty="0" smtClean="0"/>
              <a:t>and </a:t>
            </a:r>
            <a:r>
              <a:rPr lang="en-US" sz="2800" b="1" dirty="0" smtClean="0"/>
              <a:t>one data flow must exit</a:t>
            </a:r>
            <a:r>
              <a:rPr lang="en-US" sz="2800" dirty="0" smtClean="0"/>
              <a:t> each process symbol</a:t>
            </a:r>
          </a:p>
          <a:p>
            <a:pPr marL="465138" lvl="2" indent="-465138" algn="just"/>
            <a:r>
              <a:rPr lang="en-US" sz="2800" b="1" dirty="0" smtClean="0"/>
              <a:t>Must have a process symbol </a:t>
            </a:r>
            <a:r>
              <a:rPr lang="en-US" sz="2800" dirty="0" smtClean="0"/>
              <a:t>on at least one end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DFD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5063C-84E8-4FE3-8B34-CB9AFE3C6D37}" type="slidenum">
              <a:rPr lang="en-US"/>
              <a:pPr>
                <a:defRPr/>
              </a:pPr>
              <a:t>13</a:t>
            </a:fld>
            <a:endParaRPr lang="en-US"/>
          </a:p>
        </p:txBody>
      </p:sp>
      <p:pic>
        <p:nvPicPr>
          <p:cNvPr id="3174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81200" y="609600"/>
            <a:ext cx="5943600" cy="5656969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498600"/>
            <a:ext cx="7685088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Data Flow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0" lvl="1" indent="0">
              <a:buFont typeface="Arial" pitchFamily="34" charset="0"/>
              <a:buNone/>
            </a:pPr>
            <a:r>
              <a:rPr lang="en-US" sz="2400" dirty="0" smtClean="0"/>
              <a:t>Three data flow and process combinations you must AVOID (p153):</a:t>
            </a:r>
          </a:p>
          <a:p>
            <a:pPr marL="0" lvl="1" indent="0">
              <a:buFont typeface="Arial" pitchFamily="34" charset="0"/>
              <a:buNone/>
            </a:pPr>
            <a:endParaRPr lang="en-US" sz="800" dirty="0" smtClean="0"/>
          </a:p>
          <a:p>
            <a:pPr marL="465138" lvl="2" indent="-465138"/>
            <a:r>
              <a:rPr lang="en-US" b="1" dirty="0" smtClean="0"/>
              <a:t>Spontaneous generation</a:t>
            </a:r>
          </a:p>
          <a:p>
            <a:pPr marL="465138" lvl="2" indent="-465138">
              <a:buFontTx/>
              <a:buNone/>
            </a:pPr>
            <a:r>
              <a:rPr lang="en-US" dirty="0" smtClean="0"/>
              <a:t>	No input data flow</a:t>
            </a:r>
          </a:p>
          <a:p>
            <a:pPr marL="465138" lvl="2" indent="-465138"/>
            <a:r>
              <a:rPr lang="en-US" b="1" dirty="0" smtClean="0"/>
              <a:t>Black hole</a:t>
            </a:r>
          </a:p>
          <a:p>
            <a:pPr marL="465138" lvl="2" indent="-465138">
              <a:buFontTx/>
              <a:buNone/>
            </a:pPr>
            <a:r>
              <a:rPr lang="en-US" dirty="0" smtClean="0"/>
              <a:t>	Produces no output data flow</a:t>
            </a:r>
          </a:p>
          <a:p>
            <a:pPr marL="465138" lvl="2" indent="-465138"/>
            <a:r>
              <a:rPr lang="en-US" b="1" dirty="0" smtClean="0"/>
              <a:t>Gray hole</a:t>
            </a:r>
          </a:p>
          <a:p>
            <a:pPr marL="465138" lvl="2" indent="-465138">
              <a:buFontTx/>
              <a:buNone/>
            </a:pPr>
            <a:r>
              <a:rPr lang="en-US" dirty="0" smtClean="0"/>
              <a:t>	Has at least one input and one output but the input obviously is insufficient to generate the output shown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8600"/>
            <a:ext cx="7845425" cy="49307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Data Store Symbol</a:t>
            </a:r>
          </a:p>
          <a:p>
            <a:pPr>
              <a:buFont typeface="Wingdings" pitchFamily="2" charset="2"/>
              <a:buNone/>
            </a:pPr>
            <a:endParaRPr lang="en-US" sz="1000" dirty="0" smtClean="0"/>
          </a:p>
          <a:p>
            <a:pPr marL="465138" lvl="1" indent="-465138" algn="just">
              <a:buFont typeface="Arial" pitchFamily="34" charset="0"/>
              <a:buChar char="•"/>
            </a:pPr>
            <a:endParaRPr lang="en-US" dirty="0" smtClean="0"/>
          </a:p>
          <a:p>
            <a:pPr marL="465138" lvl="1" indent="-465138" algn="just">
              <a:buFont typeface="Arial" pitchFamily="34" charset="0"/>
              <a:buChar char="•"/>
            </a:pPr>
            <a:endParaRPr lang="en-US" sz="1000" dirty="0" smtClean="0"/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dirty="0" smtClean="0"/>
              <a:t>A flat rectangle that is open on the right side and closed on the left side.</a:t>
            </a:r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dirty="0" smtClean="0"/>
              <a:t>The name appear </a:t>
            </a:r>
            <a:r>
              <a:rPr lang="en-US" b="1" dirty="0" smtClean="0"/>
              <a:t>between the lines </a:t>
            </a:r>
            <a:r>
              <a:rPr lang="en-US" dirty="0" smtClean="0"/>
              <a:t>and identifies the data it contains</a:t>
            </a:r>
          </a:p>
          <a:p>
            <a:pPr marL="465138" lvl="1" indent="-465138" algn="just">
              <a:buFont typeface="Arial" pitchFamily="34" charset="0"/>
              <a:buChar char="•"/>
            </a:pPr>
            <a:r>
              <a:rPr lang="en-US" b="1" dirty="0" smtClean="0"/>
              <a:t>Examples: </a:t>
            </a:r>
            <a:r>
              <a:rPr lang="en-US" dirty="0" smtClean="0"/>
              <a:t>STUDENTS, PRODUCTS, DAILY PAYMENTS, PURCHASE ORDERS</a:t>
            </a:r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62313" y="2060575"/>
            <a:ext cx="20669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46704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Data Store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465138" lvl="2" indent="-465138" algn="just"/>
            <a:r>
              <a:rPr lang="en-US" dirty="0" smtClean="0"/>
              <a:t>A data store is used </a:t>
            </a:r>
            <a:r>
              <a:rPr lang="en-US" b="1" dirty="0" smtClean="0"/>
              <a:t>to represent data </a:t>
            </a:r>
            <a:r>
              <a:rPr lang="en-US" dirty="0" smtClean="0"/>
              <a:t>that the system stores because one or more processes need to use the data at a later time</a:t>
            </a:r>
          </a:p>
          <a:p>
            <a:pPr marL="465138" lvl="2" indent="-465138" algn="just"/>
            <a:r>
              <a:rPr lang="en-US" dirty="0" smtClean="0"/>
              <a:t>Represents </a:t>
            </a:r>
            <a:r>
              <a:rPr lang="en-US" b="1" dirty="0" smtClean="0"/>
              <a:t>a file or part of database</a:t>
            </a:r>
          </a:p>
          <a:p>
            <a:pPr marL="465138" lvl="2" indent="-465138" algn="just"/>
            <a:r>
              <a:rPr lang="en-US" dirty="0" smtClean="0"/>
              <a:t>Does not show the detailed content (included in data dictionary)</a:t>
            </a:r>
          </a:p>
          <a:p>
            <a:pPr marL="465138" lvl="2" indent="-465138" algn="just"/>
            <a:r>
              <a:rPr lang="en-US" dirty="0" smtClean="0"/>
              <a:t>Data store </a:t>
            </a:r>
            <a:r>
              <a:rPr lang="en-US" b="1" dirty="0" smtClean="0"/>
              <a:t>must be connected to a process with data flow</a:t>
            </a:r>
          </a:p>
          <a:p>
            <a:pPr marL="465138" lvl="2" indent="-465138" algn="just"/>
            <a:r>
              <a:rPr lang="en-US" dirty="0" smtClean="0"/>
              <a:t>Must have at least </a:t>
            </a:r>
            <a:r>
              <a:rPr lang="en-US" b="1" dirty="0" smtClean="0"/>
              <a:t>one incoming and one outgoing </a:t>
            </a:r>
            <a:r>
              <a:rPr lang="en-US" dirty="0" smtClean="0"/>
              <a:t>data flow</a:t>
            </a:r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457200"/>
            <a:ext cx="20669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 descr="C:\renger\fall06\proj\sad7e\chapter4\CHAP04StudyTool_files\proj4\43F04-0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209800"/>
            <a:ext cx="5794555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2275" y="1484313"/>
            <a:ext cx="7807325" cy="5003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Data Store Symbol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98600"/>
            <a:ext cx="7724775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Entity Symbol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 marL="471488" lvl="2" indent="-471488"/>
            <a:r>
              <a:rPr lang="en-US" sz="2800" dirty="0" smtClean="0"/>
              <a:t>Rectangle, which may be shaded to make it look three-dimensional</a:t>
            </a:r>
          </a:p>
          <a:p>
            <a:pPr marL="471488" lvl="2" indent="-471488"/>
            <a:r>
              <a:rPr lang="en-US" sz="2800" dirty="0" smtClean="0"/>
              <a:t>The name of the entity appears inside the  symbol</a:t>
            </a:r>
          </a:p>
          <a:p>
            <a:pPr marL="471488" lvl="2" indent="-471488"/>
            <a:r>
              <a:rPr lang="en-US" sz="2800" dirty="0" smtClean="0"/>
              <a:t>Examples: </a:t>
            </a:r>
            <a:r>
              <a:rPr lang="en-US" sz="2800" b="1" dirty="0" smtClean="0"/>
              <a:t>Patient, Customer</a:t>
            </a: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30963" y="1041400"/>
            <a:ext cx="1246187" cy="119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8600"/>
            <a:ext cx="7758113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DFD Symbols: Entity Symbol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 marL="471488" lvl="2" indent="-471488"/>
            <a:r>
              <a:rPr lang="en-US" dirty="0" smtClean="0"/>
              <a:t>Shows only </a:t>
            </a:r>
            <a:r>
              <a:rPr lang="en-US" b="1" dirty="0" smtClean="0"/>
              <a:t>external entities </a:t>
            </a:r>
            <a:r>
              <a:rPr lang="en-US" dirty="0" smtClean="0"/>
              <a:t>that provide data to the system or receive output from the system</a:t>
            </a:r>
          </a:p>
          <a:p>
            <a:pPr marL="471488" lvl="2" indent="-471488"/>
            <a:r>
              <a:rPr lang="en-US" dirty="0" smtClean="0"/>
              <a:t>Entity names can be a department, outside organization, other IS or a person</a:t>
            </a:r>
          </a:p>
          <a:p>
            <a:pPr marL="471488" lvl="2" indent="-471488"/>
            <a:endParaRPr lang="en-US" sz="900" dirty="0" smtClean="0"/>
          </a:p>
          <a:p>
            <a:pPr marL="471488" lvl="2" indent="-471488">
              <a:buFontTx/>
              <a:buNone/>
            </a:pPr>
            <a:r>
              <a:rPr lang="en-US" dirty="0" smtClean="0"/>
              <a:t>Reminder:</a:t>
            </a:r>
          </a:p>
          <a:p>
            <a:pPr marL="471488" lvl="2" indent="-471488"/>
            <a:r>
              <a:rPr lang="en-US" sz="2000" dirty="0" smtClean="0"/>
              <a:t>Entity:  A person, place, thing, or event for which data is collected and maintained</a:t>
            </a:r>
          </a:p>
          <a:p>
            <a:pPr marL="471488" lvl="2" indent="-471488"/>
            <a:r>
              <a:rPr lang="en-US" sz="2000" dirty="0" smtClean="0"/>
              <a:t>External Entity: is outside the system boundary but supplies input or accepts output.</a:t>
            </a:r>
          </a:p>
        </p:txBody>
      </p:sp>
      <p:pic>
        <p:nvPicPr>
          <p:cNvPr id="2458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228600"/>
            <a:ext cx="1601787" cy="153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498600"/>
            <a:ext cx="7627938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DFD Symbols: Entity Symbol</a:t>
            </a:r>
          </a:p>
          <a:p>
            <a:pPr>
              <a:buFont typeface="Wingdings" pitchFamily="2" charset="2"/>
              <a:buNone/>
            </a:pPr>
            <a:endParaRPr lang="en-US" sz="800" dirty="0" smtClean="0"/>
          </a:p>
          <a:p>
            <a:pPr>
              <a:buFont typeface="Wingdings" pitchFamily="2" charset="2"/>
              <a:buNone/>
            </a:pPr>
            <a:r>
              <a:rPr lang="en-US" sz="2400" b="0" dirty="0" smtClean="0"/>
              <a:t>Entity Symbol also are called</a:t>
            </a:r>
          </a:p>
          <a:p>
            <a:pPr>
              <a:buFont typeface="Wingdings" pitchFamily="2" charset="2"/>
              <a:buNone/>
            </a:pPr>
            <a:endParaRPr lang="en-US" sz="800" b="0" dirty="0" smtClean="0"/>
          </a:p>
          <a:p>
            <a:pPr marL="471488" lvl="2"/>
            <a:r>
              <a:rPr lang="en-US" b="1" dirty="0" smtClean="0"/>
              <a:t>Terminators</a:t>
            </a:r>
            <a:r>
              <a:rPr lang="en-US" dirty="0" smtClean="0"/>
              <a:t>: Data origins or final destinations</a:t>
            </a:r>
          </a:p>
          <a:p>
            <a:pPr marL="471488" lvl="2"/>
            <a:r>
              <a:rPr lang="en-US" b="1" dirty="0" smtClean="0"/>
              <a:t>Source</a:t>
            </a:r>
            <a:r>
              <a:rPr lang="en-US" dirty="0" smtClean="0"/>
              <a:t>: Entity that supplies data to the system</a:t>
            </a:r>
          </a:p>
          <a:p>
            <a:pPr marL="471488" lvl="2"/>
            <a:r>
              <a:rPr lang="en-US" b="1" dirty="0" smtClean="0"/>
              <a:t>Sink</a:t>
            </a:r>
            <a:r>
              <a:rPr lang="en-US" dirty="0" smtClean="0"/>
              <a:t>: Entity that receives data from the system</a:t>
            </a:r>
          </a:p>
          <a:p>
            <a:pPr marL="471488" lvl="2">
              <a:buFontTx/>
              <a:buNone/>
            </a:pPr>
            <a:endParaRPr lang="en-US" sz="800" dirty="0" smtClean="0"/>
          </a:p>
          <a:p>
            <a:pPr marL="471488" lvl="2">
              <a:buFontTx/>
              <a:buNone/>
            </a:pPr>
            <a:r>
              <a:rPr lang="en-US" dirty="0" smtClean="0"/>
              <a:t>Rules: An external entity can be a source or a sink or both, but each entity must be connected to a process by a </a:t>
            </a:r>
            <a:r>
              <a:rPr lang="en-US" b="1" dirty="0" smtClean="0"/>
              <a:t>data flow </a:t>
            </a:r>
            <a:r>
              <a:rPr lang="en-US" dirty="0" smtClean="0"/>
              <a:t>to a process, and not directly to a data store or to another external entity.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0" descr="C:\renger\fall06\proj\sad7e\chapter4\CHAP04StudyTool_files\proj4\43F04-0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0738" y="2154238"/>
            <a:ext cx="4881562" cy="40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498600"/>
            <a:ext cx="7777162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DFD Symbols: Entity Symbol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498600"/>
            <a:ext cx="7299325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DFD Symbols</a:t>
            </a:r>
          </a:p>
          <a:p>
            <a:pPr>
              <a:buFont typeface="Wingdings" pitchFamily="2" charset="2"/>
              <a:buNone/>
            </a:pPr>
            <a:endParaRPr lang="en-US" sz="800" smtClean="0"/>
          </a:p>
          <a:p>
            <a:pPr>
              <a:buFont typeface="Wingdings" pitchFamily="2" charset="2"/>
              <a:buNone/>
            </a:pPr>
            <a:r>
              <a:rPr lang="en-US" sz="2400" b="0" smtClean="0"/>
              <a:t>Rules in a DFD</a:t>
            </a:r>
          </a:p>
          <a:p>
            <a:pPr>
              <a:buFont typeface="Wingdings" pitchFamily="2" charset="2"/>
              <a:buNone/>
            </a:pPr>
            <a:endParaRPr lang="en-US" sz="900" b="0" smtClean="0"/>
          </a:p>
          <a:p>
            <a:pPr>
              <a:buFont typeface="Wingdings" pitchFamily="2" charset="2"/>
              <a:buNone/>
            </a:pPr>
            <a:r>
              <a:rPr lang="en-US" sz="2400" b="0" smtClean="0"/>
              <a:t>A process    -&gt; Another  process            	Yes</a:t>
            </a:r>
          </a:p>
          <a:p>
            <a:pPr>
              <a:buFont typeface="Wingdings" pitchFamily="2" charset="2"/>
              <a:buNone/>
            </a:pPr>
            <a:r>
              <a:rPr lang="en-US" sz="2400" b="0" smtClean="0"/>
              <a:t>A process    -&gt; An entity   			Yes</a:t>
            </a:r>
          </a:p>
          <a:p>
            <a:pPr>
              <a:buFont typeface="Wingdings" pitchFamily="2" charset="2"/>
              <a:buNone/>
            </a:pPr>
            <a:r>
              <a:rPr lang="en-US" sz="2400" b="0" smtClean="0"/>
              <a:t>A process    -&gt; A data store 			Yes</a:t>
            </a:r>
          </a:p>
          <a:p>
            <a:pPr>
              <a:buFont typeface="Wingdings" pitchFamily="2" charset="2"/>
              <a:buNone/>
            </a:pPr>
            <a:r>
              <a:rPr lang="en-US" sz="2400" b="0" smtClean="0"/>
              <a:t>An entity     -&gt; Another entity /data store 	No</a:t>
            </a:r>
          </a:p>
          <a:p>
            <a:pPr>
              <a:buFont typeface="Wingdings" pitchFamily="2" charset="2"/>
              <a:buNone/>
            </a:pPr>
            <a:r>
              <a:rPr lang="en-US" sz="2400" b="0" smtClean="0"/>
              <a:t>A data store -&gt; Another entity /data store 	No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DFD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E5E1D-9E34-43E9-8AA1-38FE9A527A93}" type="slidenum">
              <a:rPr lang="en-US"/>
              <a:pPr>
                <a:defRPr/>
              </a:pPr>
              <a:t>23</a:t>
            </a:fld>
            <a:endParaRPr lang="en-US"/>
          </a:p>
        </p:txBody>
      </p:sp>
      <p:pic>
        <p:nvPicPr>
          <p:cNvPr id="3584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048000" y="609600"/>
            <a:ext cx="5410200" cy="583765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Exercises</a:t>
            </a:r>
            <a:endParaRPr lang="en-US" sz="2400" dirty="0" smtClean="0"/>
          </a:p>
          <a:p>
            <a:pPr>
              <a:buFont typeface="Wingdings" pitchFamily="2" charset="2"/>
              <a:buNone/>
              <a:defRPr/>
            </a:pPr>
            <a:endParaRPr lang="en-US" sz="900" dirty="0" smtClean="0"/>
          </a:p>
          <a:p>
            <a:pPr marL="0" indent="0" algn="just">
              <a:buFont typeface="Wingdings" pitchFamily="2" charset="2"/>
              <a:buNone/>
              <a:defRPr/>
            </a:pPr>
            <a:r>
              <a:rPr lang="en-US" sz="2000" b="0" dirty="0" smtClean="0"/>
              <a:t>Review the order system context diagram Answer the following questions: </a:t>
            </a:r>
          </a:p>
          <a:p>
            <a:pPr marL="342900" indent="-342900">
              <a:buFont typeface="Wingdings" pitchFamily="2" charset="2"/>
              <a:buAutoNum type="alphaLcParenBoth"/>
              <a:defRPr/>
            </a:pPr>
            <a:r>
              <a:rPr lang="en-US" sz="2000" b="0" dirty="0" smtClean="0"/>
              <a:t> How many external entities are shown in each diagram? </a:t>
            </a:r>
          </a:p>
          <a:p>
            <a:pPr marL="342900" indent="-342900">
              <a:buFont typeface="Wingdings" pitchFamily="2" charset="2"/>
              <a:buAutoNum type="alphaLcParenBoth"/>
              <a:defRPr/>
            </a:pPr>
            <a:r>
              <a:rPr lang="en-US" sz="2000" b="0" dirty="0" smtClean="0"/>
              <a:t> In each diagram, how many data flows connect to the external  entities? </a:t>
            </a:r>
          </a:p>
          <a:p>
            <a:pPr marL="342900" indent="-342900">
              <a:buFont typeface="Wingdings" pitchFamily="2" charset="2"/>
              <a:buAutoNum type="alphaLcParenBoth"/>
              <a:defRPr/>
            </a:pPr>
            <a:r>
              <a:rPr lang="en-US" sz="2000" b="0" dirty="0" smtClean="0"/>
              <a:t>Could the data store have been shown in the context diagram? Why or why not?</a:t>
            </a:r>
          </a:p>
          <a:p>
            <a:pPr>
              <a:buFont typeface="Wingdings" pitchFamily="2" charset="2"/>
              <a:buNone/>
              <a:defRPr/>
            </a:pPr>
            <a:endParaRPr lang="en-US" sz="800" dirty="0" smtClean="0"/>
          </a:p>
        </p:txBody>
      </p:sp>
      <p:pic>
        <p:nvPicPr>
          <p:cNvPr id="5" name="Content Placeholder 4" descr="1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513002" y="2057400"/>
            <a:ext cx="4291725" cy="4267200"/>
          </a:xfr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Flow Diagrams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498600"/>
            <a:ext cx="7937500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Answers:</a:t>
            </a:r>
          </a:p>
          <a:p>
            <a:pPr>
              <a:buFont typeface="Wingdings" pitchFamily="2" charset="2"/>
              <a:buNone/>
            </a:pPr>
            <a:endParaRPr lang="en-US" sz="1800" b="0" i="1" dirty="0" smtClean="0"/>
          </a:p>
          <a:p>
            <a:pPr>
              <a:buFont typeface="Wingdings" pitchFamily="2" charset="2"/>
              <a:buNone/>
            </a:pPr>
            <a:r>
              <a:rPr lang="en-US" sz="2400" b="0" i="1" dirty="0" smtClean="0"/>
              <a:t>(a) There are </a:t>
            </a:r>
            <a:r>
              <a:rPr lang="en-US" sz="2400" i="1" dirty="0" smtClean="0"/>
              <a:t>five</a:t>
            </a:r>
            <a:r>
              <a:rPr lang="en-US" sz="2400" b="0" i="1" dirty="0" smtClean="0"/>
              <a:t> entities in each diagram.</a:t>
            </a:r>
          </a:p>
          <a:p>
            <a:pPr>
              <a:buFont typeface="Wingdings" pitchFamily="2" charset="2"/>
              <a:buNone/>
            </a:pPr>
            <a:r>
              <a:rPr lang="en-US" sz="2400" b="0" i="1" dirty="0" smtClean="0"/>
              <a:t>(b)</a:t>
            </a:r>
            <a:r>
              <a:rPr lang="en-US" sz="2400" i="1" dirty="0" smtClean="0"/>
              <a:t> Nine </a:t>
            </a:r>
            <a:r>
              <a:rPr lang="en-US" sz="2400" b="0" i="1" dirty="0" smtClean="0"/>
              <a:t>data flows connect to the external entities in each diagram.</a:t>
            </a:r>
          </a:p>
          <a:p>
            <a:pPr>
              <a:buFont typeface="Wingdings" pitchFamily="2" charset="2"/>
              <a:buNone/>
            </a:pPr>
            <a:r>
              <a:rPr lang="en-US" sz="2400" b="0" i="1" dirty="0" smtClean="0"/>
              <a:t>(c) The data store could not have been shown in the context diagram because a data store cannot connect to an external entity. The data store can connect to one or more processes, and it is shown in the diagram 0 DFD.</a:t>
            </a:r>
          </a:p>
          <a:p>
            <a:pPr>
              <a:buFont typeface="Wingdings" pitchFamily="2" charset="2"/>
              <a:buNone/>
            </a:pPr>
            <a:endParaRPr lang="en-US" sz="800" dirty="0" smtClean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498600"/>
            <a:ext cx="8099425" cy="4945063"/>
          </a:xfrm>
        </p:spPr>
        <p:txBody>
          <a:bodyPr/>
          <a:lstStyle/>
          <a:p>
            <a:pPr algn="just"/>
            <a:r>
              <a:rPr lang="en-US" sz="2800" dirty="0" smtClean="0"/>
              <a:t>Create a graphical model of the information system </a:t>
            </a:r>
            <a:r>
              <a:rPr lang="en-US" sz="2800" b="1" dirty="0" smtClean="0"/>
              <a:t>based on your fact-f</a:t>
            </a:r>
            <a:r>
              <a:rPr lang="en-US" sz="2800" dirty="0" smtClean="0"/>
              <a:t>inding results</a:t>
            </a:r>
          </a:p>
          <a:p>
            <a:pPr algn="just"/>
            <a:r>
              <a:rPr lang="en-US" sz="2800" dirty="0" smtClean="0"/>
              <a:t>First, you will review a </a:t>
            </a:r>
            <a:r>
              <a:rPr lang="en-US" sz="2800" b="1" dirty="0" smtClean="0"/>
              <a:t>set of guideli</a:t>
            </a:r>
            <a:r>
              <a:rPr lang="en-US" sz="2800" dirty="0" smtClean="0"/>
              <a:t>nes for drawing DFDs. Then you will learn how to apply these guidelines and create a set of DFDs using a three-step process</a:t>
            </a:r>
          </a:p>
          <a:p>
            <a:r>
              <a:rPr lang="en-US" sz="2800" b="1" dirty="0" smtClean="0"/>
              <a:t>Three-step process</a:t>
            </a:r>
          </a:p>
          <a:p>
            <a:pPr lvl="1"/>
            <a:r>
              <a:rPr lang="en-US" dirty="0" smtClean="0"/>
              <a:t>Step 1: Draw  a context diagram</a:t>
            </a:r>
          </a:p>
          <a:p>
            <a:pPr lvl="1"/>
            <a:r>
              <a:rPr lang="en-US" dirty="0" smtClean="0"/>
              <a:t>Step 2: Draw a diagram 0 DFD</a:t>
            </a:r>
          </a:p>
          <a:p>
            <a:pPr lvl="1"/>
            <a:r>
              <a:rPr lang="en-US" dirty="0" smtClean="0"/>
              <a:t>Step 3: Draw the lower-level diagrams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98600"/>
            <a:ext cx="8194675" cy="4473575"/>
          </a:xfrm>
        </p:spPr>
        <p:txBody>
          <a:bodyPr/>
          <a:lstStyle/>
          <a:p>
            <a:pPr marL="465138" indent="-465138">
              <a:buFont typeface="Wingdings" pitchFamily="2" charset="2"/>
              <a:buNone/>
            </a:pPr>
            <a:r>
              <a:rPr lang="en-US" b="1" dirty="0" smtClean="0"/>
              <a:t>Guidelines for Drawing DFDs</a:t>
            </a:r>
          </a:p>
          <a:p>
            <a:pPr marL="465138" indent="-465138"/>
            <a:endParaRPr lang="en-US" sz="900" dirty="0" smtClean="0"/>
          </a:p>
          <a:p>
            <a:pPr marL="739775" lvl="1" indent="-274638"/>
            <a:r>
              <a:rPr lang="en-US" dirty="0" smtClean="0"/>
              <a:t>Draw the </a:t>
            </a:r>
            <a:r>
              <a:rPr lang="en-US" b="1" dirty="0" smtClean="0"/>
              <a:t>context diagram </a:t>
            </a:r>
            <a:r>
              <a:rPr lang="en-US" dirty="0" smtClean="0"/>
              <a:t>so that it fits on one page</a:t>
            </a:r>
          </a:p>
          <a:p>
            <a:pPr marL="739775" lvl="1" indent="-274638"/>
            <a:r>
              <a:rPr lang="en-US" dirty="0" smtClean="0"/>
              <a:t>Use the name of the information system as the process name in the context diagram (example: GRADING SYSTEM)</a:t>
            </a:r>
          </a:p>
          <a:p>
            <a:pPr marL="739775" lvl="1" indent="-274638"/>
            <a:r>
              <a:rPr lang="en-US" dirty="0" smtClean="0"/>
              <a:t>Use </a:t>
            </a:r>
            <a:r>
              <a:rPr lang="en-US" b="1" dirty="0" smtClean="0"/>
              <a:t>unique names </a:t>
            </a:r>
            <a:r>
              <a:rPr lang="en-US" dirty="0" smtClean="0"/>
              <a:t>within each set of symbols</a:t>
            </a:r>
          </a:p>
          <a:p>
            <a:pPr marL="739775" lvl="1" indent="-274638">
              <a:buFont typeface="Arial" pitchFamily="34" charset="0"/>
              <a:buNone/>
            </a:pPr>
            <a:r>
              <a:rPr lang="en-US" dirty="0" smtClean="0"/>
              <a:t>	(example: only one entity named STUDENT)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1498600"/>
            <a:ext cx="7937500" cy="4597400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  <a:defRPr/>
            </a:pPr>
            <a:r>
              <a:rPr lang="en-US" dirty="0" smtClean="0"/>
              <a:t>Guidelines for Drawing DFDs</a:t>
            </a:r>
          </a:p>
          <a:p>
            <a:pPr marL="533400" indent="-533400">
              <a:defRPr/>
            </a:pPr>
            <a:endParaRPr lang="en-US" sz="800" dirty="0" smtClean="0"/>
          </a:p>
          <a:p>
            <a:pPr marL="630238" lvl="1" indent="-533400">
              <a:buFont typeface="Arial" charset="0"/>
              <a:buChar char="–"/>
              <a:defRPr/>
            </a:pPr>
            <a:r>
              <a:rPr lang="en-US" b="1" dirty="0" smtClean="0"/>
              <a:t>Do not cross lines</a:t>
            </a:r>
            <a:r>
              <a:rPr lang="en-US" dirty="0" smtClean="0"/>
              <a:t>. How?</a:t>
            </a:r>
          </a:p>
          <a:p>
            <a:pPr marL="1146175" lvl="1" indent="-522288">
              <a:buFont typeface="Arial" pitchFamily="34" charset="0"/>
              <a:buChar char="•"/>
              <a:defRPr/>
            </a:pPr>
            <a:r>
              <a:rPr lang="en-US" dirty="0" smtClean="0"/>
              <a:t>Restrict the number of symbol (Have no more than 9 process symbols)</a:t>
            </a:r>
          </a:p>
          <a:p>
            <a:pPr marL="1146175" lvl="1" indent="-522288">
              <a:buFont typeface="Arial" pitchFamily="34" charset="0"/>
              <a:buChar char="•"/>
              <a:defRPr/>
            </a:pPr>
            <a:r>
              <a:rPr lang="en-US" dirty="0" smtClean="0"/>
              <a:t>Duplicate an entity or data store</a:t>
            </a:r>
          </a:p>
          <a:p>
            <a:pPr marL="630238" lvl="1" indent="-533400">
              <a:buFont typeface="Arial" charset="0"/>
              <a:buChar char="–"/>
              <a:defRPr/>
            </a:pPr>
            <a:r>
              <a:rPr lang="en-US" b="1" dirty="0" smtClean="0"/>
              <a:t>Provide a unique name and reference number </a:t>
            </a:r>
            <a:r>
              <a:rPr lang="en-US" dirty="0" smtClean="0"/>
              <a:t>for each process</a:t>
            </a:r>
          </a:p>
          <a:p>
            <a:pPr marL="630238" lvl="1" indent="-533400">
              <a:buFont typeface="Arial" charset="0"/>
              <a:buChar char="–"/>
              <a:defRPr/>
            </a:pPr>
            <a:r>
              <a:rPr lang="en-US" dirty="0" smtClean="0"/>
              <a:t>Obtain as much user input and feedback as possible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349375"/>
            <a:ext cx="8142288" cy="50657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400" b="0" dirty="0" smtClean="0"/>
              <a:t>Before creating DFDs, identify all the entities, the name and content of the data flows and the direction of the data flows</a:t>
            </a:r>
          </a:p>
          <a:p>
            <a:pPr marL="0" indent="0">
              <a:buFont typeface="Wingdings" pitchFamily="2" charset="2"/>
              <a:buNone/>
            </a:pPr>
            <a:endParaRPr lang="en-US" sz="800" dirty="0" smtClean="0"/>
          </a:p>
          <a:p>
            <a:pPr marL="0" indent="0">
              <a:buFont typeface="Wingdings" pitchFamily="2" charset="2"/>
              <a:buNone/>
            </a:pPr>
            <a:r>
              <a:rPr lang="en-US" sz="2400" dirty="0" smtClean="0"/>
              <a:t>Three-step process</a:t>
            </a:r>
          </a:p>
          <a:p>
            <a:pPr marL="465138" lvl="1" indent="-349250" algn="just">
              <a:buFont typeface="Arial" pitchFamily="34" charset="0"/>
              <a:buChar char="•"/>
            </a:pPr>
            <a:r>
              <a:rPr lang="en-US" sz="2400" b="1" dirty="0" smtClean="0"/>
              <a:t>Step 1: Draw  a context diagram</a:t>
            </a:r>
          </a:p>
          <a:p>
            <a:pPr marL="465138" lvl="1" indent="-349250" algn="just">
              <a:buFont typeface="Arial" pitchFamily="34" charset="0"/>
              <a:buNone/>
            </a:pPr>
            <a:r>
              <a:rPr lang="en-US" sz="2400" dirty="0" smtClean="0"/>
              <a:t>	Represents the entire information system but does not show the internal workings</a:t>
            </a:r>
          </a:p>
          <a:p>
            <a:pPr marL="465138" lvl="1" indent="-349250" algn="just">
              <a:buFont typeface="Arial" pitchFamily="34" charset="0"/>
              <a:buChar char="•"/>
            </a:pPr>
            <a:r>
              <a:rPr lang="en-US" sz="2400" b="1" dirty="0" smtClean="0"/>
              <a:t>Step 2: Draw a diagram 0 DFD</a:t>
            </a:r>
          </a:p>
          <a:p>
            <a:pPr marL="465138" lvl="1" indent="-349250" algn="just">
              <a:buFont typeface="Arial" pitchFamily="34" charset="0"/>
              <a:buNone/>
            </a:pPr>
            <a:r>
              <a:rPr lang="en-US" sz="2400" dirty="0" smtClean="0"/>
              <a:t>	Describe the next level of detail inside process 0 which will reveal additional processes </a:t>
            </a:r>
          </a:p>
          <a:p>
            <a:pPr marL="465138" lvl="1" indent="-349250" algn="just">
              <a:buFont typeface="Arial" pitchFamily="34" charset="0"/>
              <a:buChar char="•"/>
            </a:pPr>
            <a:r>
              <a:rPr lang="en-US" sz="2400" b="1" dirty="0" smtClean="0"/>
              <a:t>Step 3: Draw the lower-level diagrams</a:t>
            </a:r>
          </a:p>
          <a:p>
            <a:pPr marL="465138" lvl="1" indent="-349250" algn="just">
              <a:buFont typeface="Arial" pitchFamily="34" charset="0"/>
              <a:buNone/>
            </a:pPr>
            <a:r>
              <a:rPr lang="en-US" sz="2400" dirty="0" smtClean="0"/>
              <a:t>	Describe the next level of detail inside process in diagram 0</a:t>
            </a:r>
            <a:endParaRPr lang="en-US" sz="2400" b="1" dirty="0" smtClean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4175" y="1498600"/>
            <a:ext cx="4543425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 dirty="0" smtClean="0"/>
              <a:t>Step 1: Draw a Context Diagram</a:t>
            </a:r>
          </a:p>
          <a:p>
            <a:pPr>
              <a:buFont typeface="Wingdings" pitchFamily="2" charset="2"/>
              <a:buNone/>
            </a:pPr>
            <a:endParaRPr lang="en-US" sz="800" b="0" dirty="0" smtClean="0"/>
          </a:p>
          <a:p>
            <a:pPr>
              <a:buFont typeface="Wingdings" pitchFamily="2" charset="2"/>
              <a:buNone/>
            </a:pPr>
            <a:r>
              <a:rPr lang="en-US" sz="2400" dirty="0" smtClean="0"/>
              <a:t>Context diagram</a:t>
            </a:r>
          </a:p>
          <a:p>
            <a:pPr>
              <a:buFont typeface="Wingdings" pitchFamily="2" charset="2"/>
              <a:buNone/>
            </a:pPr>
            <a:endParaRPr lang="en-US" sz="800" b="0" dirty="0" smtClean="0"/>
          </a:p>
          <a:p>
            <a:pPr marL="290513" lvl="1" indent="-290513">
              <a:buFont typeface="Arial" pitchFamily="34" charset="0"/>
              <a:buChar char="•"/>
            </a:pPr>
            <a:r>
              <a:rPr lang="en-US" sz="2400" dirty="0" smtClean="0"/>
              <a:t>is a top level view of an information system that shows the system’s boundaries and scope</a:t>
            </a:r>
          </a:p>
          <a:p>
            <a:pPr marL="290513" lvl="1" indent="-290513">
              <a:buFont typeface="Arial" pitchFamily="34" charset="0"/>
              <a:buChar char="•"/>
            </a:pPr>
            <a:r>
              <a:rPr lang="en-US" sz="2400" dirty="0" smtClean="0"/>
              <a:t>Symbolizes all processing activity within a system with a single process symbol: </a:t>
            </a:r>
            <a:r>
              <a:rPr lang="en-US" sz="2400" b="1" dirty="0" smtClean="0"/>
              <a:t>Process 0</a:t>
            </a:r>
          </a:p>
          <a:p>
            <a:pPr marL="290513" lvl="1" indent="-290513">
              <a:buFont typeface="Arial" pitchFamily="34" charset="0"/>
              <a:buChar char="•"/>
            </a:pPr>
            <a:endParaRPr lang="en-US" sz="2400" dirty="0" smtClean="0"/>
          </a:p>
        </p:txBody>
      </p:sp>
      <p:pic>
        <p:nvPicPr>
          <p:cNvPr id="34820" name="Picture 10" descr="C:\renger\fall06\proj\sad7e\chapter4\CHAP04StudyTool_files\proj4\43F04-1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525" y="1512888"/>
            <a:ext cx="3659188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915400" cy="48387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b="1" dirty="0" smtClean="0"/>
              <a:t>Step 1: Draw a Context Diagram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/>
              <a:t>The rules for creating a context diagram.</a:t>
            </a:r>
          </a:p>
          <a:p>
            <a:pPr marL="465138" lvl="1" indent="-349250"/>
            <a:r>
              <a:rPr lang="en-US" sz="2400" i="1" dirty="0" smtClean="0"/>
              <a:t>Start by placing </a:t>
            </a:r>
            <a:r>
              <a:rPr lang="en-US" sz="2400" b="1" i="1" dirty="0" smtClean="0"/>
              <a:t>a single process symbol </a:t>
            </a:r>
            <a:r>
              <a:rPr lang="en-US" sz="2400" i="1" dirty="0" smtClean="0"/>
              <a:t>in the center of the page. The symbol represents the entire information system, and you identify it as </a:t>
            </a:r>
            <a:r>
              <a:rPr lang="en-US" sz="2400" b="1" i="1" dirty="0" smtClean="0"/>
              <a:t>process </a:t>
            </a:r>
            <a:r>
              <a:rPr lang="en-US" sz="2400" i="1" dirty="0" smtClean="0"/>
              <a:t>0.</a:t>
            </a:r>
            <a:endParaRPr lang="en-US" sz="2400" dirty="0" smtClean="0"/>
          </a:p>
          <a:p>
            <a:pPr marL="465138" lvl="1" indent="-349250"/>
            <a:r>
              <a:rPr lang="en-US" sz="2400" i="1" dirty="0" smtClean="0"/>
              <a:t>Next, place </a:t>
            </a:r>
            <a:r>
              <a:rPr lang="en-US" sz="2400" b="1" i="1" dirty="0" smtClean="0"/>
              <a:t>the external entities </a:t>
            </a:r>
            <a:r>
              <a:rPr lang="en-US" sz="2400" i="1" dirty="0" smtClean="0"/>
              <a:t>around the perimeter of the page, and </a:t>
            </a:r>
            <a:r>
              <a:rPr lang="en-US" sz="2400" b="1" i="1" dirty="0" smtClean="0"/>
              <a:t>use data flows to connect </a:t>
            </a:r>
            <a:r>
              <a:rPr lang="en-US" sz="2400" i="1" dirty="0" smtClean="0"/>
              <a:t>the entities to the central process.</a:t>
            </a:r>
            <a:endParaRPr lang="en-US" sz="2400" dirty="0" smtClean="0"/>
          </a:p>
          <a:p>
            <a:pPr marL="465138" lvl="1" indent="-349250"/>
            <a:r>
              <a:rPr lang="en-US" sz="2400" b="1" i="1" dirty="0" smtClean="0"/>
              <a:t>Do not show any data s</a:t>
            </a:r>
            <a:r>
              <a:rPr lang="en-US" sz="2400" i="1" dirty="0" smtClean="0"/>
              <a:t>tores in a context diagram because data stores are internal to the system.</a:t>
            </a:r>
            <a:endParaRPr lang="en-US" sz="2400" dirty="0" smtClean="0"/>
          </a:p>
          <a:p>
            <a:pPr marL="465138" lvl="1" indent="-349250"/>
            <a:r>
              <a:rPr lang="en-US" sz="2400" i="1" dirty="0" smtClean="0"/>
              <a:t>Place the external entities around the central process and label them.</a:t>
            </a:r>
            <a:endParaRPr lang="en-US" sz="2400" dirty="0" smtClean="0"/>
          </a:p>
          <a:p>
            <a:pPr marL="465138" lvl="1" indent="-349250"/>
            <a:r>
              <a:rPr lang="en-US" sz="2400" b="1" i="1" dirty="0" smtClean="0"/>
              <a:t>Create labeled input and output data flows </a:t>
            </a:r>
            <a:r>
              <a:rPr lang="en-US" sz="2400" i="1" dirty="0" smtClean="0"/>
              <a:t>between the external entities and the central system.</a:t>
            </a:r>
            <a:endParaRPr lang="en-US" sz="2400" dirty="0" smtClean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Creating a Set of DFDs</a:t>
            </a:r>
          </a:p>
        </p:txBody>
      </p:sp>
      <p:sp>
        <p:nvSpPr>
          <p:cNvPr id="44034" name="Tex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/>
            <a:r>
              <a:rPr lang="en-US" b="1" dirty="0" smtClean="0"/>
              <a:t>Step 1: Draw a Context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5E2EA1-ABAE-4E6D-A450-C569F064B582}" type="slidenum">
              <a:rPr lang="en-US"/>
              <a:pPr>
                <a:defRPr/>
              </a:pPr>
              <a:t>32</a:t>
            </a:fld>
            <a:endParaRPr lang="en-US"/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399" y="2133600"/>
            <a:ext cx="5469467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Step 2: Draw a Diagram 0 DFD</a:t>
            </a:r>
          </a:p>
          <a:p>
            <a:pPr algn="just">
              <a:buFont typeface="Arial" pitchFamily="34" charset="0"/>
              <a:buChar char="•"/>
            </a:pPr>
            <a:endParaRPr lang="en-US" sz="900" b="0" dirty="0" smtClean="0"/>
          </a:p>
          <a:p>
            <a:pPr algn="just">
              <a:buFont typeface="Arial" pitchFamily="34" charset="0"/>
              <a:buChar char="•"/>
            </a:pPr>
            <a:r>
              <a:rPr lang="en-US" b="0" dirty="0" smtClean="0"/>
              <a:t>Diagram 0 zooms in on the system and shows major internal processes, data flows,  and data stores</a:t>
            </a:r>
          </a:p>
          <a:p>
            <a:pPr algn="just">
              <a:buFont typeface="Arial" pitchFamily="34" charset="0"/>
              <a:buChar char="•"/>
            </a:pPr>
            <a:r>
              <a:rPr lang="en-US" b="0" dirty="0" smtClean="0"/>
              <a:t>Diagram 0 also </a:t>
            </a:r>
            <a:r>
              <a:rPr lang="en-US" b="1" dirty="0" smtClean="0"/>
              <a:t>repeats the entities and data flows </a:t>
            </a:r>
            <a:r>
              <a:rPr lang="en-US" b="0" dirty="0" smtClean="0"/>
              <a:t>that appear in context diagram</a:t>
            </a:r>
          </a:p>
          <a:p>
            <a:pPr algn="just">
              <a:buFont typeface="Arial" pitchFamily="34" charset="0"/>
              <a:buChar char="•"/>
            </a:pPr>
            <a:r>
              <a:rPr lang="en-US" b="0" dirty="0" smtClean="0"/>
              <a:t>Must </a:t>
            </a:r>
            <a:r>
              <a:rPr lang="en-US" b="1" dirty="0" smtClean="0"/>
              <a:t>retain all the connections that flow </a:t>
            </a:r>
            <a:r>
              <a:rPr lang="en-US" b="0" dirty="0" smtClean="0"/>
              <a:t>into and out of process 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Creating a Set of DFDs</a:t>
            </a:r>
          </a:p>
        </p:txBody>
      </p:sp>
      <p:sp>
        <p:nvSpPr>
          <p:cNvPr id="46082" name="Tex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eaLnBrk="1" hangingPunct="1"/>
            <a:r>
              <a:rPr lang="en-US" b="1" dirty="0" smtClean="0"/>
              <a:t>Step 2: Draw a Diagram 0 DFD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8A9540-7AFA-41E4-8CB5-497AABC34031}" type="slidenum">
              <a:rPr lang="en-US"/>
              <a:pPr>
                <a:defRPr/>
              </a:pPr>
              <a:t>34</a:t>
            </a:fld>
            <a:endParaRPr lang="en-US"/>
          </a:p>
        </p:txBody>
      </p: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209800"/>
            <a:ext cx="474733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2057400"/>
            <a:ext cx="4628702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Step 2: Draw a Diagram 0 DFD</a:t>
            </a:r>
          </a:p>
          <a:p>
            <a:pPr>
              <a:buFont typeface="Wingdings" pitchFamily="2" charset="2"/>
              <a:buNone/>
            </a:pPr>
            <a:endParaRPr lang="en-US" sz="800" dirty="0" smtClean="0"/>
          </a:p>
          <a:p>
            <a:pPr marL="519113" lvl="1" indent="-409575">
              <a:buFont typeface="Arial" pitchFamily="34" charset="0"/>
              <a:buChar char="•"/>
            </a:pPr>
            <a:r>
              <a:rPr lang="en-US" dirty="0" smtClean="0"/>
              <a:t>Each process has a </a:t>
            </a:r>
            <a:r>
              <a:rPr lang="en-US" b="1" dirty="0" smtClean="0"/>
              <a:t>reference number</a:t>
            </a:r>
            <a:r>
              <a:rPr lang="en-US" dirty="0" smtClean="0"/>
              <a:t>: To identify the series of DFDs</a:t>
            </a:r>
          </a:p>
          <a:p>
            <a:pPr marL="519113" lvl="1" indent="-409575">
              <a:buFont typeface="Arial" pitchFamily="34" charset="0"/>
              <a:buChar char="•"/>
            </a:pPr>
            <a:r>
              <a:rPr lang="en-US" dirty="0" smtClean="0"/>
              <a:t>The process number do not suggest that the process are in a sequential order</a:t>
            </a:r>
          </a:p>
          <a:p>
            <a:pPr marL="519113" lvl="1" indent="-409575">
              <a:buFont typeface="Arial" pitchFamily="34" charset="0"/>
              <a:buChar char="•"/>
            </a:pPr>
            <a:r>
              <a:rPr lang="en-US" b="1" dirty="0" smtClean="0"/>
              <a:t>Diverging data flow</a:t>
            </a:r>
            <a:r>
              <a:rPr lang="en-US" dirty="0" smtClean="0"/>
              <a:t>: A data flow in which the same data travels to two or more different locations</a:t>
            </a:r>
          </a:p>
          <a:p>
            <a:pPr marL="519113" lvl="1" indent="-409575">
              <a:buFont typeface="Arial" pitchFamily="34" charset="0"/>
              <a:buChar char="•"/>
            </a:pPr>
            <a:r>
              <a:rPr lang="en-US" dirty="0" smtClean="0"/>
              <a:t>If same data flows in both directions, you can use a double-headed arrow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b="1" dirty="0" smtClean="0"/>
              <a:t>Step 2: Draw a Diagram 0 DFD</a:t>
            </a:r>
          </a:p>
          <a:p>
            <a:pPr>
              <a:defRPr/>
            </a:pPr>
            <a:endParaRPr lang="en-US" sz="800" dirty="0" smtClean="0"/>
          </a:p>
          <a:p>
            <a:pPr marL="465138" lvl="1" indent="-357188">
              <a:buFont typeface="Arial" charset="0"/>
              <a:buChar char="–"/>
              <a:defRPr/>
            </a:pPr>
            <a:r>
              <a:rPr lang="en-US" dirty="0" smtClean="0"/>
              <a:t>Diagram 0 is an exploded view of process 0</a:t>
            </a:r>
          </a:p>
          <a:p>
            <a:pPr marL="465138" lvl="1" indent="-357188">
              <a:buFont typeface="Arial" charset="0"/>
              <a:buChar char="–"/>
              <a:defRPr/>
            </a:pPr>
            <a:r>
              <a:rPr lang="en-US" b="1" dirty="0" smtClean="0"/>
              <a:t>Parent diagram</a:t>
            </a:r>
            <a:r>
              <a:rPr lang="en-US" dirty="0" smtClean="0"/>
              <a:t>: Higher level diagram</a:t>
            </a:r>
          </a:p>
          <a:p>
            <a:pPr marL="465138" lvl="1" indent="-357188">
              <a:buFont typeface="Arial" charset="0"/>
              <a:buChar char="–"/>
              <a:defRPr/>
            </a:pPr>
            <a:r>
              <a:rPr lang="en-US" b="1" dirty="0" smtClean="0"/>
              <a:t>Child diagram</a:t>
            </a:r>
            <a:r>
              <a:rPr lang="en-US" dirty="0" smtClean="0"/>
              <a:t>: Lower level diagram</a:t>
            </a:r>
          </a:p>
          <a:p>
            <a:pPr marL="465138" lvl="1" indent="-357188">
              <a:buFont typeface="Arial" charset="0"/>
              <a:buChar char="–"/>
              <a:defRPr/>
            </a:pPr>
            <a:r>
              <a:rPr lang="en-US" b="1" dirty="0" smtClean="0"/>
              <a:t>Functional primitive</a:t>
            </a:r>
            <a:r>
              <a:rPr lang="en-US" dirty="0" smtClean="0"/>
              <a:t>: </a:t>
            </a:r>
          </a:p>
          <a:p>
            <a:pPr marL="682625" lvl="1" indent="-217488">
              <a:buFont typeface="Arial" pitchFamily="34" charset="0"/>
              <a:buChar char="•"/>
              <a:defRPr/>
            </a:pPr>
            <a:r>
              <a:rPr lang="en-US" dirty="0" smtClean="0"/>
              <a:t>is a process that consists of a single function that is not exploded further </a:t>
            </a:r>
          </a:p>
          <a:p>
            <a:pPr marL="682625" lvl="1" indent="-217488">
              <a:buFont typeface="Arial" pitchFamily="34" charset="0"/>
              <a:buChar char="•"/>
              <a:defRPr/>
            </a:pPr>
            <a:r>
              <a:rPr lang="en-US" dirty="0" smtClean="0"/>
              <a:t>Document  the logic in the data dictionary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088" y="1498600"/>
            <a:ext cx="4681537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Step 3: Draw the Lower-Level Diagrams</a:t>
            </a:r>
          </a:p>
          <a:p>
            <a:pPr>
              <a:buFont typeface="Wingdings" pitchFamily="2" charset="2"/>
              <a:buNone/>
            </a:pPr>
            <a:endParaRPr lang="en-US" sz="1000" dirty="0" smtClean="0"/>
          </a:p>
          <a:p>
            <a:pPr marL="465138" lvl="1" indent="-357188"/>
            <a:r>
              <a:rPr lang="en-US" dirty="0" smtClean="0"/>
              <a:t>Must use </a:t>
            </a:r>
            <a:r>
              <a:rPr lang="en-US" b="1" dirty="0" smtClean="0"/>
              <a:t>leveling</a:t>
            </a:r>
            <a:r>
              <a:rPr lang="en-US" dirty="0" smtClean="0"/>
              <a:t> and </a:t>
            </a:r>
            <a:r>
              <a:rPr lang="en-US" b="1" dirty="0" smtClean="0"/>
              <a:t>balancing</a:t>
            </a:r>
            <a:r>
              <a:rPr lang="en-US" dirty="0" smtClean="0"/>
              <a:t> techniques</a:t>
            </a:r>
          </a:p>
        </p:txBody>
      </p:sp>
      <p:pic>
        <p:nvPicPr>
          <p:cNvPr id="40964" name="Picture 10" descr="C:\renger\fall06\proj\sad7e\chapter4\CHAP04StudyTool_files\proj4\43F04-1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1010" y="2133601"/>
            <a:ext cx="409845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498600"/>
            <a:ext cx="5849938" cy="4559300"/>
          </a:xfrm>
        </p:spPr>
        <p:txBody>
          <a:bodyPr/>
          <a:lstStyle/>
          <a:p>
            <a:pPr marL="1146175" indent="-1146175">
              <a:buFont typeface="Wingdings" pitchFamily="2" charset="2"/>
              <a:buNone/>
              <a:defRPr/>
            </a:pPr>
            <a:r>
              <a:rPr lang="en-US" b="1" dirty="0" smtClean="0"/>
              <a:t>Step 3: Draw the Lower-Level Diagrams</a:t>
            </a:r>
          </a:p>
          <a:p>
            <a:pPr>
              <a:buFont typeface="Wingdings" pitchFamily="2" charset="2"/>
              <a:buNone/>
              <a:defRPr/>
            </a:pPr>
            <a:endParaRPr lang="en-US" sz="900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Leveling examples</a:t>
            </a:r>
          </a:p>
          <a:p>
            <a:pPr marL="230188" lvl="2" algn="just">
              <a:defRPr/>
            </a:pPr>
            <a:r>
              <a:rPr lang="en-US" dirty="0" smtClean="0"/>
              <a:t>Also called exploding, partitioning, or decomposing</a:t>
            </a:r>
          </a:p>
          <a:p>
            <a:pPr marL="230188" lvl="2" algn="just">
              <a:defRPr/>
            </a:pPr>
            <a:r>
              <a:rPr lang="en-US" dirty="0" smtClean="0"/>
              <a:t>Uses a series of increasingly detailed DFDs until all process are identified as functional primitives.</a:t>
            </a:r>
          </a:p>
          <a:p>
            <a:pPr marL="230188" lvl="2" algn="just">
              <a:defRPr/>
            </a:pPr>
            <a:r>
              <a:rPr lang="en-US" dirty="0" smtClean="0"/>
              <a:t>All process are numbered using a decimal notation (1 -&gt; 1.1 -&gt; 1..1.1)</a:t>
            </a:r>
          </a:p>
        </p:txBody>
      </p:sp>
      <p:pic>
        <p:nvPicPr>
          <p:cNvPr id="41988" name="Picture 10" descr="C:\renger\fall06\proj\sad7e\chapter4\CHAP04StudyTool_files\proj4\43F04-1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46850" y="1547813"/>
            <a:ext cx="2406650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Creating a Set of DFDs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98600"/>
            <a:ext cx="8005763" cy="4559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Step 3: Draw the Lower-Level Diagrams</a:t>
            </a:r>
          </a:p>
          <a:p>
            <a:pPr>
              <a:buFont typeface="Wingdings" pitchFamily="2" charset="2"/>
              <a:buNone/>
            </a:pPr>
            <a:endParaRPr lang="en-US" sz="900" dirty="0" smtClean="0"/>
          </a:p>
          <a:p>
            <a:pPr>
              <a:buFont typeface="Wingdings" pitchFamily="2" charset="2"/>
              <a:buNone/>
            </a:pPr>
            <a:r>
              <a:rPr lang="en-US" dirty="0" smtClean="0"/>
              <a:t>Balancing</a:t>
            </a:r>
          </a:p>
          <a:p>
            <a:pPr marL="463550" lvl="2" indent="-463550"/>
            <a:r>
              <a:rPr lang="en-US" dirty="0" smtClean="0"/>
              <a:t>Ensures that the input and output data flows of the parent DFD are maintained on the child DFD</a:t>
            </a:r>
          </a:p>
        </p:txBody>
      </p:sp>
      <p:pic>
        <p:nvPicPr>
          <p:cNvPr id="43012" name="Picture 20" descr="C:\renger\fall06\proj\sad7e\chapter4\CHAP04StudyTool_files\proj4\43F04-20.gif"/>
          <p:cNvPicPr>
            <a:picLocks noChangeAspect="1" noChangeArrowheads="1"/>
          </p:cNvPicPr>
          <p:nvPr/>
        </p:nvPicPr>
        <p:blipFill>
          <a:blip r:embed="rId2" cstate="print"/>
          <a:srcRect t="26790" b="19594"/>
          <a:stretch>
            <a:fillRect/>
          </a:stretch>
        </p:blipFill>
        <p:spPr bwMode="auto">
          <a:xfrm>
            <a:off x="1219200" y="3733800"/>
            <a:ext cx="6705879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IN POINT 4.1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28588" indent="7938">
              <a:buFont typeface="Wingdings" pitchFamily="2" charset="2"/>
              <a:buNone/>
            </a:pPr>
            <a:r>
              <a:rPr lang="en-US" b="0" dirty="0" smtClean="0"/>
              <a:t>What is the mistakes in this diagram 0 DFD?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r>
              <a:rPr lang="en-US" b="1" dirty="0" smtClean="0"/>
              <a:t>Answer?</a:t>
            </a:r>
          </a:p>
        </p:txBody>
      </p:sp>
      <p:pic>
        <p:nvPicPr>
          <p:cNvPr id="5" name="Content Placeholder 4" descr="2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567661" y="2133600"/>
            <a:ext cx="5576339" cy="4031471"/>
          </a:xfrm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/>
          <a:lstStyle/>
          <a:p>
            <a:r>
              <a:rPr lang="en-US" dirty="0" smtClean="0"/>
              <a:t>CASE IN POINT 4.1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4876800" cy="5059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b="1" dirty="0" smtClean="0"/>
              <a:t>Answer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ASSIGN ADVISOR, process 1 is a miracle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CHECK OPEN CLASSES process 3 is a black hole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CALCULATE GRADE, process 4, is a gray hole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INSTRUCTOR and STUDENT Entity cannot be connected with a data flow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INSTRUCTOR Entity does not connect to a process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GRADES and SEATING CHART data stores are black holes</a:t>
            </a:r>
          </a:p>
          <a:p>
            <a:pPr>
              <a:buFont typeface="Helvetica" charset="0"/>
              <a:buAutoNum type="arabicPeriod"/>
            </a:pPr>
            <a:r>
              <a:rPr lang="en-US" sz="2000" b="0" dirty="0" smtClean="0"/>
              <a:t>CLASS ROASTER and SEATING CHART data stores cannot be connected with a data flow</a:t>
            </a:r>
          </a:p>
        </p:txBody>
      </p:sp>
      <p:pic>
        <p:nvPicPr>
          <p:cNvPr id="5" name="Content Placeholder 4" descr="2.pn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029200" y="1524000"/>
            <a:ext cx="4114800" cy="3124200"/>
          </a:xfr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IN POINT 4.1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604838" y="1193800"/>
            <a:ext cx="7996237" cy="5238750"/>
          </a:xfrm>
        </p:spPr>
        <p:txBody>
          <a:bodyPr/>
          <a:lstStyle/>
          <a:p>
            <a:endParaRPr lang="en-US" sz="800" dirty="0" smtClean="0"/>
          </a:p>
          <a:p>
            <a:pPr>
              <a:buFont typeface="Wingdings" pitchFamily="2" charset="2"/>
              <a:buNone/>
            </a:pPr>
            <a:r>
              <a:rPr lang="en-US" sz="2400" dirty="0" smtClean="0"/>
              <a:t>Answer</a:t>
            </a:r>
          </a:p>
          <a:p>
            <a:pPr>
              <a:buFont typeface="Helvetica" charset="0"/>
              <a:buAutoNum type="arabicPeriod"/>
            </a:pPr>
            <a:r>
              <a:rPr lang="en-US" sz="2400" b="0" dirty="0" smtClean="0"/>
              <a:t>black hole - – A process is said to be a “ black hole” if has no output</a:t>
            </a:r>
          </a:p>
          <a:p>
            <a:pPr>
              <a:buFont typeface="Helvetica" charset="0"/>
              <a:buAutoNum type="arabicPeriod"/>
            </a:pPr>
            <a:r>
              <a:rPr lang="en-US" sz="2400" b="0" dirty="0" smtClean="0"/>
              <a:t>gray hole – A process is said to be a “ gray hole” if an input is obviously insufficient to generate the shown output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 </a:t>
            </a:r>
            <a:r>
              <a:rPr lang="en-US" b="1" dirty="0" smtClean="0"/>
              <a:t>data dictionary</a:t>
            </a:r>
            <a:r>
              <a:rPr lang="en-US" dirty="0" smtClean="0"/>
              <a:t>, or data repository, is a central </a:t>
            </a:r>
            <a:r>
              <a:rPr lang="en-US" b="1" dirty="0" smtClean="0"/>
              <a:t>storehouse of information </a:t>
            </a:r>
            <a:r>
              <a:rPr lang="en-US" dirty="0" smtClean="0"/>
              <a:t>about the system’s data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An analyst uses the data dictionary to collect, document, and organize specific facts about the system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Also defines and describes all data elements and meaningful combinations of data elements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A105A-2725-4562-B6EC-EFE0B990E85F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Dictionary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2925" y="1390650"/>
            <a:ext cx="8105775" cy="482441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b="1" dirty="0" smtClean="0"/>
              <a:t>data element</a:t>
            </a:r>
            <a:r>
              <a:rPr lang="en-US" sz="2800" dirty="0" smtClean="0"/>
              <a:t>, also called a data item or field</a:t>
            </a:r>
            <a:r>
              <a:rPr lang="en-US" sz="2800" b="0" dirty="0" smtClean="0"/>
              <a:t>,  is the smallest piece of data that has meaning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Examples:</a:t>
            </a:r>
            <a:r>
              <a:rPr lang="en-US" sz="2800" b="0" dirty="0" smtClean="0"/>
              <a:t> student grade, salary, IC Number</a:t>
            </a:r>
          </a:p>
          <a:p>
            <a:pPr>
              <a:buFont typeface="Arial" pitchFamily="34" charset="0"/>
              <a:buChar char="•"/>
            </a:pPr>
            <a:r>
              <a:rPr lang="en-US" sz="2800" b="0" dirty="0" smtClean="0"/>
              <a:t>Data elements are combined into records, also called data structures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A record </a:t>
            </a:r>
            <a:r>
              <a:rPr lang="en-US" sz="2800" b="0" dirty="0" smtClean="0"/>
              <a:t>is a meaningful combination of related data elements that is included in a data flow or retained in a data store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Examples: </a:t>
            </a:r>
            <a:r>
              <a:rPr lang="en-US" sz="2800" b="0" dirty="0" smtClean="0"/>
              <a:t>Student record might include student number, name, course, grade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Dictionary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Documenting the Data Elements</a:t>
            </a:r>
          </a:p>
          <a:p>
            <a:pPr>
              <a:buFont typeface="Wingdings" pitchFamily="2" charset="2"/>
              <a:buNone/>
            </a:pPr>
            <a:endParaRPr lang="en-US" sz="800" dirty="0" smtClean="0"/>
          </a:p>
          <a:p>
            <a:pPr marL="463550" lvl="1" algn="just">
              <a:buFont typeface="Arial" pitchFamily="34" charset="0"/>
              <a:buChar char="•"/>
            </a:pPr>
            <a:r>
              <a:rPr lang="en-US" dirty="0" smtClean="0"/>
              <a:t>You must document every data element in the data dictionary</a:t>
            </a:r>
          </a:p>
          <a:p>
            <a:pPr marL="463550" lvl="1" algn="just">
              <a:buFont typeface="Arial" pitchFamily="34" charset="0"/>
              <a:buChar char="•"/>
            </a:pPr>
            <a:r>
              <a:rPr lang="en-US" dirty="0" smtClean="0"/>
              <a:t>The objective is the same: to provide clear, comprehensive information about the data and processes that make up the system</a:t>
            </a:r>
          </a:p>
          <a:p>
            <a:pPr marL="463550" lvl="1" algn="just">
              <a:buFont typeface="Arial" pitchFamily="34" charset="0"/>
              <a:buChar char="•"/>
            </a:pPr>
            <a:r>
              <a:rPr lang="en-US" dirty="0" smtClean="0"/>
              <a:t>Online or manual form or enter the information directly into a CASE tool</a:t>
            </a:r>
          </a:p>
          <a:p>
            <a:pPr marL="463550" lvl="1" algn="just">
              <a:buFont typeface="Arial" pitchFamily="34" charset="0"/>
              <a:buChar char="•"/>
            </a:pPr>
            <a:r>
              <a:rPr lang="en-US" b="1" dirty="0" smtClean="0"/>
              <a:t>CASE tools</a:t>
            </a:r>
            <a:r>
              <a:rPr lang="en-US" dirty="0" smtClean="0"/>
              <a:t>? Visible Analyst, Visio Professional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Dictionary</a:t>
            </a:r>
          </a:p>
        </p:txBody>
      </p:sp>
      <p:sp>
        <p:nvSpPr>
          <p:cNvPr id="50179" name="Content Placeholder 5"/>
          <p:cNvSpPr>
            <a:spLocks noGrp="1"/>
          </p:cNvSpPr>
          <p:nvPr>
            <p:ph sz="half" idx="1"/>
          </p:nvPr>
        </p:nvSpPr>
        <p:spPr>
          <a:xfrm>
            <a:off x="785813" y="2700338"/>
            <a:ext cx="3695700" cy="3357562"/>
          </a:xfrm>
        </p:spPr>
        <p:txBody>
          <a:bodyPr/>
          <a:lstStyle/>
          <a:p>
            <a:pPr marL="230188" lvl="2"/>
            <a:r>
              <a:rPr lang="en-US" sz="2400" smtClean="0"/>
              <a:t>Data element name and label</a:t>
            </a:r>
          </a:p>
          <a:p>
            <a:pPr marL="230188" lvl="2"/>
            <a:r>
              <a:rPr lang="en-US" sz="2400" smtClean="0"/>
              <a:t>Alias: Alternate name</a:t>
            </a:r>
          </a:p>
          <a:p>
            <a:pPr marL="230188" lvl="2"/>
            <a:r>
              <a:rPr lang="en-US" sz="2400" smtClean="0"/>
              <a:t>Type and length</a:t>
            </a:r>
          </a:p>
          <a:p>
            <a:pPr marL="230188" lvl="2"/>
            <a:r>
              <a:rPr lang="en-US" sz="2400" smtClean="0"/>
              <a:t>Default value</a:t>
            </a:r>
          </a:p>
          <a:p>
            <a:pPr marL="230188" lvl="2"/>
            <a:r>
              <a:rPr lang="en-US" sz="2400" smtClean="0"/>
              <a:t>Acceptable values - Domain and validity rules</a:t>
            </a:r>
          </a:p>
        </p:txBody>
      </p:sp>
      <p:sp>
        <p:nvSpPr>
          <p:cNvPr id="50180" name="Content Placeholder 6"/>
          <p:cNvSpPr>
            <a:spLocks noGrp="1"/>
          </p:cNvSpPr>
          <p:nvPr>
            <p:ph sz="half" idx="2"/>
          </p:nvPr>
        </p:nvSpPr>
        <p:spPr>
          <a:xfrm>
            <a:off x="4633913" y="2771775"/>
            <a:ext cx="3695700" cy="3286125"/>
          </a:xfrm>
        </p:spPr>
        <p:txBody>
          <a:bodyPr/>
          <a:lstStyle/>
          <a:p>
            <a:pPr marL="573088" lvl="2"/>
            <a:r>
              <a:rPr lang="en-US" sz="2400" smtClean="0"/>
              <a:t>Source</a:t>
            </a:r>
          </a:p>
          <a:p>
            <a:pPr marL="573088" lvl="2"/>
            <a:r>
              <a:rPr lang="en-US" sz="2400" smtClean="0"/>
              <a:t>Security</a:t>
            </a:r>
          </a:p>
          <a:p>
            <a:pPr marL="573088" lvl="2"/>
            <a:r>
              <a:rPr lang="en-US" sz="2400" smtClean="0"/>
              <a:t>Responsible user(s)</a:t>
            </a:r>
          </a:p>
          <a:p>
            <a:pPr marL="573088" lvl="2"/>
            <a:r>
              <a:rPr lang="en-US" sz="2400" smtClean="0"/>
              <a:t>Description and comments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8" name="Rectangle 7"/>
          <p:cNvSpPr/>
          <p:nvPr/>
        </p:nvSpPr>
        <p:spPr>
          <a:xfrm>
            <a:off x="465138" y="1570038"/>
            <a:ext cx="8447087" cy="904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1963" indent="-461963" algn="l">
              <a:spcBef>
                <a:spcPct val="20000"/>
              </a:spcBef>
              <a:buClr>
                <a:srgbClr val="000000"/>
              </a:buClr>
              <a:defRPr/>
            </a:pPr>
            <a:r>
              <a:rPr kumimoji="1" lang="en-US" sz="2400" b="1" kern="0" dirty="0">
                <a:solidFill>
                  <a:srgbClr val="001932"/>
                </a:solidFill>
                <a:latin typeface="Times New Roman"/>
              </a:rPr>
              <a:t>Documenting the Data Elements</a:t>
            </a:r>
          </a:p>
          <a:p>
            <a:pPr marL="461963" indent="-461963" algn="l">
              <a:spcBef>
                <a:spcPct val="20000"/>
              </a:spcBef>
              <a:buClr>
                <a:srgbClr val="000000"/>
              </a:buClr>
              <a:defRPr/>
            </a:pPr>
            <a:r>
              <a:rPr lang="en-US" sz="2400" dirty="0"/>
              <a:t>The following attributes usually are recorded and described:</a:t>
            </a:r>
            <a:endParaRPr kumimoji="1" lang="en-US" sz="2400" b="1" kern="0" dirty="0">
              <a:latin typeface="Times New Roman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60418" name="Tex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7391400" cy="4754563"/>
          </a:xfrm>
        </p:spPr>
        <p:txBody>
          <a:bodyPr/>
          <a:lstStyle/>
          <a:p>
            <a:pPr eaLnBrk="1" hangingPunct="1"/>
            <a:r>
              <a:rPr lang="en-US" dirty="0" smtClean="0"/>
              <a:t>Documenting the Data Elements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266DF9-1340-4E56-BEAA-0969EDD65684}" type="slidenum">
              <a:rPr lang="en-US"/>
              <a:pPr>
                <a:defRPr/>
              </a:pPr>
              <a:t>47</a:t>
            </a:fld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133600"/>
            <a:ext cx="6019800" cy="4462955"/>
          </a:xfr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66562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Documenting the </a:t>
            </a:r>
            <a:r>
              <a:rPr lang="en-US" b="1" dirty="0" smtClean="0"/>
              <a:t>Data Flows</a:t>
            </a:r>
          </a:p>
          <a:p>
            <a:pPr lvl="1" eaLnBrk="1" hangingPunct="1"/>
            <a:r>
              <a:rPr lang="en-US" dirty="0" smtClean="0"/>
              <a:t>The typical attributes are as follows</a:t>
            </a:r>
          </a:p>
          <a:p>
            <a:pPr lvl="2" eaLnBrk="1" hangingPunct="1"/>
            <a:r>
              <a:rPr lang="en-US" dirty="0" smtClean="0"/>
              <a:t>Data flow name or label</a:t>
            </a:r>
          </a:p>
          <a:p>
            <a:pPr lvl="2" eaLnBrk="1" hangingPunct="1"/>
            <a:r>
              <a:rPr lang="en-US" dirty="0" smtClean="0"/>
              <a:t>Description</a:t>
            </a:r>
          </a:p>
          <a:p>
            <a:pPr lvl="2" eaLnBrk="1" hangingPunct="1"/>
            <a:r>
              <a:rPr lang="en-US" dirty="0" smtClean="0"/>
              <a:t>Alternate name(s)</a:t>
            </a:r>
          </a:p>
          <a:p>
            <a:pPr lvl="2" eaLnBrk="1" hangingPunct="1"/>
            <a:r>
              <a:rPr lang="en-US" dirty="0" smtClean="0"/>
              <a:t>Origin</a:t>
            </a:r>
          </a:p>
          <a:p>
            <a:pPr lvl="2" eaLnBrk="1" hangingPunct="1"/>
            <a:r>
              <a:rPr lang="en-US" dirty="0" smtClean="0"/>
              <a:t>Destination</a:t>
            </a:r>
          </a:p>
          <a:p>
            <a:pPr lvl="2" eaLnBrk="1" hangingPunct="1"/>
            <a:r>
              <a:rPr lang="en-US" dirty="0" smtClean="0"/>
              <a:t>Record</a:t>
            </a:r>
          </a:p>
          <a:p>
            <a:pPr lvl="2" eaLnBrk="1" hangingPunct="1"/>
            <a:r>
              <a:rPr lang="en-US" dirty="0" smtClean="0"/>
              <a:t>Volume and frequency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43764-AFF6-4813-A0A3-A5F3853BE2A4}" type="slidenum">
              <a:rPr lang="en-US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68610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Documenting the </a:t>
            </a:r>
            <a:r>
              <a:rPr lang="en-US" b="1" dirty="0" smtClean="0"/>
              <a:t>Data Stores</a:t>
            </a:r>
          </a:p>
          <a:p>
            <a:pPr lvl="1" eaLnBrk="1" hangingPunct="1"/>
            <a:r>
              <a:rPr lang="en-US" dirty="0" smtClean="0"/>
              <a:t>Typical characteristics of a data store are</a:t>
            </a:r>
          </a:p>
          <a:p>
            <a:pPr lvl="2" eaLnBrk="1" hangingPunct="1"/>
            <a:r>
              <a:rPr lang="en-US" dirty="0" smtClean="0"/>
              <a:t>Data store name or label</a:t>
            </a:r>
          </a:p>
          <a:p>
            <a:pPr lvl="2" eaLnBrk="1" hangingPunct="1"/>
            <a:r>
              <a:rPr lang="en-US" dirty="0" smtClean="0"/>
              <a:t>Description</a:t>
            </a:r>
          </a:p>
          <a:p>
            <a:pPr lvl="2" eaLnBrk="1" hangingPunct="1"/>
            <a:r>
              <a:rPr lang="en-US" dirty="0" smtClean="0"/>
              <a:t>Alternate name(s)</a:t>
            </a:r>
          </a:p>
          <a:p>
            <a:pPr lvl="2" eaLnBrk="1" hangingPunct="1"/>
            <a:r>
              <a:rPr lang="en-US" dirty="0" smtClean="0"/>
              <a:t>Attributes</a:t>
            </a:r>
          </a:p>
          <a:p>
            <a:pPr lvl="2" eaLnBrk="1" hangingPunct="1"/>
            <a:r>
              <a:rPr lang="en-US" dirty="0" smtClean="0"/>
              <a:t>Volume and frequency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59BE03-59C3-4324-9870-351956AB915E}" type="slidenum">
              <a:rPr lang="en-US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70658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Documenting the </a:t>
            </a:r>
            <a:r>
              <a:rPr lang="en-US" b="1" dirty="0" smtClean="0"/>
              <a:t>Processes</a:t>
            </a:r>
          </a:p>
          <a:p>
            <a:pPr lvl="1" eaLnBrk="1" hangingPunct="1"/>
            <a:r>
              <a:rPr lang="en-US" dirty="0" smtClean="0"/>
              <a:t>Typical characteristics of a process </a:t>
            </a:r>
          </a:p>
          <a:p>
            <a:pPr lvl="2" eaLnBrk="1" hangingPunct="1"/>
            <a:r>
              <a:rPr lang="en-US" dirty="0" smtClean="0"/>
              <a:t>Process name or label</a:t>
            </a:r>
          </a:p>
          <a:p>
            <a:pPr lvl="2" eaLnBrk="1" hangingPunct="1"/>
            <a:r>
              <a:rPr lang="en-US" dirty="0" smtClean="0"/>
              <a:t>Description</a:t>
            </a:r>
          </a:p>
          <a:p>
            <a:pPr lvl="2" eaLnBrk="1" hangingPunct="1"/>
            <a:r>
              <a:rPr lang="en-US" dirty="0" smtClean="0"/>
              <a:t>Process number</a:t>
            </a:r>
          </a:p>
          <a:p>
            <a:pPr lvl="2" eaLnBrk="1" hangingPunct="1"/>
            <a:r>
              <a:rPr lang="en-US" dirty="0" smtClean="0"/>
              <a:t>Process description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DCD02A-EDE6-4564-9AE6-059D52D1E789}" type="slidenum">
              <a:rPr lang="en-US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72706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Documenting the </a:t>
            </a:r>
            <a:r>
              <a:rPr lang="en-US" b="1" dirty="0" smtClean="0"/>
              <a:t>Entities</a:t>
            </a:r>
          </a:p>
          <a:p>
            <a:pPr lvl="1" eaLnBrk="1" hangingPunct="1"/>
            <a:r>
              <a:rPr lang="en-US" dirty="0" smtClean="0"/>
              <a:t>Typical characteristics of an entity include</a:t>
            </a:r>
          </a:p>
          <a:p>
            <a:pPr lvl="2" eaLnBrk="1" hangingPunct="1"/>
            <a:r>
              <a:rPr lang="en-US" dirty="0" smtClean="0"/>
              <a:t>Entity name</a:t>
            </a:r>
          </a:p>
          <a:p>
            <a:pPr lvl="2" eaLnBrk="1" hangingPunct="1"/>
            <a:r>
              <a:rPr lang="en-US" dirty="0" smtClean="0"/>
              <a:t>Description</a:t>
            </a:r>
          </a:p>
          <a:p>
            <a:pPr lvl="2" eaLnBrk="1" hangingPunct="1"/>
            <a:r>
              <a:rPr lang="en-US" dirty="0" smtClean="0"/>
              <a:t>Alternate name(s)</a:t>
            </a:r>
          </a:p>
          <a:p>
            <a:pPr lvl="2" eaLnBrk="1" hangingPunct="1"/>
            <a:r>
              <a:rPr lang="en-US" dirty="0" smtClean="0"/>
              <a:t>Input data flows</a:t>
            </a:r>
          </a:p>
          <a:p>
            <a:pPr lvl="2" eaLnBrk="1" hangingPunct="1"/>
            <a:r>
              <a:rPr lang="en-US" dirty="0" smtClean="0"/>
              <a:t>Output data flows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E1F53E-800D-4782-A199-92F79622D67E}" type="slidenum">
              <a:rPr lang="en-US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Dictionary</a:t>
            </a:r>
          </a:p>
        </p:txBody>
      </p:sp>
      <p:sp>
        <p:nvSpPr>
          <p:cNvPr id="7475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Documenting the </a:t>
            </a:r>
            <a:r>
              <a:rPr lang="en-US" b="1" dirty="0" smtClean="0"/>
              <a:t>Records</a:t>
            </a:r>
          </a:p>
          <a:p>
            <a:pPr lvl="1" eaLnBrk="1" hangingPunct="1"/>
            <a:r>
              <a:rPr lang="en-US" dirty="0" smtClean="0"/>
              <a:t>Typical characteristics of a record include</a:t>
            </a:r>
          </a:p>
          <a:p>
            <a:pPr lvl="2" eaLnBrk="1" hangingPunct="1"/>
            <a:r>
              <a:rPr lang="en-US" dirty="0" smtClean="0"/>
              <a:t>Record or data structure name</a:t>
            </a:r>
          </a:p>
          <a:p>
            <a:pPr lvl="2" eaLnBrk="1" hangingPunct="1"/>
            <a:r>
              <a:rPr lang="en-US" dirty="0" smtClean="0"/>
              <a:t>Definition or description</a:t>
            </a:r>
          </a:p>
          <a:p>
            <a:pPr lvl="2" eaLnBrk="1" hangingPunct="1"/>
            <a:r>
              <a:rPr lang="en-US" dirty="0" smtClean="0"/>
              <a:t>Alternate name(s)</a:t>
            </a:r>
          </a:p>
          <a:p>
            <a:pPr lvl="2" eaLnBrk="1" hangingPunct="1"/>
            <a:r>
              <a:rPr lang="en-US" dirty="0" smtClean="0"/>
              <a:t>Attributes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0F749-1DDC-4887-93B9-7C07D6703022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Dictionary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98600"/>
            <a:ext cx="8202613" cy="4805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Data Dictionary Reports</a:t>
            </a:r>
          </a:p>
          <a:p>
            <a:pPr>
              <a:buFont typeface="Wingdings" pitchFamily="2" charset="2"/>
              <a:buNone/>
            </a:pPr>
            <a:endParaRPr lang="en-US" sz="800" dirty="0" smtClean="0"/>
          </a:p>
          <a:p>
            <a:pPr>
              <a:buFont typeface="Arial" pitchFamily="34" charset="0"/>
              <a:buChar char="•"/>
            </a:pPr>
            <a:r>
              <a:rPr lang="en-US" sz="2400" b="0" dirty="0" smtClean="0"/>
              <a:t>Data dictionary documents not only components but also </a:t>
            </a:r>
            <a:r>
              <a:rPr lang="en-US" sz="2400" dirty="0" smtClean="0"/>
              <a:t>relationships </a:t>
            </a:r>
            <a:r>
              <a:rPr lang="en-US" sz="2400" b="0" dirty="0" smtClean="0"/>
              <a:t>between the components</a:t>
            </a:r>
          </a:p>
          <a:p>
            <a:pPr marL="461963" lvl="1" indent="-461963">
              <a:buFont typeface="Arial" pitchFamily="34" charset="0"/>
              <a:buChar char="•"/>
            </a:pPr>
            <a:r>
              <a:rPr lang="en-US" sz="2400" dirty="0" smtClean="0"/>
              <a:t>Many </a:t>
            </a:r>
            <a:r>
              <a:rPr lang="en-US" sz="2400" b="1" dirty="0" smtClean="0"/>
              <a:t>valuable reports</a:t>
            </a:r>
          </a:p>
          <a:p>
            <a:pPr marL="914400" lvl="2" indent="-455613">
              <a:buFont typeface="Wingdings" pitchFamily="2" charset="2"/>
              <a:buChar char="ü"/>
            </a:pPr>
            <a:r>
              <a:rPr lang="en-US" dirty="0" smtClean="0"/>
              <a:t>An alphabetized list of all data elements by name</a:t>
            </a:r>
          </a:p>
          <a:p>
            <a:pPr marL="914400" lvl="2" indent="-455613">
              <a:buFont typeface="Wingdings" pitchFamily="2" charset="2"/>
              <a:buChar char="ü"/>
            </a:pPr>
            <a:r>
              <a:rPr lang="en-US" dirty="0" smtClean="0"/>
              <a:t>A report describing each data element and indicating the user or department that is responsible for data entry, updating, or deletion</a:t>
            </a:r>
          </a:p>
          <a:p>
            <a:pPr marL="914400" lvl="2" indent="-455613">
              <a:buFont typeface="Wingdings" pitchFamily="2" charset="2"/>
              <a:buChar char="ü"/>
            </a:pPr>
            <a:r>
              <a:rPr lang="en-US" dirty="0" smtClean="0"/>
              <a:t>A report of all data flows and data stores that use a particular data element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Description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 </a:t>
            </a:r>
            <a:r>
              <a:rPr lang="en-US" b="1" dirty="0" smtClean="0"/>
              <a:t>process description </a:t>
            </a:r>
            <a:r>
              <a:rPr lang="en-US" dirty="0" smtClean="0"/>
              <a:t>documents the details of a functional primitive, which represents a specific set of processing steps and business logic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 smtClean="0"/>
              <a:t>Typical process description tools</a:t>
            </a:r>
            <a:r>
              <a:rPr lang="en-US" dirty="0" smtClean="0"/>
              <a:t>:</a:t>
            </a:r>
          </a:p>
          <a:p>
            <a:pPr marL="914400" indent="-449263">
              <a:buFont typeface="Wingdings" pitchFamily="2" charset="2"/>
              <a:buChar char="ü"/>
              <a:defRPr/>
            </a:pPr>
            <a:r>
              <a:rPr lang="en-US" dirty="0" smtClean="0"/>
              <a:t>Structured English</a:t>
            </a:r>
          </a:p>
          <a:p>
            <a:pPr marL="914400" indent="-449263">
              <a:buFont typeface="Wingdings" pitchFamily="2" charset="2"/>
              <a:buChar char="ü"/>
              <a:defRPr/>
            </a:pPr>
            <a:r>
              <a:rPr lang="en-US" dirty="0" smtClean="0"/>
              <a:t>Decision tables</a:t>
            </a:r>
          </a:p>
          <a:p>
            <a:pPr marL="914400" indent="-449263">
              <a:buFont typeface="Wingdings" pitchFamily="2" charset="2"/>
              <a:buChar char="ü"/>
              <a:defRPr/>
            </a:pPr>
            <a:r>
              <a:rPr lang="en-US" dirty="0" smtClean="0"/>
              <a:t>Decision Trees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6B9611-EF5F-4049-87A2-3524023C3102}" type="slidenum">
              <a:rPr lang="en-US"/>
              <a:pPr>
                <a:defRPr/>
              </a:pPr>
              <a:t>54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sz="2400" b="0" dirty="0" smtClean="0"/>
              <a:t>When analyze a functional primitive,  break the processing steps down into smaller units in a process called modular design.</a:t>
            </a:r>
          </a:p>
          <a:p>
            <a:pPr marL="347663" indent="-347663">
              <a:buFont typeface="Wingdings" pitchFamily="2" charset="2"/>
              <a:buChar char="§"/>
              <a:defRPr/>
            </a:pPr>
            <a:endParaRPr lang="en-US" sz="800" dirty="0" smtClean="0"/>
          </a:p>
          <a:p>
            <a:pPr marL="347663" indent="-347663">
              <a:buFont typeface="Wingdings" pitchFamily="2" charset="2"/>
              <a:buNone/>
              <a:defRPr/>
            </a:pPr>
            <a:r>
              <a:rPr lang="en-US" sz="2400" b="1" dirty="0" smtClean="0"/>
              <a:t>Modular Design</a:t>
            </a:r>
          </a:p>
          <a:p>
            <a:pPr marL="393700" indent="-334963" algn="just">
              <a:buFont typeface="Wingdings" pitchFamily="2" charset="2"/>
              <a:buChar char="§"/>
              <a:defRPr/>
            </a:pPr>
            <a:r>
              <a:rPr lang="en-US" sz="2400" b="0" dirty="0" smtClean="0"/>
              <a:t>Based on combinations of three </a:t>
            </a:r>
            <a:r>
              <a:rPr lang="en-US" sz="2400" dirty="0" smtClean="0"/>
              <a:t>logical structures</a:t>
            </a:r>
            <a:r>
              <a:rPr lang="en-US" sz="2400" b="0" dirty="0" smtClean="0"/>
              <a:t>, sometimes called </a:t>
            </a:r>
            <a:r>
              <a:rPr lang="en-US" sz="2400" dirty="0" smtClean="0"/>
              <a:t>control structures </a:t>
            </a:r>
            <a:r>
              <a:rPr lang="en-US" sz="2400" b="0" dirty="0" smtClean="0"/>
              <a:t>which serve as building blocks for the process</a:t>
            </a:r>
          </a:p>
          <a:p>
            <a:pPr marL="971550" lvl="2" indent="-334963">
              <a:buFont typeface="Wingdings" pitchFamily="2" charset="2"/>
              <a:buChar char="q"/>
              <a:defRPr/>
            </a:pPr>
            <a:r>
              <a:rPr lang="en-US" dirty="0" smtClean="0"/>
              <a:t>Sequence</a:t>
            </a:r>
          </a:p>
          <a:p>
            <a:pPr marL="971550" lvl="2" indent="-334963">
              <a:buFont typeface="Wingdings" pitchFamily="2" charset="2"/>
              <a:buChar char="q"/>
              <a:defRPr/>
            </a:pPr>
            <a:r>
              <a:rPr lang="en-US" dirty="0" smtClean="0"/>
              <a:t>Selection</a:t>
            </a:r>
          </a:p>
          <a:p>
            <a:pPr marL="971550" lvl="2" indent="-334963">
              <a:buFont typeface="Wingdings" pitchFamily="2" charset="2"/>
              <a:buChar char="q"/>
              <a:defRPr/>
            </a:pPr>
            <a:r>
              <a:rPr lang="en-US" dirty="0" smtClean="0"/>
              <a:t>Iteration – looping</a:t>
            </a:r>
          </a:p>
          <a:p>
            <a:pPr marL="393700" lvl="2" indent="-334963">
              <a:buFont typeface="Wingdings" pitchFamily="2" charset="2"/>
              <a:buChar char="§"/>
              <a:defRPr/>
            </a:pPr>
            <a:r>
              <a:rPr lang="en-US" dirty="0" smtClean="0"/>
              <a:t>Only have a single entry and exit point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33488"/>
            <a:ext cx="7796213" cy="4824412"/>
          </a:xfrm>
        </p:spPr>
        <p:txBody>
          <a:bodyPr/>
          <a:lstStyle/>
          <a:p>
            <a:pPr marL="347663" indent="-347663">
              <a:buFont typeface="Wingdings" pitchFamily="2" charset="2"/>
              <a:buChar char="§"/>
              <a:defRPr/>
            </a:pPr>
            <a:endParaRPr lang="en-US" sz="800" dirty="0" smtClean="0"/>
          </a:p>
          <a:p>
            <a:pPr marL="347663" indent="-347663">
              <a:buFont typeface="Wingdings" pitchFamily="2" charset="2"/>
              <a:buNone/>
              <a:defRPr/>
            </a:pPr>
            <a:r>
              <a:rPr lang="en-US" sz="2400" b="1" dirty="0" smtClean="0"/>
              <a:t>Modular Design</a:t>
            </a:r>
          </a:p>
          <a:p>
            <a:pPr marL="347663" indent="-347663">
              <a:buFont typeface="Wingdings" pitchFamily="2" charset="2"/>
              <a:buNone/>
              <a:defRPr/>
            </a:pPr>
            <a:endParaRPr lang="en-US" sz="800" dirty="0" smtClean="0"/>
          </a:p>
          <a:p>
            <a:pPr marL="508000" lvl="2" indent="-508000">
              <a:buFont typeface="Wingdings" pitchFamily="2" charset="2"/>
              <a:buChar char="§"/>
              <a:tabLst>
                <a:tab pos="508000" algn="l"/>
              </a:tabLst>
              <a:defRPr/>
            </a:pPr>
            <a:r>
              <a:rPr lang="en-US" b="1" dirty="0" smtClean="0"/>
              <a:t>Sequence</a:t>
            </a:r>
          </a:p>
          <a:p>
            <a:pPr marL="508000" lvl="2" indent="0">
              <a:buFontTx/>
              <a:buNone/>
              <a:tabLst>
                <a:tab pos="508000" algn="l"/>
              </a:tabLst>
              <a:defRPr/>
            </a:pPr>
            <a:r>
              <a:rPr lang="en-US" dirty="0" smtClean="0"/>
              <a:t>The completion of steps in sequential order</a:t>
            </a:r>
          </a:p>
          <a:p>
            <a:pPr marL="508000" lvl="2" indent="-508000">
              <a:buFont typeface="Wingdings" pitchFamily="2" charset="2"/>
              <a:buChar char="§"/>
              <a:tabLst>
                <a:tab pos="508000" algn="l"/>
              </a:tabLst>
              <a:defRPr/>
            </a:pPr>
            <a:r>
              <a:rPr lang="en-US" b="1" dirty="0" smtClean="0"/>
              <a:t>Selection</a:t>
            </a:r>
          </a:p>
          <a:p>
            <a:pPr marL="508000" lvl="2" indent="0">
              <a:buFontTx/>
              <a:buNone/>
              <a:tabLst>
                <a:tab pos="347663" algn="l"/>
              </a:tabLst>
              <a:defRPr/>
            </a:pPr>
            <a:r>
              <a:rPr lang="en-US" dirty="0" smtClean="0"/>
              <a:t>The completion of one or two or more steps based on the results of a test or condition (if-then-else/case)</a:t>
            </a:r>
          </a:p>
          <a:p>
            <a:pPr marL="508000" lvl="2" indent="-508000">
              <a:buFont typeface="Wingdings" pitchFamily="2" charset="2"/>
              <a:buChar char="§"/>
              <a:tabLst>
                <a:tab pos="508000" algn="l"/>
              </a:tabLst>
              <a:defRPr/>
            </a:pPr>
            <a:r>
              <a:rPr lang="en-US" b="1" dirty="0" smtClean="0"/>
              <a:t>Iteration – looping</a:t>
            </a:r>
          </a:p>
          <a:p>
            <a:pPr marL="508000" lvl="2" indent="0">
              <a:buFontTx/>
              <a:buNone/>
              <a:tabLst>
                <a:tab pos="508000" algn="l"/>
              </a:tabLst>
              <a:defRPr/>
            </a:pPr>
            <a:r>
              <a:rPr lang="en-US" dirty="0" smtClean="0"/>
              <a:t>The completion of a process step that is repeated until a specific condition changes (do-while/do-until)</a:t>
            </a:r>
          </a:p>
          <a:p>
            <a:pPr marL="508000" lvl="2" indent="-508000">
              <a:buFontTx/>
              <a:buNone/>
              <a:tabLst>
                <a:tab pos="508000" algn="l"/>
              </a:tabLst>
              <a:defRPr/>
            </a:pPr>
            <a:endParaRPr lang="en-US" sz="800" dirty="0" smtClean="0"/>
          </a:p>
          <a:p>
            <a:pPr marL="508000" lvl="2" indent="-508000">
              <a:buFontTx/>
              <a:buNone/>
              <a:tabLst>
                <a:tab pos="508000" algn="l"/>
              </a:tabLst>
              <a:defRPr/>
            </a:pPr>
            <a:r>
              <a:rPr lang="en-US" dirty="0" smtClean="0"/>
              <a:t>Can be combined to describe processing logic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Typical process description tools:</a:t>
            </a:r>
          </a:p>
          <a:p>
            <a:pPr>
              <a:buFont typeface="Wingdings" pitchFamily="2" charset="2"/>
              <a:buNone/>
              <a:defRPr/>
            </a:pPr>
            <a:endParaRPr lang="en-US" dirty="0" smtClean="0"/>
          </a:p>
          <a:p>
            <a:pPr marL="979487" indent="-514350">
              <a:buFont typeface="+mj-lt"/>
              <a:buAutoNum type="arabicPeriod"/>
              <a:defRPr/>
            </a:pPr>
            <a:r>
              <a:rPr lang="en-US" b="0" dirty="0" smtClean="0"/>
              <a:t>Structured English</a:t>
            </a:r>
          </a:p>
          <a:p>
            <a:pPr marL="979487" indent="-514350">
              <a:buFont typeface="+mj-lt"/>
              <a:buAutoNum type="arabicPeriod"/>
              <a:defRPr/>
            </a:pPr>
            <a:r>
              <a:rPr lang="en-US" b="0" dirty="0" smtClean="0"/>
              <a:t>Decision tables</a:t>
            </a:r>
          </a:p>
          <a:p>
            <a:pPr marL="979487" indent="-514350">
              <a:buFont typeface="+mj-lt"/>
              <a:buAutoNum type="arabicPeriod"/>
              <a:defRPr/>
            </a:pPr>
            <a:r>
              <a:rPr lang="en-US" b="0" dirty="0" smtClean="0"/>
              <a:t>Decision Trees</a:t>
            </a:r>
            <a:endParaRPr lang="en-US" dirty="0" smtClean="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b="1" dirty="0" smtClean="0"/>
              <a:t>Structured English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sz="1100" dirty="0" smtClean="0"/>
          </a:p>
          <a:p>
            <a:pPr marL="1152525" indent="-585788" algn="just">
              <a:buFont typeface="Arial" pitchFamily="34" charset="0"/>
              <a:buChar char="•"/>
              <a:defRPr/>
            </a:pPr>
            <a:r>
              <a:rPr lang="en-US" sz="2800" b="0" dirty="0" smtClean="0"/>
              <a:t>Describes logical processes clearly and accurately</a:t>
            </a:r>
          </a:p>
          <a:p>
            <a:pPr marL="1152525" lvl="2" indent="-585788" algn="just">
              <a:buFont typeface="Arial" pitchFamily="34" charset="0"/>
              <a:buChar char="•"/>
              <a:defRPr/>
            </a:pPr>
            <a:r>
              <a:rPr lang="en-US" sz="2800" dirty="0" smtClean="0"/>
              <a:t>To ensure that your process description are understandable to users who must confirm that the process is correct.</a:t>
            </a:r>
          </a:p>
          <a:p>
            <a:pPr marL="1152525" lvl="2" indent="-585788" algn="just">
              <a:buFont typeface="Arial" pitchFamily="34" charset="0"/>
              <a:buChar char="•"/>
              <a:defRPr/>
            </a:pPr>
            <a:r>
              <a:rPr lang="en-US" sz="2800" dirty="0" smtClean="0"/>
              <a:t>Might look familiar to programming students because it resembles pseudo code</a:t>
            </a:r>
          </a:p>
          <a:p>
            <a:pPr marL="1152525" lvl="2" indent="-585788" algn="just">
              <a:buFontTx/>
              <a:buNone/>
              <a:defRPr/>
            </a:pPr>
            <a:endParaRPr lang="en-US" sz="2800" dirty="0" smtClean="0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b="1" dirty="0" smtClean="0"/>
              <a:t>Structured English</a:t>
            </a:r>
          </a:p>
          <a:p>
            <a:pPr lvl="1">
              <a:buFont typeface="Arial" pitchFamily="34" charset="0"/>
              <a:buNone/>
            </a:pPr>
            <a:endParaRPr lang="en-US" sz="1200" dirty="0" smtClean="0"/>
          </a:p>
          <a:p>
            <a:pPr lvl="1">
              <a:buFont typeface="Arial" pitchFamily="34" charset="0"/>
              <a:buNone/>
            </a:pPr>
            <a:r>
              <a:rPr lang="en-US" sz="2400" dirty="0" smtClean="0"/>
              <a:t>Must conform to the following rules</a:t>
            </a:r>
          </a:p>
          <a:p>
            <a:pPr lvl="2"/>
            <a:r>
              <a:rPr lang="en-US" dirty="0" smtClean="0"/>
              <a:t>Use only the three building blocks of sequence, selection, and iteration</a:t>
            </a:r>
          </a:p>
          <a:p>
            <a:pPr lvl="2"/>
            <a:r>
              <a:rPr lang="en-US" dirty="0" smtClean="0"/>
              <a:t>Use indentation for readability</a:t>
            </a:r>
          </a:p>
          <a:p>
            <a:pPr lvl="2"/>
            <a:r>
              <a:rPr lang="en-US" dirty="0" smtClean="0"/>
              <a:t>Use a limited vocabulary, including standard terms used in the data dictionary and specific words that describe the processing rules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Description Tools</a:t>
            </a:r>
          </a:p>
        </p:txBody>
      </p:sp>
      <p:sp>
        <p:nvSpPr>
          <p:cNvPr id="84994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Structured English</a:t>
            </a:r>
          </a:p>
          <a:p>
            <a:pPr lvl="1" eaLnBrk="1" hangingPunct="1">
              <a:buNone/>
            </a:pP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34ADAB-4B53-40F8-87D3-9A338DE59B7F}" type="slidenum">
              <a:rPr lang="en-US"/>
              <a:pPr>
                <a:defRPr/>
              </a:pPr>
              <a:t>60</a:t>
            </a:fld>
            <a:endParaRPr lang="en-US"/>
          </a:p>
        </p:txBody>
      </p:sp>
      <p:pic>
        <p:nvPicPr>
          <p:cNvPr id="7" name="Picture 15" descr="C:\renger\fall06\proj\sad7e\chapter4\CHAP04StudyTool_files\proj4\43F04-3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362200"/>
            <a:ext cx="6701559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Description Tools</a:t>
            </a:r>
          </a:p>
        </p:txBody>
      </p:sp>
      <p:sp>
        <p:nvSpPr>
          <p:cNvPr id="87042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Decision Tables</a:t>
            </a:r>
          </a:p>
          <a:p>
            <a:pPr lvl="1" eaLnBrk="1" hangingPunct="1"/>
            <a:r>
              <a:rPr lang="en-US" smtClean="0"/>
              <a:t>Shows a logical structure, with all possible combinations of conditions and resulting actions</a:t>
            </a:r>
          </a:p>
          <a:p>
            <a:pPr lvl="1" eaLnBrk="1" hangingPunct="1"/>
            <a:r>
              <a:rPr lang="en-US" smtClean="0"/>
              <a:t>It is important to consider every possible outcome to ensure that you have overlooked nothing</a:t>
            </a:r>
          </a:p>
          <a:p>
            <a:pPr lvl="1" eaLnBrk="1" hangingPunct="1"/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F30F23-FFAD-45E4-BFC3-E57F7C74E818}" type="slidenum">
              <a:rPr lang="en-US"/>
              <a:pPr>
                <a:defRPr/>
              </a:pPr>
              <a:t>61</a:t>
            </a:fld>
            <a:endParaRPr lang="en-US"/>
          </a:p>
        </p:txBody>
      </p:sp>
      <p:pic>
        <p:nvPicPr>
          <p:cNvPr id="8704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495800"/>
            <a:ext cx="60960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dirty="0" smtClean="0"/>
              <a:t>2. Decision Tables</a:t>
            </a:r>
          </a:p>
          <a:p>
            <a:pPr>
              <a:buFont typeface="Wingdings" pitchFamily="2" charset="2"/>
              <a:buNone/>
            </a:pPr>
            <a:endParaRPr lang="en-US" b="1" dirty="0" smtClean="0"/>
          </a:p>
          <a:p>
            <a:pPr lvl="1"/>
            <a:r>
              <a:rPr lang="en-US" dirty="0" smtClean="0"/>
              <a:t>Shows a logical structure, with all possible combinations of </a:t>
            </a:r>
            <a:r>
              <a:rPr lang="en-US" b="1" dirty="0" smtClean="0"/>
              <a:t>conditions</a:t>
            </a:r>
            <a:r>
              <a:rPr lang="en-US" dirty="0" smtClean="0"/>
              <a:t> and </a:t>
            </a:r>
            <a:r>
              <a:rPr lang="en-US" b="1" dirty="0" smtClean="0"/>
              <a:t>resulting </a:t>
            </a:r>
            <a:r>
              <a:rPr lang="en-US" dirty="0" smtClean="0"/>
              <a:t>actions</a:t>
            </a:r>
          </a:p>
          <a:p>
            <a:pPr lvl="1"/>
            <a:r>
              <a:rPr lang="en-US" dirty="0" smtClean="0"/>
              <a:t>The best way to describe a complex of conditions.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30763"/>
          </a:xfrm>
        </p:spPr>
        <p:txBody>
          <a:bodyPr/>
          <a:lstStyle/>
          <a:p>
            <a:r>
              <a:rPr lang="en-US" b="1" dirty="0" smtClean="0"/>
              <a:t>Decision Tables</a:t>
            </a:r>
          </a:p>
          <a:p>
            <a:pPr lvl="1"/>
            <a:endParaRPr lang="en-US" dirty="0" smtClean="0"/>
          </a:p>
        </p:txBody>
      </p:sp>
      <p:pic>
        <p:nvPicPr>
          <p:cNvPr id="65540" name="Picture 14" descr="C:\renger\fall06\proj\sad7e\chapter4\CHAP04StudyTool_files\proj4\43F04-3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0513" y="2063750"/>
            <a:ext cx="6043074" cy="441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Description Tools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Decision Tables</a:t>
            </a:r>
          </a:p>
        </p:txBody>
      </p:sp>
      <p:pic>
        <p:nvPicPr>
          <p:cNvPr id="66564" name="Picture 8" descr="C:\renger\fall06\proj\sad7e\chapter4\CHAP04StudyTool_files\proj4\43F04-3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913" y="2397125"/>
            <a:ext cx="68580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Process Description Tools</a:t>
            </a:r>
          </a:p>
        </p:txBody>
      </p:sp>
      <p:sp>
        <p:nvSpPr>
          <p:cNvPr id="91138" name="Tex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514350" indent="-514350" eaLnBrk="1" hangingPunct="1">
              <a:buNone/>
            </a:pPr>
            <a:r>
              <a:rPr lang="en-US" sz="2800" b="1" dirty="0" smtClean="0"/>
              <a:t>3. Decision Trees</a:t>
            </a:r>
          </a:p>
          <a:p>
            <a:pPr marL="514350" indent="-514350" eaLnBrk="1" hangingPunct="1">
              <a:buNone/>
            </a:pPr>
            <a:r>
              <a:rPr lang="en-US" sz="2800" dirty="0" smtClean="0"/>
              <a:t>A graphical representation of decision table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3FA2A1-14E7-44B2-B264-868DAC053F31}" type="slidenum">
              <a:rPr lang="en-US"/>
              <a:pPr>
                <a:defRPr/>
              </a:pPr>
              <a:t>65</a:t>
            </a:fld>
            <a:endParaRPr lang="en-US"/>
          </a:p>
        </p:txBody>
      </p:sp>
      <p:pic>
        <p:nvPicPr>
          <p:cNvPr id="9114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667000"/>
            <a:ext cx="73818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mtClean="0"/>
              <a:t>During data and process modeling, a systems analyst develops graphical models to show how the system transforms data into useful information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mtClean="0"/>
              <a:t>The end product of data and process modeling is a logical model that will support business operations and meet user needs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mtClean="0"/>
              <a:t>Data and process modeling involves three main tools: data flow diagrams, a data dictionary, and process descriptions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ACB35-689C-4295-85C1-DBED53B5F52D}" type="slidenum">
              <a:rPr lang="en-US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101378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flow diagrams (DFDs) graphically show the movement and transformation of data in the information system</a:t>
            </a:r>
          </a:p>
          <a:p>
            <a:pPr eaLnBrk="1" hangingPunct="1"/>
            <a:r>
              <a:rPr lang="en-US" smtClean="0"/>
              <a:t>DFDs use four symbols</a:t>
            </a:r>
          </a:p>
          <a:p>
            <a:pPr eaLnBrk="1" hangingPunct="1"/>
            <a:r>
              <a:rPr lang="en-US" smtClean="0"/>
              <a:t>A set of DFDs is like a pyramid with the context diagram at the 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723D5E-DC1A-45BA-8810-EABB7813FAEC}" type="slidenum">
              <a:rPr lang="en-US"/>
              <a:pPr>
                <a:defRPr/>
              </a:pPr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 data dictionary is the central documentation tool for structured analysis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Each functional primitive process is documented using structured English, decision tables, and decision 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328F54-33B9-47A4-899C-10FB271B6D91}" type="slidenum">
              <a:rPr lang="en-US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2829</Words>
  <Application>Microsoft Office PowerPoint</Application>
  <PresentationFormat>On-screen Show (4:3)</PresentationFormat>
  <Paragraphs>457</Paragraphs>
  <Slides>68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Arial</vt:lpstr>
      <vt:lpstr>Calibri</vt:lpstr>
      <vt:lpstr>Helvetica</vt:lpstr>
      <vt:lpstr>Noto Sans Symbols</vt:lpstr>
      <vt:lpstr>Times New Roman</vt:lpstr>
      <vt:lpstr>Wingdings</vt:lpstr>
      <vt:lpstr>Office Theme</vt:lpstr>
      <vt:lpstr>Week 7  </vt:lpstr>
      <vt:lpstr>Process Modeling</vt:lpstr>
      <vt:lpstr>Figure 1: Systems Development Life Cycle with the Analysis Phase Highlighted</vt:lpstr>
      <vt:lpstr>Overview of Data and Process Modeling Tools</vt:lpstr>
      <vt:lpstr>Overview of Data and Process Modeling Tools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DFD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Data Flow Diagrams</vt:lpstr>
      <vt:lpstr>DFD</vt:lpstr>
      <vt:lpstr>Data Flow Diagrams</vt:lpstr>
      <vt:lpstr>Data Flow Diagrams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Creating a Set of DFDs</vt:lpstr>
      <vt:lpstr>CASE IN POINT 4.1</vt:lpstr>
      <vt:lpstr>CASE IN POINT 4.1</vt:lpstr>
      <vt:lpstr>CASE IN POINT 4.1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Process Description Tools</vt:lpstr>
      <vt:lpstr>Chapter Summary</vt:lpstr>
      <vt:lpstr>Chapter Summary</vt:lpstr>
      <vt:lpstr>Chapter 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renger</dc:creator>
  <cp:lastModifiedBy>Admin</cp:lastModifiedBy>
  <cp:revision>34</cp:revision>
  <dcterms:created xsi:type="dcterms:W3CDTF">2009-02-03T18:32:10Z</dcterms:created>
  <dcterms:modified xsi:type="dcterms:W3CDTF">2022-11-28T09:31:46Z</dcterms:modified>
</cp:coreProperties>
</file>