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323" r:id="rId2"/>
    <p:sldId id="263" r:id="rId3"/>
    <p:sldId id="264" r:id="rId4"/>
    <p:sldId id="266" r:id="rId5"/>
    <p:sldId id="279" r:id="rId6"/>
    <p:sldId id="280" r:id="rId7"/>
    <p:sldId id="282" r:id="rId8"/>
    <p:sldId id="284" r:id="rId9"/>
    <p:sldId id="285" r:id="rId10"/>
    <p:sldId id="287" r:id="rId11"/>
    <p:sldId id="289" r:id="rId12"/>
    <p:sldId id="290" r:id="rId13"/>
    <p:sldId id="302" r:id="rId14"/>
    <p:sldId id="303" r:id="rId15"/>
    <p:sldId id="305" r:id="rId16"/>
    <p:sldId id="306" r:id="rId17"/>
    <p:sldId id="307" r:id="rId18"/>
    <p:sldId id="322" r:id="rId19"/>
    <p:sldId id="320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CB9BA32-DEFF-4E9E-ABCB-1999A205E5FE}" type="datetimeFigureOut">
              <a:rPr lang="en-US"/>
              <a:pPr>
                <a:defRPr/>
              </a:pPr>
              <a:t>12/7/2022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89063E7-D2B4-4A98-9194-A60AF8E461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435BB4-F228-4F6E-9767-D2CD668A25E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60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CF8947-EA97-41EB-8347-46219A0BFFD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75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10BC7B-50A3-4636-A7A7-253E2A55542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56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8B67B2-6674-4D94-9FC3-FC77A05A2B9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63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A10B17-8C17-4286-BA3E-D9F36BC53E9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32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2642A9-49F2-447C-B9D9-FA3C8D28034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37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35C940-0F87-495C-8643-52EB275E18C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20CF4D-6DA0-43C4-9951-E1A03822B64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93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CF0B3F-6B29-4B59-84BF-06F225D9FEA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35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87C0C8-1B7A-4C3A-8EEF-F16D87636DD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14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035DCE-0FD9-4875-B125-DB09DB5C20A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38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90B06E-84FA-407B-A89C-7992E3E64F1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3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8E35DD-3C77-4ED3-9A8D-C9EBF6FE9D7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66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48A371-4D8A-4E44-9EE6-6BE01805D2D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6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397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5C98ACA-E862-4AAB-8AC6-00335B52917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2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71C6E2-7BA6-40D0-876B-F4441ADC103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39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455A2B3-5F56-4372-B546-13F66EDD660E}" type="slidenum">
              <a:rPr lang="en-US" sz="1200" smtClean="0"/>
              <a:pPr/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05082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445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EDF191-AAFE-4153-9671-8F5CA21C33A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88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engage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5970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0"/>
            <a:ext cx="7467600" cy="1447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1981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47231-DBAA-4334-B665-F307F1A92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274" y="3959224"/>
            <a:ext cx="2244725" cy="28987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6FE41-8B74-42B5-A021-FE4E658CC4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04524-8098-4265-9063-5976CBAE55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2D3476-3575-46E0-A29A-2B4AD2090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663FD-DC92-4C31-8C38-9CB7EDD3B0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247E7-F466-48B3-B9E0-DAAC16871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B1C08-52B3-4D4B-962C-5548130D3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17EBE-605B-4AB6-B205-C8237647A6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72E40-5280-4078-A948-1E233F29D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2E2B3-6F8B-4F1D-BD0B-46B9BE75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C956E-D211-49B1-AD7E-609367F0A5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01386-A122-4247-9CD3-0E96C9DA2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C09E621-AAF6-4173-8ABB-35AAE6B4A0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Design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0" dirty="0">
                <a:solidFill>
                  <a:srgbClr val="002060"/>
                </a:solidFill>
              </a:rPr>
              <a:t>Week 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1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Concepts</a:t>
            </a:r>
          </a:p>
        </p:txBody>
      </p:sp>
      <p:sp>
        <p:nvSpPr>
          <p:cNvPr id="25602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Data Structures</a:t>
            </a:r>
          </a:p>
          <a:p>
            <a:pPr lvl="1" eaLnBrk="1" hangingPunct="1"/>
            <a:r>
              <a:rPr lang="en-US" dirty="0"/>
              <a:t>Each file or table contains data about people, places, things or events that interact with the information system</a:t>
            </a:r>
          </a:p>
          <a:p>
            <a:pPr lvl="1" eaLnBrk="1" hangingPunct="1"/>
            <a:r>
              <a:rPr lang="en-US" dirty="0"/>
              <a:t>File-oriented system</a:t>
            </a:r>
          </a:p>
          <a:p>
            <a:pPr lvl="1" eaLnBrk="1" hangingPunct="1"/>
            <a:r>
              <a:rPr lang="en-US" dirty="0"/>
              <a:t>Database management system (DBMS)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84773"/>
            <a:ext cx="4038600" cy="2756817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Concepts</a:t>
            </a:r>
          </a:p>
        </p:txBody>
      </p:sp>
      <p:sp>
        <p:nvSpPr>
          <p:cNvPr id="27650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Overview of File Processing</a:t>
            </a:r>
          </a:p>
          <a:p>
            <a:pPr lvl="1" eaLnBrk="1" hangingPunct="1"/>
            <a:r>
              <a:rPr lang="en-US"/>
              <a:t>File processing can be efficient and cost-effective in certain situations</a:t>
            </a:r>
          </a:p>
          <a:p>
            <a:pPr lvl="1" eaLnBrk="1" hangingPunct="1"/>
            <a:r>
              <a:rPr lang="en-US"/>
              <a:t>Potential problems </a:t>
            </a:r>
          </a:p>
          <a:p>
            <a:pPr lvl="2" eaLnBrk="1" hangingPunct="1"/>
            <a:r>
              <a:rPr lang="en-US"/>
              <a:t>Data redundancy</a:t>
            </a:r>
          </a:p>
          <a:p>
            <a:pPr lvl="2" eaLnBrk="1" hangingPunct="1"/>
            <a:r>
              <a:rPr lang="en-US"/>
              <a:t>Data integrity</a:t>
            </a:r>
          </a:p>
          <a:p>
            <a:pPr lvl="2" eaLnBrk="1" hangingPunct="1"/>
            <a:r>
              <a:rPr lang="en-US"/>
              <a:t>Rigid data structure</a:t>
            </a:r>
          </a:p>
          <a:p>
            <a:pPr eaLnBrk="1" hangingPunct="1"/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25093"/>
            <a:ext cx="4038600" cy="1676176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Concepts</a:t>
            </a:r>
          </a:p>
        </p:txBody>
      </p:sp>
      <p:sp>
        <p:nvSpPr>
          <p:cNvPr id="29698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Overview of File Processing</a:t>
            </a:r>
          </a:p>
          <a:p>
            <a:pPr lvl="1" eaLnBrk="1" hangingPunct="1"/>
            <a:r>
              <a:rPr lang="en-US"/>
              <a:t>Various types of files</a:t>
            </a:r>
          </a:p>
          <a:p>
            <a:pPr lvl="2" eaLnBrk="1" hangingPunct="1"/>
            <a:r>
              <a:rPr lang="en-US"/>
              <a:t>Master file</a:t>
            </a:r>
          </a:p>
          <a:p>
            <a:pPr lvl="2" eaLnBrk="1" hangingPunct="1"/>
            <a:r>
              <a:rPr lang="en-US"/>
              <a:t>Table file</a:t>
            </a:r>
          </a:p>
          <a:p>
            <a:pPr lvl="2" eaLnBrk="1" hangingPunct="1"/>
            <a:r>
              <a:rPr lang="en-US"/>
              <a:t>Transaction file</a:t>
            </a:r>
          </a:p>
          <a:p>
            <a:pPr lvl="2" eaLnBrk="1" hangingPunct="1"/>
            <a:r>
              <a:rPr lang="en-US"/>
              <a:t>Work file</a:t>
            </a:r>
          </a:p>
          <a:p>
            <a:pPr lvl="2" eaLnBrk="1" hangingPunct="1"/>
            <a:r>
              <a:rPr lang="en-US"/>
              <a:t>Security file</a:t>
            </a:r>
          </a:p>
          <a:p>
            <a:pPr lvl="2" eaLnBrk="1" hangingPunct="1"/>
            <a:r>
              <a:rPr lang="en-US"/>
              <a:t>History file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Web-Based Database Design</a:t>
            </a:r>
          </a:p>
        </p:txBody>
      </p:sp>
      <p:sp>
        <p:nvSpPr>
          <p:cNvPr id="4403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Characteristics of Web-Based Design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09801"/>
            <a:ext cx="6477000" cy="44196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Web-Based Database Design</a:t>
            </a:r>
          </a:p>
        </p:txBody>
      </p:sp>
      <p:sp>
        <p:nvSpPr>
          <p:cNvPr id="46082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Internet Terminology</a:t>
            </a:r>
          </a:p>
          <a:p>
            <a:pPr lvl="1" eaLnBrk="1" hangingPunct="1"/>
            <a:r>
              <a:rPr lang="en-US"/>
              <a:t>Web browser</a:t>
            </a:r>
          </a:p>
          <a:p>
            <a:pPr lvl="1" eaLnBrk="1" hangingPunct="1"/>
            <a:r>
              <a:rPr lang="en-US"/>
              <a:t>Web page</a:t>
            </a:r>
          </a:p>
          <a:p>
            <a:pPr lvl="1" eaLnBrk="1" hangingPunct="1"/>
            <a:r>
              <a:rPr lang="en-US"/>
              <a:t>HTML (Hypertext Markup Language)</a:t>
            </a:r>
          </a:p>
          <a:p>
            <a:pPr lvl="1" eaLnBrk="1" hangingPunct="1"/>
            <a:r>
              <a:rPr lang="en-US"/>
              <a:t>Tags</a:t>
            </a:r>
          </a:p>
          <a:p>
            <a:pPr lvl="1" eaLnBrk="1" hangingPunct="1"/>
            <a:r>
              <a:rPr lang="en-US"/>
              <a:t>Web server</a:t>
            </a:r>
          </a:p>
          <a:p>
            <a:pPr lvl="1" eaLnBrk="1" hangingPunct="1"/>
            <a:r>
              <a:rPr lang="en-US"/>
              <a:t>Web site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Web-Based Database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Connecting a Database to the Web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Database must be connected to the Internet or intranet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Middleware</a:t>
            </a:r>
          </a:p>
          <a:p>
            <a:pPr lvl="2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Adobe ColdFusion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Data Security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Well-designed systems provide security at three levels: the database itself, the Web server, and the telecommunication links that connect the components of the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Terminology</a:t>
            </a:r>
          </a:p>
        </p:txBody>
      </p:sp>
      <p:sp>
        <p:nvSpPr>
          <p:cNvPr id="52226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Definitions</a:t>
            </a:r>
          </a:p>
          <a:p>
            <a:pPr lvl="1" eaLnBrk="1" hangingPunct="1"/>
            <a:r>
              <a:rPr lang="en-US" dirty="0"/>
              <a:t>Entity</a:t>
            </a:r>
          </a:p>
          <a:p>
            <a:pPr lvl="1" eaLnBrk="1" hangingPunct="1"/>
            <a:r>
              <a:rPr lang="en-US" dirty="0"/>
              <a:t>Table or file</a:t>
            </a:r>
          </a:p>
          <a:p>
            <a:pPr lvl="1" eaLnBrk="1" hangingPunct="1"/>
            <a:r>
              <a:rPr lang="en-US" dirty="0"/>
              <a:t>Field</a:t>
            </a:r>
          </a:p>
          <a:p>
            <a:pPr lvl="1" eaLnBrk="1" hangingPunct="1"/>
            <a:r>
              <a:rPr lang="en-US" dirty="0"/>
              <a:t>Record </a:t>
            </a:r>
          </a:p>
          <a:p>
            <a:pPr lvl="2" eaLnBrk="1" hangingPunct="1"/>
            <a:r>
              <a:rPr lang="en-US" dirty="0"/>
              <a:t>Tuple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219200"/>
            <a:ext cx="3357463" cy="5371942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Terminology</a:t>
            </a:r>
          </a:p>
        </p:txBody>
      </p:sp>
      <p:sp>
        <p:nvSpPr>
          <p:cNvPr id="5427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Key Fields</a:t>
            </a:r>
          </a:p>
          <a:p>
            <a:pPr lvl="1" eaLnBrk="1" hangingPunct="1"/>
            <a:r>
              <a:rPr lang="en-US"/>
              <a:t>Primary key</a:t>
            </a:r>
          </a:p>
          <a:p>
            <a:pPr lvl="1" eaLnBrk="1" hangingPunct="1"/>
            <a:r>
              <a:rPr lang="en-US"/>
              <a:t>Candidate key</a:t>
            </a:r>
          </a:p>
          <a:p>
            <a:pPr lvl="1" eaLnBrk="1" hangingPunct="1"/>
            <a:r>
              <a:rPr lang="en-US"/>
              <a:t>Foreign key</a:t>
            </a:r>
          </a:p>
          <a:p>
            <a:pPr lvl="1" eaLnBrk="1" hangingPunct="1"/>
            <a:r>
              <a:rPr lang="en-US"/>
              <a:t>Secondary key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Data Design Terminology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Referential Integrity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Validity checks can help avoid data input errors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In a relational database, referential integrity means that a foreign key value cannot be entered in one table unless it matches an existing primary key in another table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Orphan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17" y="2743200"/>
            <a:ext cx="4786783" cy="1911908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Entity-Relationship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Drawing an ERD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The first step is to list the entities that you identified during the fact-finding process and to consider the nature of the relationships that link them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A popular method is to represent entities as rectangles and relationships as diamond shapes</a:t>
            </a:r>
          </a:p>
        </p:txBody>
      </p:sp>
      <p:pic>
        <p:nvPicPr>
          <p:cNvPr id="5837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941888" y="1600200"/>
            <a:ext cx="3451225" cy="4525963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Entity-Relationship Diagrams</a:t>
            </a:r>
          </a:p>
        </p:txBody>
      </p:sp>
      <p:sp>
        <p:nvSpPr>
          <p:cNvPr id="60418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Types of Relationships</a:t>
            </a:r>
          </a:p>
          <a:p>
            <a:pPr lvl="1" eaLnBrk="1" hangingPunct="1"/>
            <a:r>
              <a:rPr lang="en-US"/>
              <a:t>Three types of relationships can exist between entities</a:t>
            </a:r>
          </a:p>
          <a:p>
            <a:pPr lvl="1" eaLnBrk="1" hangingPunct="1"/>
            <a:r>
              <a:rPr lang="en-US"/>
              <a:t>One-to-one relationship (1:1)</a:t>
            </a:r>
          </a:p>
          <a:p>
            <a:pPr lvl="1" eaLnBrk="1" hangingPunct="1"/>
            <a:r>
              <a:rPr lang="en-US"/>
              <a:t>One-to-many relationship (1:M)</a:t>
            </a:r>
          </a:p>
          <a:p>
            <a:pPr lvl="1" eaLnBrk="1" hangingPunct="1"/>
            <a:r>
              <a:rPr lang="en-US"/>
              <a:t>Many-to-many relationship (M:N)</a:t>
            </a:r>
          </a:p>
        </p:txBody>
      </p:sp>
      <p:pic>
        <p:nvPicPr>
          <p:cNvPr id="6042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2255838"/>
            <a:ext cx="4038600" cy="3214687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Using Codes During Data Design</a:t>
            </a:r>
          </a:p>
        </p:txBody>
      </p:sp>
      <p:sp>
        <p:nvSpPr>
          <p:cNvPr id="76802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Overview of Codes</a:t>
            </a:r>
          </a:p>
          <a:p>
            <a:pPr lvl="1" eaLnBrk="1" hangingPunct="1"/>
            <a:r>
              <a:rPr lang="en-US"/>
              <a:t>Because codes often are used to represent data, you encounter them constantly in your everyday life</a:t>
            </a:r>
          </a:p>
          <a:p>
            <a:pPr lvl="1" eaLnBrk="1" hangingPunct="1"/>
            <a:r>
              <a:rPr lang="en-US"/>
              <a:t>They save storage space and costs, reduce data transmission time, and decrease data entry time</a:t>
            </a:r>
          </a:p>
          <a:p>
            <a:pPr lvl="1" eaLnBrk="1" hangingPunct="1"/>
            <a:r>
              <a:rPr lang="en-US"/>
              <a:t>Can reduce data input errors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Using Codes During Data Design</a:t>
            </a:r>
          </a:p>
        </p:txBody>
      </p:sp>
      <p:sp>
        <p:nvSpPr>
          <p:cNvPr id="78850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/>
              <a:t>Types of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Sequence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Block sequence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Alphabetic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Significant digit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Derivation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Cipher codes</a:t>
            </a:r>
          </a:p>
          <a:p>
            <a:pPr marL="914400" lvl="1" indent="-457200" eaLnBrk="1" hangingPunct="1">
              <a:buFont typeface="Calibri" pitchFamily="34" charset="0"/>
              <a:buAutoNum type="arabicPeriod"/>
            </a:pPr>
            <a:r>
              <a:rPr lang="en-US"/>
              <a:t>Action codes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2650"/>
            <a:ext cx="4038600" cy="3021062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Using Codes During Data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Developing a Code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Keep codes concise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Allow for expansion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Keep codes stable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Make codes unique</a:t>
            </a:r>
          </a:p>
          <a:p>
            <a:pPr marL="97155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Use </a:t>
            </a:r>
            <a:r>
              <a:rPr lang="en-US" dirty="0" err="1"/>
              <a:t>sortable</a:t>
            </a:r>
            <a:r>
              <a:rPr lang="en-US" dirty="0"/>
              <a:t> codes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Using Codes During Data Design</a:t>
            </a:r>
          </a:p>
        </p:txBody>
      </p:sp>
      <p:sp>
        <p:nvSpPr>
          <p:cNvPr id="82946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Developing a Code</a:t>
            </a:r>
          </a:p>
          <a:p>
            <a:pPr marL="971550" lvl="1" indent="-514350" eaLnBrk="1" hangingPunct="1">
              <a:buFont typeface="Calibri" pitchFamily="34" charset="0"/>
              <a:buAutoNum type="arabicPeriod" startAt="6"/>
            </a:pPr>
            <a:r>
              <a:rPr lang="en-US"/>
              <a:t>Avoid confusing codes</a:t>
            </a:r>
          </a:p>
          <a:p>
            <a:pPr marL="971550" lvl="1" indent="-514350" eaLnBrk="1" hangingPunct="1">
              <a:buFont typeface="Calibri" pitchFamily="34" charset="0"/>
              <a:buAutoNum type="arabicPeriod" startAt="6"/>
            </a:pPr>
            <a:r>
              <a:rPr lang="en-US"/>
              <a:t>Make codes meaningful</a:t>
            </a:r>
          </a:p>
          <a:p>
            <a:pPr marL="971550" lvl="1" indent="-514350" eaLnBrk="1" hangingPunct="1">
              <a:buFont typeface="Calibri" pitchFamily="34" charset="0"/>
              <a:buAutoNum type="arabicPeriod" startAt="6"/>
            </a:pPr>
            <a:r>
              <a:rPr lang="en-US"/>
              <a:t>Use a code for a single purpose</a:t>
            </a:r>
          </a:p>
          <a:p>
            <a:pPr marL="971550" lvl="1" indent="-514350" eaLnBrk="1" hangingPunct="1">
              <a:buFont typeface="Calibri" pitchFamily="34" charset="0"/>
              <a:buAutoNum type="arabicPeriod" startAt="6"/>
            </a:pPr>
            <a:r>
              <a:rPr lang="en-US"/>
              <a:t>Keep codes consistent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Database Design: One Step At a Time</a:t>
            </a:r>
          </a:p>
        </p:txBody>
      </p:sp>
      <p:sp>
        <p:nvSpPr>
          <p:cNvPr id="8499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itchFamily="2" charset="2"/>
              <a:buAutoNum type="arabicPeriod"/>
              <a:defRPr/>
            </a:pPr>
            <a:r>
              <a:rPr lang="en-US" dirty="0"/>
              <a:t>Create an initial ERD</a:t>
            </a:r>
          </a:p>
          <a:p>
            <a:pPr marL="533400" indent="-533400">
              <a:buFont typeface="Wingdings" pitchFamily="2" charset="2"/>
              <a:buAutoNum type="arabicPeriod"/>
              <a:defRPr/>
            </a:pPr>
            <a:r>
              <a:rPr lang="en-US" dirty="0"/>
              <a:t>Review all the data elements</a:t>
            </a:r>
          </a:p>
          <a:p>
            <a:pPr marL="533400" indent="-533400">
              <a:buFont typeface="Wingdings" pitchFamily="2" charset="2"/>
              <a:buAutoNum type="arabicPeriod"/>
              <a:defRPr/>
            </a:pPr>
            <a:r>
              <a:rPr lang="en-US" dirty="0"/>
              <a:t>Double-check all data dictionary entries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Models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 Real-World Business Example</a:t>
            </a:r>
          </a:p>
          <a:p>
            <a:pPr lvl="1"/>
            <a:r>
              <a:rPr lang="en-US" dirty="0"/>
              <a:t>Imagine a company that provides on-site service for electronic equipment, including parts and labor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36044"/>
            <a:ext cx="4038600" cy="2654275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D3476-3575-46E0-A29A-2B4AD2090D9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83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Summary</a:t>
            </a:r>
          </a:p>
        </p:txBody>
      </p:sp>
      <p:sp>
        <p:nvSpPr>
          <p:cNvPr id="103426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An entity-relationship (ERD) is a graphic representation of all system entities and the relationships among them</a:t>
            </a:r>
          </a:p>
          <a:p>
            <a:pPr eaLnBrk="1" hangingPunct="1"/>
            <a:r>
              <a:rPr lang="en-US" dirty="0"/>
              <a:t>A code is a set of letters or numbers used to represent data in a system</a:t>
            </a:r>
          </a:p>
          <a:p>
            <a:pPr eaLnBrk="1" hangingPunct="1"/>
            <a:r>
              <a:rPr lang="en-US" dirty="0"/>
              <a:t>The most common database models are relational and object-oriented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A6FE41-8B74-42B5-A021-FE4E658CC41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Salerio · SlidesCarnival</Template>
  <TotalTime>213</TotalTime>
  <Words>551</Words>
  <Application>Microsoft Office PowerPoint</Application>
  <PresentationFormat>On-screen Show (4:3)</PresentationFormat>
  <Paragraphs>143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Data Design </vt:lpstr>
      <vt:lpstr>Data Design Concepts</vt:lpstr>
      <vt:lpstr>Data Design Concepts</vt:lpstr>
      <vt:lpstr>Data Design Concepts</vt:lpstr>
      <vt:lpstr>Web-Based Database Design</vt:lpstr>
      <vt:lpstr>Web-Based Database Design</vt:lpstr>
      <vt:lpstr>Web-Based Database Design</vt:lpstr>
      <vt:lpstr>Data Design Terminology</vt:lpstr>
      <vt:lpstr>Data Design Terminology</vt:lpstr>
      <vt:lpstr>Data Design Terminology</vt:lpstr>
      <vt:lpstr>Entity-Relationship Diagrams</vt:lpstr>
      <vt:lpstr>Entity-Relationship Diagrams</vt:lpstr>
      <vt:lpstr>Using Codes During Data Design</vt:lpstr>
      <vt:lpstr>Using Codes During Data Design</vt:lpstr>
      <vt:lpstr>Using Codes During Data Design</vt:lpstr>
      <vt:lpstr>Using Codes During Data Design</vt:lpstr>
      <vt:lpstr>Database Design: One Step At a Time</vt:lpstr>
      <vt:lpstr>Database Models</vt:lpstr>
      <vt:lpstr>Chapter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renger</dc:creator>
  <cp:lastModifiedBy>NURUL FAZMIDAR BINTI MOHD NOOR</cp:lastModifiedBy>
  <cp:revision>30</cp:revision>
  <dcterms:created xsi:type="dcterms:W3CDTF">2009-02-03T18:32:10Z</dcterms:created>
  <dcterms:modified xsi:type="dcterms:W3CDTF">2022-12-07T03:36:56Z</dcterms:modified>
</cp:coreProperties>
</file>