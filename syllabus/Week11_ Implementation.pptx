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3" r:id="rId1"/>
    <p:sldMasterId id="2147483659" r:id="rId2"/>
  </p:sldMasterIdLst>
  <p:notesMasterIdLst>
    <p:notesMasterId r:id="rId40"/>
  </p:notesMasterIdLst>
  <p:handoutMasterIdLst>
    <p:handoutMasterId r:id="rId41"/>
  </p:handoutMasterIdLst>
  <p:sldIdLst>
    <p:sldId id="270" r:id="rId3"/>
    <p:sldId id="451" r:id="rId4"/>
    <p:sldId id="444" r:id="rId5"/>
    <p:sldId id="445" r:id="rId6"/>
    <p:sldId id="446" r:id="rId7"/>
    <p:sldId id="464" r:id="rId8"/>
    <p:sldId id="447" r:id="rId9"/>
    <p:sldId id="453" r:id="rId10"/>
    <p:sldId id="459" r:id="rId11"/>
    <p:sldId id="466" r:id="rId12"/>
    <p:sldId id="448" r:id="rId13"/>
    <p:sldId id="467" r:id="rId14"/>
    <p:sldId id="468" r:id="rId15"/>
    <p:sldId id="469" r:id="rId16"/>
    <p:sldId id="470" r:id="rId17"/>
    <p:sldId id="471" r:id="rId18"/>
    <p:sldId id="454" r:id="rId19"/>
    <p:sldId id="472" r:id="rId20"/>
    <p:sldId id="473" r:id="rId21"/>
    <p:sldId id="455" r:id="rId22"/>
    <p:sldId id="457" r:id="rId23"/>
    <p:sldId id="458" r:id="rId24"/>
    <p:sldId id="487" r:id="rId25"/>
    <p:sldId id="488" r:id="rId26"/>
    <p:sldId id="489" r:id="rId27"/>
    <p:sldId id="490" r:id="rId28"/>
    <p:sldId id="491" r:id="rId29"/>
    <p:sldId id="492" r:id="rId30"/>
    <p:sldId id="493" r:id="rId31"/>
    <p:sldId id="494" r:id="rId32"/>
    <p:sldId id="478" r:id="rId33"/>
    <p:sldId id="479" r:id="rId34"/>
    <p:sldId id="495" r:id="rId35"/>
    <p:sldId id="504" r:id="rId36"/>
    <p:sldId id="498" r:id="rId37"/>
    <p:sldId id="499" r:id="rId38"/>
    <p:sldId id="513" r:id="rId39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effrey Holcomb" initials="" lastIdx="3" clrIdx="0"/>
  <p:cmAuthor id="7" name="Maureen Steddin" initials="MS" lastIdx="1" clrIdx="7"/>
  <p:cmAuthor id="1" name="Ruchi Sachdev" initials="" lastIdx="8" clrIdx="1"/>
  <p:cmAuthor id="2" name="Sarah Reusché" initials="" lastIdx="13" clrIdx="2"/>
  <p:cmAuthor id="3" name="Nitin Shankar" initials="" lastIdx="6" clrIdx="3"/>
  <p:cmAuthor id="4" name="Kristen Flathman" initials="" lastIdx="1" clrIdx="4"/>
  <p:cmAuthor id="5" name="Ben Schroeter" initials="" lastIdx="0" clrIdx="5"/>
  <p:cmAuthor id="6" name="Harold Wise" initials="HW" lastIdx="0" clrIdx="6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F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0F9630F-82C1-40B7-BC3A-925EFCFF5E92}">
  <a:tblStyle styleId="{40F9630F-82C1-40B7-BC3A-925EFCFF5E92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med" len="med"/>
              <a:tailEnd type="none" w="med" len="med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firstRow>
      <a:tcTxStyle b="on" i="off"/>
      <a:tcStyle>
        <a:tcBdr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5" autoAdjust="0"/>
    <p:restoredTop sz="95206" autoAdjust="0"/>
  </p:normalViewPr>
  <p:slideViewPr>
    <p:cSldViewPr snapToGrid="0" snapToObjects="1">
      <p:cViewPr varScale="1">
        <p:scale>
          <a:sx n="61" d="100"/>
          <a:sy n="61" d="100"/>
        </p:scale>
        <p:origin x="132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4311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3346"/>
    </p:cViewPr>
  </p:sorterViewPr>
  <p:notesViewPr>
    <p:cSldViewPr snapToGrid="0" snapToObjects="1">
      <p:cViewPr varScale="1">
        <p:scale>
          <a:sx n="85" d="100"/>
          <a:sy n="85" d="100"/>
        </p:scale>
        <p:origin x="380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commentAuthors" Target="commentAuthor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85CB01-6679-D646-ACB3-8B04B786C15F}" type="datetimeFigureOut">
              <a:rPr lang="en-US" smtClean="0"/>
              <a:t>12/7/2022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AC0F4D-8A6F-1C4A-B6BF-1558431E4F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0630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57102709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9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/>
          </a:p>
        </p:txBody>
      </p:sp>
      <p:sp>
        <p:nvSpPr>
          <p:cNvPr id="193" name="Shape 19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/>
          <p:nvPr/>
        </p:nvSpPr>
        <p:spPr>
          <a:xfrm>
            <a:off x="0" y="0"/>
            <a:ext cx="9144000" cy="3886200"/>
          </a:xfrm>
          <a:prstGeom prst="rect">
            <a:avLst/>
          </a:prstGeom>
          <a:solidFill>
            <a:srgbClr val="007FA3"/>
          </a:solidFill>
          <a:ln w="25400" cap="flat" cmpd="sng">
            <a:solidFill>
              <a:srgbClr val="007FA3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Shape 19"/>
          <p:cNvSpPr txBox="1">
            <a:spLocks noGrp="1"/>
          </p:cNvSpPr>
          <p:nvPr>
            <p:ph type="ctrTitle"/>
          </p:nvPr>
        </p:nvSpPr>
        <p:spPr>
          <a:xfrm>
            <a:off x="685800" y="762000"/>
            <a:ext cx="7772400" cy="283845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sz="3600" b="1" i="0" u="none" strike="noStrike" cap="none">
                <a:solidFill>
                  <a:schemeClr val="lt1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20" name="Shape 20"/>
          <p:cNvSpPr txBox="1">
            <a:spLocks noGrp="1"/>
          </p:cNvSpPr>
          <p:nvPr>
            <p:ph type="subTitle" idx="1"/>
          </p:nvPr>
        </p:nvSpPr>
        <p:spPr>
          <a:xfrm>
            <a:off x="674687" y="3962400"/>
            <a:ext cx="7794625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spcBef>
                <a:spcPts val="6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spcBef>
                <a:spcPts val="600"/>
              </a:spcBef>
              <a:buClr>
                <a:srgbClr val="007FA3"/>
              </a:buClr>
              <a:buFont typeface="Noto Sans Symbols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spcBef>
                <a:spcPts val="6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spcBef>
                <a:spcPts val="6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21" name="Shape 21"/>
          <p:cNvSpPr txBox="1">
            <a:spLocks noGrp="1"/>
          </p:cNvSpPr>
          <p:nvPr>
            <p:ph type="ftr" idx="11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Shape 22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Shape 23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fld id="{00000000-1234-1234-1234-123412341234}" type="slidenum"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91B9DA-1DAD-4AB4-94B2-688DFC8B09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94693" y="6407662"/>
            <a:ext cx="7194635" cy="334534"/>
          </a:xfrm>
        </p:spPr>
        <p:txBody>
          <a:bodyPr/>
          <a:lstStyle>
            <a:lvl1pPr marL="101600" indent="0" algn="r">
              <a:buNone/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add copyright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AC35AB9-24C4-47CB-AA83-05CAEBB6D99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3663" y="6407150"/>
            <a:ext cx="1401762" cy="334963"/>
          </a:xfrm>
        </p:spPr>
        <p:txBody>
          <a:bodyPr/>
          <a:lstStyle>
            <a:lvl1pPr marL="101600" indent="0">
              <a:buNone/>
              <a:defRPr sz="1200"/>
            </a:lvl1pPr>
          </a:lstStyle>
          <a:p>
            <a:r>
              <a:rPr lang="en-US" dirty="0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4215940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igure + Cap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1066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 dirty="0"/>
              <a:t>Click to add figure number and title</a:t>
            </a:r>
            <a:endParaRPr dirty="0"/>
          </a:p>
        </p:txBody>
      </p:sp>
      <p:sp>
        <p:nvSpPr>
          <p:cNvPr id="55" name="Shape 55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5050971"/>
            <a:ext cx="8229600" cy="101836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Clr>
                <a:srgbClr val="007FA3"/>
              </a:buClr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Click to add caption</a:t>
            </a:r>
            <a:endParaRPr dirty="0"/>
          </a:p>
        </p:txBody>
      </p:sp>
      <p:sp>
        <p:nvSpPr>
          <p:cNvPr id="56" name="Shape 56"/>
          <p:cNvSpPr txBox="1">
            <a:spLocks noGrp="1"/>
          </p:cNvSpPr>
          <p:nvPr>
            <p:ph type="ftr" idx="11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11BB07C-705F-4113-A2C5-779D6EA64D9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556326"/>
            <a:ext cx="8229600" cy="339178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85097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igure + Capti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033AD-BE5C-406D-991C-6AC56003E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600">
                <a:latin typeface="+mj-lt"/>
              </a:defRPr>
            </a:lvl1pPr>
          </a:lstStyle>
          <a:p>
            <a:r>
              <a:rPr lang="en-US" dirty="0"/>
              <a:t>Click to add figure number and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E6B7D3D-89C9-4133-8D8A-D779EB3D31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481138"/>
            <a:ext cx="4484688" cy="4408487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95A3C12-C176-4C2E-9820-6A6035C43AF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92713" y="1481138"/>
            <a:ext cx="3592512" cy="375443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059F1CC-D06F-4B10-B166-6D6F2C786A3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92713" y="5399088"/>
            <a:ext cx="3592512" cy="490537"/>
          </a:xfrm>
        </p:spPr>
        <p:txBody>
          <a:bodyPr/>
          <a:lstStyle>
            <a:lvl1pPr marL="101600" indent="0">
              <a:buNone/>
              <a:defRPr sz="1200"/>
            </a:lvl1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0D4E5D-00F7-4DC6-9BB0-713B8A0DA35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F4094-2296-458C-908A-D778D0DF5AFA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A6EBD-95B8-4957-AE05-FC01EF650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428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>
            <a:spLocks noGrp="1"/>
          </p:cNvSpPr>
          <p:nvPr>
            <p:ph type="title" hasCustomPrompt="1"/>
          </p:nvPr>
        </p:nvSpPr>
        <p:spPr>
          <a:xfrm>
            <a:off x="685800" y="1447800"/>
            <a:ext cx="7772400" cy="215265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 sz="3600" dirty="0">
                <a:latin typeface="+mj-lt"/>
              </a:rPr>
              <a:t>Click to add title	</a:t>
            </a:r>
            <a:endParaRPr dirty="0"/>
          </a:p>
        </p:txBody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674687" y="3962400"/>
            <a:ext cx="7794626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007FA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600"/>
              </a:spcBef>
              <a:buClr>
                <a:srgbClr val="007FA3"/>
              </a:buClr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600"/>
              </a:spcBef>
              <a:buClr>
                <a:srgbClr val="007FA3"/>
              </a:buClr>
              <a:buFont typeface="Noto Sans Symbols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600"/>
              </a:spcBef>
              <a:buClr>
                <a:srgbClr val="007FA3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600"/>
              </a:spcBef>
              <a:buClr>
                <a:srgbClr val="007FA3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71" name="Shape 71"/>
          <p:cNvSpPr txBox="1">
            <a:spLocks noGrp="1"/>
          </p:cNvSpPr>
          <p:nvPr>
            <p:ph type="ftr" idx="11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Shape 72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Shape 73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76" name="Shape 76"/>
          <p:cNvSpPr txBox="1">
            <a:spLocks noGrp="1"/>
          </p:cNvSpPr>
          <p:nvPr>
            <p:ph type="ftr" idx="11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" name="Shape 78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el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091D3-E16C-46AB-9A90-0F52CA812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Image title">
            <a:extLst>
              <a:ext uri="{FF2B5EF4-FFF2-40B4-BE49-F238E27FC236}">
                <a16:creationId xmlns:a16="http://schemas.microsoft.com/office/drawing/2014/main" id="{CB345607-C53C-44AF-8929-3BDC4C617A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82913" y="4359275"/>
            <a:ext cx="3482975" cy="600075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Image title</a:t>
            </a:r>
          </a:p>
        </p:txBody>
      </p:sp>
      <p:sp>
        <p:nvSpPr>
          <p:cNvPr id="9" name="Image">
            <a:extLst>
              <a:ext uri="{FF2B5EF4-FFF2-40B4-BE49-F238E27FC236}">
                <a16:creationId xmlns:a16="http://schemas.microsoft.com/office/drawing/2014/main" id="{C2661E64-2E71-47E6-A5A0-AC5348C08F5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982912" y="1681163"/>
            <a:ext cx="3482975" cy="2559050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11" name="Label 1">
            <a:extLst>
              <a:ext uri="{FF2B5EF4-FFF2-40B4-BE49-F238E27FC236}">
                <a16:creationId xmlns:a16="http://schemas.microsoft.com/office/drawing/2014/main" id="{3D0F2ED9-E212-40DC-A528-BE4A28DE88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8109" y="1681163"/>
            <a:ext cx="1957388" cy="627062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1</a:t>
            </a:r>
          </a:p>
        </p:txBody>
      </p:sp>
      <p:sp>
        <p:nvSpPr>
          <p:cNvPr id="13" name="Label 2">
            <a:extLst>
              <a:ext uri="{FF2B5EF4-FFF2-40B4-BE49-F238E27FC236}">
                <a16:creationId xmlns:a16="http://schemas.microsoft.com/office/drawing/2014/main" id="{E8D9AEEF-5E99-48D4-B8C3-C5A995764DC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2325" y="2643044"/>
            <a:ext cx="1957388" cy="627062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2</a:t>
            </a:r>
          </a:p>
        </p:txBody>
      </p:sp>
      <p:sp>
        <p:nvSpPr>
          <p:cNvPr id="15" name="Label 3">
            <a:extLst>
              <a:ext uri="{FF2B5EF4-FFF2-40B4-BE49-F238E27FC236}">
                <a16:creationId xmlns:a16="http://schemas.microsoft.com/office/drawing/2014/main" id="{99D329CE-18C4-40A9-A508-1684979AC20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2325" y="3613151"/>
            <a:ext cx="1957388" cy="627062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3</a:t>
            </a:r>
          </a:p>
        </p:txBody>
      </p:sp>
      <p:sp>
        <p:nvSpPr>
          <p:cNvPr id="17" name="Label 4">
            <a:extLst>
              <a:ext uri="{FF2B5EF4-FFF2-40B4-BE49-F238E27FC236}">
                <a16:creationId xmlns:a16="http://schemas.microsoft.com/office/drawing/2014/main" id="{AAE735D1-F9F4-4525-9ED5-F10A99DECC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29412" y="1681163"/>
            <a:ext cx="1957388" cy="627062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4</a:t>
            </a:r>
          </a:p>
        </p:txBody>
      </p:sp>
      <p:sp>
        <p:nvSpPr>
          <p:cNvPr id="19" name="Label 5">
            <a:extLst>
              <a:ext uri="{FF2B5EF4-FFF2-40B4-BE49-F238E27FC236}">
                <a16:creationId xmlns:a16="http://schemas.microsoft.com/office/drawing/2014/main" id="{43259E0C-9247-446E-9183-FBF70F8FD41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29413" y="2651910"/>
            <a:ext cx="1957387" cy="618196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5</a:t>
            </a:r>
          </a:p>
        </p:txBody>
      </p:sp>
      <p:sp>
        <p:nvSpPr>
          <p:cNvPr id="21" name="Label 6">
            <a:extLst>
              <a:ext uri="{FF2B5EF4-FFF2-40B4-BE49-F238E27FC236}">
                <a16:creationId xmlns:a16="http://schemas.microsoft.com/office/drawing/2014/main" id="{111F58DF-A1C1-4DD6-ADE5-FC54A39F675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29413" y="3613151"/>
            <a:ext cx="1957387" cy="627063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B7866-709E-4B26-BCD7-5CF284C134C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9F10E-ACBA-4EA4-B23A-AC32FC5A681B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CEC9E9-2CDA-42DF-A6E1-55B455A7E67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899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el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36A59-5DE4-46F3-8035-460E546D5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Image 1 title">
            <a:extLst>
              <a:ext uri="{FF2B5EF4-FFF2-40B4-BE49-F238E27FC236}">
                <a16:creationId xmlns:a16="http://schemas.microsoft.com/office/drawing/2014/main" id="{2BEC12FB-EC67-436F-875F-0A306862EF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4392613"/>
            <a:ext cx="2107323" cy="504825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Image 1 title</a:t>
            </a:r>
          </a:p>
        </p:txBody>
      </p:sp>
      <p:sp>
        <p:nvSpPr>
          <p:cNvPr id="9" name="Image 1">
            <a:extLst>
              <a:ext uri="{FF2B5EF4-FFF2-40B4-BE49-F238E27FC236}">
                <a16:creationId xmlns:a16="http://schemas.microsoft.com/office/drawing/2014/main" id="{1E9C9C32-F8ED-4AA8-AA00-26A2357E73E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1817688"/>
            <a:ext cx="2107324" cy="2386012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r>
              <a:rPr lang="en-US" dirty="0"/>
              <a:t>Image 1</a:t>
            </a:r>
          </a:p>
        </p:txBody>
      </p:sp>
      <p:sp>
        <p:nvSpPr>
          <p:cNvPr id="11" name="Label 1.1">
            <a:extLst>
              <a:ext uri="{FF2B5EF4-FFF2-40B4-BE49-F238E27FC236}">
                <a16:creationId xmlns:a16="http://schemas.microsoft.com/office/drawing/2014/main" id="{BD50A136-2F5A-4764-ADDC-D48D703981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74622" y="1794947"/>
            <a:ext cx="1534619" cy="591855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1.1</a:t>
            </a:r>
          </a:p>
        </p:txBody>
      </p:sp>
      <p:sp>
        <p:nvSpPr>
          <p:cNvPr id="13" name="Label 1.2">
            <a:extLst>
              <a:ext uri="{FF2B5EF4-FFF2-40B4-BE49-F238E27FC236}">
                <a16:creationId xmlns:a16="http://schemas.microsoft.com/office/drawing/2014/main" id="{16926224-3F90-4884-9AC1-A5381D78801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74622" y="2707481"/>
            <a:ext cx="1534619" cy="606425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1.2</a:t>
            </a:r>
          </a:p>
        </p:txBody>
      </p:sp>
      <p:sp>
        <p:nvSpPr>
          <p:cNvPr id="15" name="Label 1.3">
            <a:extLst>
              <a:ext uri="{FF2B5EF4-FFF2-40B4-BE49-F238E27FC236}">
                <a16:creationId xmlns:a16="http://schemas.microsoft.com/office/drawing/2014/main" id="{D4719473-9C3F-493C-B20E-27CDBBA38B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4622" y="3597275"/>
            <a:ext cx="1534619" cy="606425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1.3</a:t>
            </a:r>
          </a:p>
        </p:txBody>
      </p:sp>
      <p:sp>
        <p:nvSpPr>
          <p:cNvPr id="17" name="Image 2 title">
            <a:extLst>
              <a:ext uri="{FF2B5EF4-FFF2-40B4-BE49-F238E27FC236}">
                <a16:creationId xmlns:a16="http://schemas.microsoft.com/office/drawing/2014/main" id="{DC526974-AF8C-4228-AAAA-33D0B8AB71C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31596" y="4347439"/>
            <a:ext cx="2107323" cy="504825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Image 2 title</a:t>
            </a:r>
          </a:p>
        </p:txBody>
      </p:sp>
      <p:sp>
        <p:nvSpPr>
          <p:cNvPr id="19" name="Image 2">
            <a:extLst>
              <a:ext uri="{FF2B5EF4-FFF2-40B4-BE49-F238E27FC236}">
                <a16:creationId xmlns:a16="http://schemas.microsoft.com/office/drawing/2014/main" id="{812D2BB4-4991-47F8-9E82-9C9B41B052F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931596" y="1806537"/>
            <a:ext cx="2107323" cy="2397164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r>
              <a:rPr lang="en-US" dirty="0"/>
              <a:t>Image 2</a:t>
            </a:r>
          </a:p>
        </p:txBody>
      </p:sp>
      <p:sp>
        <p:nvSpPr>
          <p:cNvPr id="21" name="Label 2.1">
            <a:extLst>
              <a:ext uri="{FF2B5EF4-FFF2-40B4-BE49-F238E27FC236}">
                <a16:creationId xmlns:a16="http://schemas.microsoft.com/office/drawing/2014/main" id="{15D9E78D-62D4-4D7C-8E37-E1A000DA23A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04580" y="1794947"/>
            <a:ext cx="1534619" cy="608524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2.1</a:t>
            </a:r>
          </a:p>
        </p:txBody>
      </p:sp>
      <p:sp>
        <p:nvSpPr>
          <p:cNvPr id="23" name="Label 2.2">
            <a:extLst>
              <a:ext uri="{FF2B5EF4-FFF2-40B4-BE49-F238E27FC236}">
                <a16:creationId xmlns:a16="http://schemas.microsoft.com/office/drawing/2014/main" id="{0ECEA5DA-0702-46DA-A4DD-66B7E7FF424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304579" y="2707481"/>
            <a:ext cx="1534619" cy="608524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2.2</a:t>
            </a:r>
          </a:p>
        </p:txBody>
      </p:sp>
      <p:sp>
        <p:nvSpPr>
          <p:cNvPr id="25" name="Label 2.3">
            <a:extLst>
              <a:ext uri="{FF2B5EF4-FFF2-40B4-BE49-F238E27FC236}">
                <a16:creationId xmlns:a16="http://schemas.microsoft.com/office/drawing/2014/main" id="{64C63D68-E200-46DF-8E34-92DC66FE879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304579" y="3579818"/>
            <a:ext cx="1534620" cy="608524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2.3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76705-5AD3-4E05-9DCF-CA01EBF96B1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69933-5FC5-4C73-96ED-E1AC0FC867FE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A4DA0A-BA94-4C4E-A521-FB23D113A85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721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 txBox="1">
            <a:spLocks noGrp="1"/>
          </p:cNvSpPr>
          <p:nvPr>
            <p:ph type="ftr" idx="11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" name="Shape 81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Shape 82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400" b="1" i="0" u="none" strike="noStrike" cap="none">
                <a:solidFill>
                  <a:srgbClr val="007FA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6032" marR="0" lvl="0" indent="-154432" algn="l" rtl="0">
              <a:spcBef>
                <a:spcPts val="15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8415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Shape 27"/>
          <p:cNvSpPr txBox="1">
            <a:spLocks noGrp="1"/>
          </p:cNvSpPr>
          <p:nvPr>
            <p:ph type="ftr" idx="11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27648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Learning Objectives and Conten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 txBox="1">
            <a:spLocks noGrp="1"/>
          </p:cNvSpPr>
          <p:nvPr>
            <p:ph type="title" hasCustomPrompt="1"/>
          </p:nvPr>
        </p:nvSpPr>
        <p:spPr>
          <a:xfrm>
            <a:off x="457200" y="215371"/>
            <a:ext cx="8229600" cy="62282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 sz="3600" dirty="0">
                <a:latin typeface="+mj-lt"/>
              </a:rPr>
              <a:t>Click to add title</a:t>
            </a:r>
            <a:endParaRPr dirty="0"/>
          </a:p>
        </p:txBody>
      </p:sp>
      <p:sp>
        <p:nvSpPr>
          <p:cNvPr id="63" name="Shape 63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816429"/>
            <a:ext cx="8229600" cy="40276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007FA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Clr>
                <a:srgbClr val="007FA3"/>
              </a:buClr>
              <a:buFont typeface="Noto Sans Symbols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Click to add Learning Objective(s)</a:t>
            </a:r>
            <a:endParaRPr dirty="0"/>
          </a:p>
        </p:txBody>
      </p:sp>
      <p:sp>
        <p:nvSpPr>
          <p:cNvPr id="64" name="Shape 64"/>
          <p:cNvSpPr txBox="1">
            <a:spLocks noGrp="1"/>
          </p:cNvSpPr>
          <p:nvPr>
            <p:ph type="body" idx="2"/>
          </p:nvPr>
        </p:nvSpPr>
        <p:spPr>
          <a:xfrm>
            <a:off x="457200" y="1358678"/>
            <a:ext cx="8229600" cy="476748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6032" marR="0" lvl="0" indent="-154432" algn="l" rtl="0">
              <a:spcBef>
                <a:spcPts val="15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8415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65" name="Shape 65"/>
          <p:cNvSpPr txBox="1">
            <a:spLocks noGrp="1"/>
          </p:cNvSpPr>
          <p:nvPr>
            <p:ph type="ftr" idx="11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Shape 66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Shape 67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7496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400" b="1" i="0" u="none" strike="noStrike" cap="none">
                <a:solidFill>
                  <a:srgbClr val="007FA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 sz="3600" dirty="0">
                <a:latin typeface="+mj-lt"/>
              </a:rPr>
              <a:t>Click to add title</a:t>
            </a:r>
            <a:endParaRPr dirty="0"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42841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6032" marR="0" lvl="0" indent="-154432" algn="l" rtl="0">
              <a:spcBef>
                <a:spcPts val="15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8415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3" name="Shape 13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Shape 14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fld id="{00000000-1234-1234-1234-123412341234}" type="slidenum"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B8A108E-B0AF-4869-B5B8-3D3BB7BC72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028611"/>
            <a:ext cx="8229600" cy="2005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4664456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3600" b="0" i="0" u="none" strike="noStrike" cap="none">
          <a:solidFill>
            <a:srgbClr val="000000"/>
          </a:solidFill>
          <a:latin typeface="+mj-lt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6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400" b="1" i="0" u="none" strike="noStrike" cap="none">
                <a:solidFill>
                  <a:srgbClr val="007FA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 sz="3600" dirty="0">
                <a:latin typeface="+mj-lt"/>
              </a:rPr>
              <a:t>Click to add title</a:t>
            </a:r>
            <a:endParaRPr dirty="0"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42841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6032" marR="0" lvl="0" indent="-154432" algn="l" rtl="0">
              <a:spcBef>
                <a:spcPts val="15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8415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3" name="Shape 13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Shape 15" descr="Pearson Logo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43972" y="6429709"/>
            <a:ext cx="917999" cy="27991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Shape 16"/>
          <p:cNvSpPr txBox="1"/>
          <p:nvPr/>
        </p:nvSpPr>
        <p:spPr>
          <a:xfrm>
            <a:off x="1600200" y="6429344"/>
            <a:ext cx="7162799" cy="20005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b="0" dirty="0">
                <a:latin typeface="Verdana"/>
                <a:ea typeface="Verdana" panose="020B0604030504040204" pitchFamily="34" charset="0"/>
                <a:cs typeface="Verdana" panose="020B0604030504040204" pitchFamily="34" charset="0"/>
              </a:rPr>
              <a:t>Copyright © 2020, 2017, 2014 Pearson Education, Inc. All Rights Reserved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B8A108E-B0AF-4869-B5B8-3D3BB7BC72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028611"/>
            <a:ext cx="8229600" cy="2005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3" r:id="rId2"/>
    <p:sldLayoutId id="2147483655" r:id="rId3"/>
    <p:sldLayoutId id="2147483656" r:id="rId4"/>
    <p:sldLayoutId id="2147483670" r:id="rId5"/>
    <p:sldLayoutId id="2147483669" r:id="rId6"/>
    <p:sldLayoutId id="2147483657" r:id="rId7"/>
    <p:sldLayoutId id="2147483674" r:id="rId8"/>
    <p:sldLayoutId id="214748367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3600" b="0" i="0" u="none" strike="noStrike" cap="none">
          <a:solidFill>
            <a:srgbClr val="000000"/>
          </a:solidFill>
          <a:latin typeface="+mj-lt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MY" dirty="0"/>
              <a:t>Week 11</a:t>
            </a:r>
            <a:endParaRPr lang="en-US" dirty="0"/>
          </a:p>
        </p:txBody>
      </p:sp>
      <p:sp>
        <p:nvSpPr>
          <p:cNvPr id="199" name="Shape 199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007FA3"/>
              </a:buClr>
              <a:buSzPct val="25000"/>
              <a:buFont typeface="Arial"/>
              <a:buNone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 Implementation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1E29A-2D87-4FDB-82AC-241862B62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8456064" cy="1241277"/>
          </a:xfrm>
        </p:spPr>
        <p:txBody>
          <a:bodyPr/>
          <a:lstStyle/>
          <a:p>
            <a:r>
              <a:rPr lang="en-US" sz="3000" dirty="0"/>
              <a:t>Figure 1: Systems Development Life Cycle with the Implementation Phase Highlighted</a:t>
            </a:r>
          </a:p>
        </p:txBody>
      </p:sp>
      <p:pic>
        <p:nvPicPr>
          <p:cNvPr id="6" name="Content Placeholder 5" descr="A close up of a map&#10;&#10;Description automatically generated">
            <a:extLst>
              <a:ext uri="{FF2B5EF4-FFF2-40B4-BE49-F238E27FC236}">
                <a16:creationId xmlns:a16="http://schemas.microsoft.com/office/drawing/2014/main" id="{2541EFDC-3C39-41A6-AE36-EB4C6B58FF8E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2680853" y="1555749"/>
            <a:ext cx="3782294" cy="4068351"/>
          </a:xfrm>
        </p:spPr>
      </p:pic>
    </p:spTree>
    <p:extLst>
      <p:ext uri="{BB962C8B-B14F-4D97-AF65-F5344CB8AC3E}">
        <p14:creationId xmlns:p14="http://schemas.microsoft.com/office/powerpoint/2010/main" val="4110744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Implementation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609600" indent="-609600" eaLnBrk="1" hangingPunct="1">
              <a:lnSpc>
                <a:spcPct val="90000"/>
              </a:lnSpc>
            </a:pPr>
            <a:r>
              <a:rPr lang="en-US" altLang="en-US" sz="2800" dirty="0"/>
              <a:t>Purpose:</a:t>
            </a:r>
          </a:p>
          <a:p>
            <a:pPr marL="1009650" lvl="1" indent="-609600" eaLnBrk="1" hangingPunct="1">
              <a:lnSpc>
                <a:spcPct val="90000"/>
              </a:lnSpc>
            </a:pPr>
            <a:r>
              <a:rPr lang="en-US" altLang="en-US" sz="2400" dirty="0"/>
              <a:t>To convert final physical system specifications into working and reliable software</a:t>
            </a:r>
          </a:p>
          <a:p>
            <a:pPr marL="1009650" lvl="1" indent="-609600" eaLnBrk="1" hangingPunct="1">
              <a:lnSpc>
                <a:spcPct val="90000"/>
              </a:lnSpc>
            </a:pPr>
            <a:r>
              <a:rPr lang="en-US" altLang="en-US" sz="2400" dirty="0"/>
              <a:t>To document work that has been done</a:t>
            </a:r>
          </a:p>
          <a:p>
            <a:pPr marL="1009650" lvl="1" indent="-609600" eaLnBrk="1" hangingPunct="1">
              <a:lnSpc>
                <a:spcPct val="90000"/>
              </a:lnSpc>
            </a:pPr>
            <a:r>
              <a:rPr lang="en-US" altLang="en-US" sz="2400" dirty="0"/>
              <a:t>To provide help for current and future users</a:t>
            </a:r>
          </a:p>
          <a:p>
            <a:pPr marL="586232" indent="-514350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21268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6892"/>
            <a:ext cx="8229600" cy="1300305"/>
          </a:xfrm>
        </p:spPr>
        <p:txBody>
          <a:bodyPr/>
          <a:lstStyle/>
          <a:p>
            <a:r>
              <a:rPr lang="en-US" dirty="0"/>
              <a:t>Table 1: Deliverables for Coding, Testing, and Installation</a:t>
            </a:r>
            <a:endParaRPr lang="en-US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663062"/>
            <a:ext cx="8229600" cy="4767485"/>
          </a:xfrm>
        </p:spPr>
        <p:txBody>
          <a:bodyPr/>
          <a:lstStyle/>
          <a:p>
            <a:pPr marL="586232" indent="-514350">
              <a:spcBef>
                <a:spcPts val="100"/>
              </a:spcBef>
              <a:buFont typeface="+mj-lt"/>
              <a:buAutoNum type="arabicPeriod"/>
            </a:pPr>
            <a:r>
              <a:rPr lang="en-US" sz="2400" dirty="0"/>
              <a:t>Coding</a:t>
            </a:r>
          </a:p>
          <a:p>
            <a:pPr marL="1073150" lvl="1" indent="-514350">
              <a:spcBef>
                <a:spcPts val="100"/>
              </a:spcBef>
              <a:buFont typeface="+mj-lt"/>
              <a:buAutoNum type="alphaLcPeriod"/>
            </a:pPr>
            <a:r>
              <a:rPr lang="en-US" sz="2200" dirty="0"/>
              <a:t>Code</a:t>
            </a:r>
          </a:p>
          <a:p>
            <a:pPr marL="1073150" lvl="1" indent="-514350">
              <a:spcBef>
                <a:spcPts val="100"/>
              </a:spcBef>
              <a:buFont typeface="+mj-lt"/>
              <a:buAutoNum type="alphaLcPeriod"/>
            </a:pPr>
            <a:r>
              <a:rPr lang="en-US" sz="2200" dirty="0"/>
              <a:t>Program documentation</a:t>
            </a:r>
          </a:p>
          <a:p>
            <a:pPr marL="586232" indent="-514350">
              <a:spcBef>
                <a:spcPts val="100"/>
              </a:spcBef>
              <a:buFont typeface="+mj-lt"/>
              <a:buAutoNum type="arabicPeriod"/>
            </a:pPr>
            <a:r>
              <a:rPr lang="en-US" sz="2400" dirty="0"/>
              <a:t>Testing</a:t>
            </a:r>
          </a:p>
          <a:p>
            <a:pPr marL="1073150" lvl="1" indent="-514350">
              <a:spcBef>
                <a:spcPts val="100"/>
              </a:spcBef>
              <a:buFont typeface="+mj-lt"/>
              <a:buAutoNum type="alphaLcPeriod"/>
            </a:pPr>
            <a:r>
              <a:rPr lang="en-US" sz="2200" dirty="0"/>
              <a:t>Test scenarios (test plan) and test data</a:t>
            </a:r>
          </a:p>
          <a:p>
            <a:pPr marL="1073150" lvl="1" indent="-514350">
              <a:spcBef>
                <a:spcPts val="100"/>
              </a:spcBef>
              <a:buFont typeface="+mj-lt"/>
              <a:buAutoNum type="alphaLcPeriod"/>
            </a:pPr>
            <a:r>
              <a:rPr lang="en-US" sz="2200" dirty="0"/>
              <a:t>Results of program and system testing</a:t>
            </a:r>
          </a:p>
          <a:p>
            <a:pPr marL="414782" indent="-342900">
              <a:spcBef>
                <a:spcPts val="100"/>
              </a:spcBef>
              <a:buFont typeface="+mj-lt"/>
              <a:buAutoNum type="arabicPeriod"/>
            </a:pPr>
            <a:r>
              <a:rPr lang="en-US" sz="2400" dirty="0"/>
              <a:t>  Installation</a:t>
            </a:r>
          </a:p>
          <a:p>
            <a:pPr marL="901700" lvl="1" indent="-342900">
              <a:spcBef>
                <a:spcPts val="100"/>
              </a:spcBef>
              <a:buFont typeface="+mj-lt"/>
              <a:buAutoNum type="alphaLcPeriod"/>
            </a:pPr>
            <a:r>
              <a:rPr lang="en-US" sz="2200" dirty="0"/>
              <a:t>User guides</a:t>
            </a:r>
          </a:p>
          <a:p>
            <a:pPr marL="901700" lvl="1" indent="-342900">
              <a:spcBef>
                <a:spcPts val="100"/>
              </a:spcBef>
              <a:buFont typeface="+mj-lt"/>
              <a:buAutoNum type="alphaLcPeriod"/>
            </a:pPr>
            <a:r>
              <a:rPr lang="en-US" sz="2200" dirty="0"/>
              <a:t>User training plan</a:t>
            </a:r>
          </a:p>
          <a:p>
            <a:pPr marL="901700" lvl="1" indent="-342900">
              <a:spcBef>
                <a:spcPts val="100"/>
              </a:spcBef>
              <a:buFont typeface="+mj-lt"/>
              <a:buAutoNum type="alphaLcPeriod"/>
            </a:pPr>
            <a:r>
              <a:rPr lang="en-US" sz="2200" dirty="0"/>
              <a:t>Installation and conversion plan</a:t>
            </a:r>
          </a:p>
          <a:p>
            <a:pPr marL="1358900" lvl="2" indent="-400050">
              <a:spcBef>
                <a:spcPts val="100"/>
              </a:spcBef>
              <a:buFont typeface="+mj-lt"/>
              <a:buAutoNum type="romanLcPeriod"/>
            </a:pPr>
            <a:r>
              <a:rPr lang="en-US" sz="2000" dirty="0"/>
              <a:t>Software and hardware installation schedule</a:t>
            </a:r>
          </a:p>
          <a:p>
            <a:pPr marL="1358900" lvl="2" indent="-400050">
              <a:spcBef>
                <a:spcPts val="100"/>
              </a:spcBef>
              <a:buFont typeface="+mj-lt"/>
              <a:buAutoNum type="romanLcPeriod"/>
            </a:pPr>
            <a:r>
              <a:rPr lang="en-US" sz="2000" dirty="0"/>
              <a:t>Data conversion plan</a:t>
            </a:r>
          </a:p>
          <a:p>
            <a:pPr marL="1358900" lvl="2" indent="-400050">
              <a:spcBef>
                <a:spcPts val="100"/>
              </a:spcBef>
              <a:buFont typeface="+mj-lt"/>
              <a:buAutoNum type="romanLcPeriod"/>
            </a:pPr>
            <a:r>
              <a:rPr lang="en-US" sz="2000" dirty="0"/>
              <a:t>Site and facility remodeling plan</a:t>
            </a:r>
          </a:p>
          <a:p>
            <a:pPr marL="901700" lvl="1" indent="-342900">
              <a:buFont typeface="+mj-lt"/>
              <a:buAutoNum type="alphaLcPeriod"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4251561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Documenting the System, Training Users, and Supporting Users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864436"/>
            <a:ext cx="8229600" cy="4261727"/>
          </a:xfrm>
        </p:spPr>
        <p:txBody>
          <a:bodyPr/>
          <a:lstStyle/>
          <a:p>
            <a:pPr marL="609600" indent="-609600" eaLnBrk="1" hangingPunct="1"/>
            <a:r>
              <a:rPr lang="en-US" altLang="en-US" sz="2800" dirty="0"/>
              <a:t>Two audiences for final documentation:</a:t>
            </a:r>
          </a:p>
          <a:p>
            <a:pPr marL="990600" lvl="1" indent="-533400" eaLnBrk="1" hangingPunct="1"/>
            <a:r>
              <a:rPr lang="en-US" altLang="en-US" sz="2400" dirty="0"/>
              <a:t>Information systems personnel who will maintain the system throughout its productive life</a:t>
            </a:r>
          </a:p>
          <a:p>
            <a:pPr marL="990600" lvl="1" indent="-533400" eaLnBrk="1" hangingPunct="1"/>
            <a:r>
              <a:rPr lang="en-US" altLang="en-US" sz="2400" dirty="0"/>
              <a:t>People who will use the system as part of their daily lives</a:t>
            </a:r>
          </a:p>
          <a:p>
            <a:pPr marL="609600" indent="-609600" eaLnBrk="1" hangingPunct="1"/>
            <a:r>
              <a:rPr lang="en-US" altLang="en-US" sz="2800" dirty="0"/>
              <a:t>User Training</a:t>
            </a:r>
          </a:p>
          <a:p>
            <a:pPr marL="990600" lvl="1" indent="-533400" eaLnBrk="1" hangingPunct="1"/>
            <a:r>
              <a:rPr lang="en-US" altLang="en-US" sz="2400" dirty="0"/>
              <a:t>Application-specific</a:t>
            </a:r>
          </a:p>
          <a:p>
            <a:pPr marL="990600" lvl="1" indent="-533400" eaLnBrk="1" hangingPunct="1"/>
            <a:r>
              <a:rPr lang="en-US" altLang="en-US" sz="2400" dirty="0"/>
              <a:t>General for operating system and off-the-shelf software</a:t>
            </a:r>
          </a:p>
          <a:p>
            <a:pPr marL="586232" indent="-514350"/>
            <a:endParaRPr lang="en-US" sz="28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351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3628"/>
            <a:ext cx="8229600" cy="1138723"/>
          </a:xfrm>
        </p:spPr>
        <p:txBody>
          <a:bodyPr/>
          <a:lstStyle/>
          <a:p>
            <a:r>
              <a:rPr lang="en-US" sz="3000" dirty="0"/>
              <a:t>Table 2: Deliverables for Documenting the System, Training and Supporting Users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739976"/>
            <a:ext cx="8229600" cy="4767485"/>
          </a:xfrm>
        </p:spPr>
        <p:txBody>
          <a:bodyPr/>
          <a:lstStyle/>
          <a:p>
            <a:pPr marL="586232" indent="-514350">
              <a:spcBef>
                <a:spcPts val="100"/>
              </a:spcBef>
              <a:buFont typeface="+mj-lt"/>
              <a:buAutoNum type="arabicPeriod"/>
            </a:pPr>
            <a:r>
              <a:rPr lang="en-US" sz="2200" dirty="0"/>
              <a:t>Documentation</a:t>
            </a:r>
          </a:p>
          <a:p>
            <a:pPr marL="1073150" lvl="1" indent="-514350">
              <a:spcBef>
                <a:spcPts val="100"/>
              </a:spcBef>
              <a:buFont typeface="+mj-lt"/>
              <a:buAutoNum type="alphaLcPeriod"/>
            </a:pPr>
            <a:r>
              <a:rPr lang="en-US" sz="2000" dirty="0"/>
              <a:t>System documentation</a:t>
            </a:r>
          </a:p>
          <a:p>
            <a:pPr marL="1073150" lvl="1" indent="-514350">
              <a:spcBef>
                <a:spcPts val="100"/>
              </a:spcBef>
              <a:buFont typeface="+mj-lt"/>
              <a:buAutoNum type="alphaLcPeriod"/>
            </a:pPr>
            <a:r>
              <a:rPr lang="en-US" sz="2000" dirty="0"/>
              <a:t>User documentation</a:t>
            </a:r>
          </a:p>
          <a:p>
            <a:pPr marL="586232" indent="-514350">
              <a:spcBef>
                <a:spcPts val="100"/>
              </a:spcBef>
              <a:buFont typeface="+mj-lt"/>
              <a:buAutoNum type="arabicPeriod"/>
            </a:pPr>
            <a:r>
              <a:rPr lang="en-US" sz="2200" dirty="0"/>
              <a:t>User training plan</a:t>
            </a:r>
          </a:p>
          <a:p>
            <a:pPr marL="1073150" lvl="1" indent="-514350">
              <a:spcBef>
                <a:spcPts val="100"/>
              </a:spcBef>
              <a:buFont typeface="+mj-lt"/>
              <a:buAutoNum type="alphaLcPeriod"/>
            </a:pPr>
            <a:r>
              <a:rPr lang="en-US" sz="2000" dirty="0"/>
              <a:t>Classes</a:t>
            </a:r>
          </a:p>
          <a:p>
            <a:pPr marL="1073150" lvl="1" indent="-514350">
              <a:spcBef>
                <a:spcPts val="100"/>
              </a:spcBef>
              <a:buFont typeface="+mj-lt"/>
              <a:buAutoNum type="alphaLcPeriod"/>
            </a:pPr>
            <a:r>
              <a:rPr lang="en-US" sz="2000" dirty="0"/>
              <a:t>Tutorials</a:t>
            </a:r>
          </a:p>
          <a:p>
            <a:pPr marL="414782" indent="-342900">
              <a:spcBef>
                <a:spcPts val="100"/>
              </a:spcBef>
              <a:buFont typeface="+mj-lt"/>
              <a:buAutoNum type="arabicPeriod"/>
            </a:pPr>
            <a:r>
              <a:rPr lang="en-US" sz="2200" dirty="0"/>
              <a:t>User training modules</a:t>
            </a:r>
          </a:p>
          <a:p>
            <a:pPr marL="901700" lvl="1" indent="-342900">
              <a:spcBef>
                <a:spcPts val="100"/>
              </a:spcBef>
              <a:buFont typeface="+mj-lt"/>
              <a:buAutoNum type="alphaLcPeriod"/>
            </a:pPr>
            <a:r>
              <a:rPr lang="en-US" sz="2000" dirty="0"/>
              <a:t>Training materials</a:t>
            </a:r>
          </a:p>
          <a:p>
            <a:pPr marL="901700" lvl="1" indent="-342900">
              <a:spcBef>
                <a:spcPts val="100"/>
              </a:spcBef>
              <a:buFont typeface="+mj-lt"/>
              <a:buAutoNum type="alphaLcPeriod"/>
            </a:pPr>
            <a:r>
              <a:rPr lang="en-US" sz="2000" dirty="0"/>
              <a:t>Computer-based training aids</a:t>
            </a:r>
          </a:p>
          <a:p>
            <a:pPr marL="444500" indent="-342900">
              <a:spcBef>
                <a:spcPts val="100"/>
              </a:spcBef>
              <a:buFont typeface="+mj-lt"/>
              <a:buAutoNum type="arabicPeriod"/>
            </a:pPr>
            <a:r>
              <a:rPr lang="en-US" sz="2200" dirty="0"/>
              <a:t>User support plan</a:t>
            </a:r>
          </a:p>
          <a:p>
            <a:pPr marL="958850" lvl="1" indent="-400050">
              <a:spcBef>
                <a:spcPts val="100"/>
              </a:spcBef>
              <a:buFont typeface="+mj-lt"/>
              <a:buAutoNum type="alphaLcPeriod"/>
            </a:pPr>
            <a:r>
              <a:rPr lang="en-US" sz="2000" dirty="0"/>
              <a:t>Help desk</a:t>
            </a:r>
          </a:p>
          <a:p>
            <a:pPr marL="958850" lvl="1" indent="-400050">
              <a:spcBef>
                <a:spcPts val="100"/>
              </a:spcBef>
              <a:buFont typeface="+mj-lt"/>
              <a:buAutoNum type="alphaLcPeriod"/>
            </a:pPr>
            <a:r>
              <a:rPr lang="en-US" sz="2000" dirty="0"/>
              <a:t>Online help</a:t>
            </a:r>
          </a:p>
          <a:p>
            <a:pPr marL="958850" lvl="1" indent="-400050">
              <a:spcBef>
                <a:spcPts val="100"/>
              </a:spcBef>
              <a:buFont typeface="+mj-lt"/>
              <a:buAutoNum type="alphaLcPeriod"/>
            </a:pPr>
            <a:r>
              <a:rPr lang="en-US" sz="2000" dirty="0"/>
              <a:t>Bulletin boards and other support mechanisms</a:t>
            </a:r>
          </a:p>
          <a:p>
            <a:pPr marL="901700" lvl="1" indent="-342900">
              <a:buFont typeface="+mj-lt"/>
              <a:buAutoNum type="alphaLcPeriod"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556352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Software Application Testing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A master test plan is developed during the analysis phase</a:t>
            </a:r>
          </a:p>
          <a:p>
            <a:pPr eaLnBrk="1" hangingPunct="1"/>
            <a:r>
              <a:rPr lang="en-US" altLang="en-US" sz="2800" dirty="0"/>
              <a:t>During the design phase, unit, system and integration test plans are developed</a:t>
            </a:r>
          </a:p>
          <a:p>
            <a:pPr eaLnBrk="1" hangingPunct="1"/>
            <a:r>
              <a:rPr lang="en-US" altLang="en-US" sz="2800" dirty="0"/>
              <a:t>The actual testing is done during implementation</a:t>
            </a:r>
          </a:p>
          <a:p>
            <a:pPr eaLnBrk="1" hangingPunct="1"/>
            <a:r>
              <a:rPr lang="en-US" altLang="en-US" sz="2800" dirty="0"/>
              <a:t>Written test plans provide improved communication among all parties involved in testing</a:t>
            </a:r>
          </a:p>
          <a:p>
            <a:pPr marL="586232" indent="-514350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61873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5370"/>
            <a:ext cx="8229600" cy="1128235"/>
          </a:xfrm>
        </p:spPr>
        <p:txBody>
          <a:bodyPr/>
          <a:lstStyle/>
          <a:p>
            <a:r>
              <a:rPr lang="en-US" dirty="0"/>
              <a:t>Table 3: Table of Contents of a Master Test Plan </a:t>
            </a:r>
            <a:r>
              <a:rPr lang="en-US" sz="2000" dirty="0"/>
              <a:t>(1 of 3)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765584"/>
            <a:ext cx="8229600" cy="4988859"/>
          </a:xfrm>
        </p:spPr>
        <p:txBody>
          <a:bodyPr/>
          <a:lstStyle/>
          <a:p>
            <a:pPr marL="558800" indent="-457200">
              <a:spcBef>
                <a:spcPts val="100"/>
              </a:spcBef>
              <a:buFont typeface="+mj-lt"/>
              <a:buAutoNum type="arabicPeriod"/>
            </a:pPr>
            <a:r>
              <a:rPr lang="en-US" sz="2200" dirty="0"/>
              <a:t>Introduction</a:t>
            </a:r>
          </a:p>
          <a:p>
            <a:pPr marL="1016000" lvl="1" indent="-457200">
              <a:spcBef>
                <a:spcPts val="100"/>
              </a:spcBef>
              <a:buFont typeface="+mj-lt"/>
              <a:buAutoNum type="alphaLcPeriod"/>
            </a:pPr>
            <a:r>
              <a:rPr lang="en-US" sz="2000" dirty="0"/>
              <a:t>Description of system to be tested</a:t>
            </a:r>
          </a:p>
          <a:p>
            <a:pPr marL="1016000" lvl="1" indent="-457200">
              <a:spcBef>
                <a:spcPts val="100"/>
              </a:spcBef>
              <a:buFont typeface="+mj-lt"/>
              <a:buAutoNum type="alphaLcPeriod"/>
            </a:pPr>
            <a:r>
              <a:rPr lang="en-US" sz="2000" dirty="0"/>
              <a:t>Objectives of the test plan</a:t>
            </a:r>
          </a:p>
          <a:p>
            <a:pPr marL="1016000" lvl="1" indent="-457200">
              <a:spcBef>
                <a:spcPts val="100"/>
              </a:spcBef>
              <a:buFont typeface="+mj-lt"/>
              <a:buAutoNum type="alphaLcPeriod"/>
            </a:pPr>
            <a:r>
              <a:rPr lang="en-US" sz="2000" dirty="0"/>
              <a:t>Method of testing</a:t>
            </a:r>
          </a:p>
          <a:p>
            <a:pPr marL="1016000" lvl="1" indent="-457200">
              <a:spcBef>
                <a:spcPts val="100"/>
              </a:spcBef>
              <a:buFont typeface="+mj-lt"/>
              <a:buAutoNum type="alphaLcPeriod"/>
            </a:pPr>
            <a:r>
              <a:rPr lang="en-US" sz="2000" dirty="0"/>
              <a:t>Supporting documents</a:t>
            </a:r>
          </a:p>
          <a:p>
            <a:pPr marL="558800" indent="-457200">
              <a:spcBef>
                <a:spcPts val="100"/>
              </a:spcBef>
              <a:buFont typeface="+mj-lt"/>
              <a:buAutoNum type="arabicPeriod"/>
            </a:pPr>
            <a:r>
              <a:rPr lang="en-US" sz="2200" dirty="0"/>
              <a:t>Overall Plan</a:t>
            </a:r>
          </a:p>
          <a:p>
            <a:pPr marL="1016000" lvl="1" indent="-457200">
              <a:spcBef>
                <a:spcPts val="100"/>
              </a:spcBef>
              <a:buFont typeface="+mj-lt"/>
              <a:buAutoNum type="alphaLcPeriod"/>
            </a:pPr>
            <a:r>
              <a:rPr lang="en-US" sz="2000" dirty="0"/>
              <a:t>Milestones, schedules, and locations</a:t>
            </a:r>
          </a:p>
          <a:p>
            <a:pPr marL="1016000" lvl="1" indent="-457200">
              <a:spcBef>
                <a:spcPts val="100"/>
              </a:spcBef>
              <a:buFont typeface="+mj-lt"/>
              <a:buAutoNum type="alphaLcPeriod"/>
            </a:pPr>
            <a:r>
              <a:rPr lang="en-US" sz="2000" dirty="0"/>
              <a:t>Test materials</a:t>
            </a:r>
          </a:p>
          <a:p>
            <a:pPr marL="1530350" lvl="2" indent="-514350">
              <a:spcBef>
                <a:spcPts val="100"/>
              </a:spcBef>
              <a:buFont typeface="+mj-lt"/>
              <a:buAutoNum type="romanLcPeriod"/>
            </a:pPr>
            <a:r>
              <a:rPr lang="en-US" sz="1900" dirty="0"/>
              <a:t>Test plans</a:t>
            </a:r>
          </a:p>
          <a:p>
            <a:pPr marL="1530350" lvl="2" indent="-514350">
              <a:spcBef>
                <a:spcPts val="100"/>
              </a:spcBef>
              <a:buFont typeface="+mj-lt"/>
              <a:buAutoNum type="romanLcPeriod"/>
            </a:pPr>
            <a:r>
              <a:rPr lang="en-US" sz="1900" dirty="0"/>
              <a:t>Test cases</a:t>
            </a:r>
          </a:p>
          <a:p>
            <a:pPr marL="1530350" lvl="2" indent="-514350">
              <a:spcBef>
                <a:spcPts val="100"/>
              </a:spcBef>
              <a:buFont typeface="+mj-lt"/>
              <a:buAutoNum type="romanLcPeriod"/>
            </a:pPr>
            <a:r>
              <a:rPr lang="en-US" sz="1900" dirty="0"/>
              <a:t>Test scenarios</a:t>
            </a:r>
          </a:p>
          <a:p>
            <a:pPr marL="1530350" lvl="2" indent="-514350">
              <a:spcBef>
                <a:spcPts val="100"/>
              </a:spcBef>
              <a:buFont typeface="+mj-lt"/>
              <a:buAutoNum type="romanLcPeriod"/>
            </a:pPr>
            <a:r>
              <a:rPr lang="en-US" sz="1900" dirty="0"/>
              <a:t>Test log</a:t>
            </a:r>
          </a:p>
        </p:txBody>
      </p:sp>
    </p:spTree>
    <p:extLst>
      <p:ext uri="{BB962C8B-B14F-4D97-AF65-F5344CB8AC3E}">
        <p14:creationId xmlns:p14="http://schemas.microsoft.com/office/powerpoint/2010/main" val="3531246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5370"/>
            <a:ext cx="8229600" cy="1128235"/>
          </a:xfrm>
        </p:spPr>
        <p:txBody>
          <a:bodyPr/>
          <a:lstStyle/>
          <a:p>
            <a:r>
              <a:rPr lang="en-US" dirty="0"/>
              <a:t>Table 3: Table of Contents of a Master Test Plan </a:t>
            </a:r>
            <a:r>
              <a:rPr lang="en-US" sz="2000" dirty="0"/>
              <a:t>(2 of 3)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765584"/>
            <a:ext cx="8229600" cy="4988859"/>
          </a:xfrm>
        </p:spPr>
        <p:txBody>
          <a:bodyPr/>
          <a:lstStyle/>
          <a:p>
            <a:pPr marL="558800" indent="-457200">
              <a:spcBef>
                <a:spcPts val="100"/>
              </a:spcBef>
              <a:buFont typeface="+mj-lt"/>
              <a:buAutoNum type="arabicPeriod" startAt="3"/>
            </a:pPr>
            <a:r>
              <a:rPr lang="en-US" sz="2400" dirty="0"/>
              <a:t>Testing Requirements</a:t>
            </a:r>
          </a:p>
          <a:p>
            <a:pPr marL="1016000" lvl="1" indent="-457200">
              <a:spcBef>
                <a:spcPts val="100"/>
              </a:spcBef>
              <a:buFont typeface="+mj-lt"/>
              <a:buAutoNum type="alphaLcPeriod"/>
            </a:pPr>
            <a:r>
              <a:rPr lang="en-US" sz="2000" dirty="0"/>
              <a:t>Hardware</a:t>
            </a:r>
          </a:p>
          <a:p>
            <a:pPr marL="1016000" lvl="1" indent="-457200">
              <a:spcBef>
                <a:spcPts val="100"/>
              </a:spcBef>
              <a:buFont typeface="+mj-lt"/>
              <a:buAutoNum type="alphaLcPeriod"/>
            </a:pPr>
            <a:r>
              <a:rPr lang="en-US" sz="2000" dirty="0"/>
              <a:t>Software</a:t>
            </a:r>
          </a:p>
          <a:p>
            <a:pPr marL="1016000" lvl="1" indent="-457200">
              <a:spcBef>
                <a:spcPts val="100"/>
              </a:spcBef>
              <a:buFont typeface="+mj-lt"/>
              <a:buAutoNum type="alphaLcPeriod"/>
            </a:pPr>
            <a:r>
              <a:rPr lang="en-US" sz="2000" dirty="0"/>
              <a:t>Personnel</a:t>
            </a:r>
          </a:p>
          <a:p>
            <a:pPr marL="558800" indent="-457200">
              <a:spcBef>
                <a:spcPts val="100"/>
              </a:spcBef>
              <a:buFont typeface="+mj-lt"/>
              <a:buAutoNum type="arabicPeriod" startAt="4"/>
            </a:pPr>
            <a:r>
              <a:rPr lang="en-US" sz="2400" dirty="0"/>
              <a:t>Procedure Control</a:t>
            </a:r>
          </a:p>
          <a:p>
            <a:pPr marL="1016000" lvl="1" indent="-457200">
              <a:spcBef>
                <a:spcPts val="100"/>
              </a:spcBef>
              <a:buFont typeface="+mj-lt"/>
              <a:buAutoNum type="alphaLcPeriod"/>
            </a:pPr>
            <a:r>
              <a:rPr lang="en-US" sz="2000" dirty="0"/>
              <a:t>Test initiation</a:t>
            </a:r>
          </a:p>
          <a:p>
            <a:pPr marL="1016000" lvl="1" indent="-457200">
              <a:spcBef>
                <a:spcPts val="100"/>
              </a:spcBef>
              <a:buFont typeface="+mj-lt"/>
              <a:buAutoNum type="alphaLcPeriod"/>
            </a:pPr>
            <a:r>
              <a:rPr lang="en-US" sz="2000" dirty="0"/>
              <a:t>Test execution</a:t>
            </a:r>
          </a:p>
          <a:p>
            <a:pPr marL="1016000" lvl="1" indent="-457200">
              <a:spcBef>
                <a:spcPts val="100"/>
              </a:spcBef>
              <a:buFont typeface="+mj-lt"/>
              <a:buAutoNum type="alphaLcPeriod"/>
            </a:pPr>
            <a:r>
              <a:rPr lang="en-US" sz="2000" dirty="0"/>
              <a:t>Test failure</a:t>
            </a:r>
          </a:p>
          <a:p>
            <a:pPr marL="1016000" lvl="1" indent="-457200">
              <a:spcBef>
                <a:spcPts val="100"/>
              </a:spcBef>
              <a:buFont typeface="+mj-lt"/>
              <a:buAutoNum type="alphaLcPeriod"/>
            </a:pPr>
            <a:r>
              <a:rPr lang="en-US" sz="2000" dirty="0"/>
              <a:t>Access/change control</a:t>
            </a:r>
          </a:p>
          <a:p>
            <a:pPr marL="1016000" lvl="1" indent="-457200">
              <a:spcBef>
                <a:spcPts val="100"/>
              </a:spcBef>
              <a:buFont typeface="+mj-lt"/>
              <a:buAutoNum type="alphaLcPeriod"/>
            </a:pPr>
            <a:r>
              <a:rPr lang="en-US" sz="2000" dirty="0"/>
              <a:t>Document control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711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6BD85-5CB0-4E7A-B703-578A7216F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38096"/>
            <a:ext cx="8229600" cy="1066799"/>
          </a:xfrm>
        </p:spPr>
        <p:txBody>
          <a:bodyPr/>
          <a:lstStyle/>
          <a:p>
            <a:r>
              <a:rPr lang="en-US" dirty="0"/>
              <a:t>Table 3: Table of Contents of a Master Test Plan </a:t>
            </a:r>
            <a:r>
              <a:rPr lang="en-US" sz="2000" dirty="0"/>
              <a:t>(3 of 3)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BB261-4B48-4226-967F-315BFF628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5728447"/>
            <a:ext cx="8229600" cy="340891"/>
          </a:xfrm>
        </p:spPr>
        <p:txBody>
          <a:bodyPr/>
          <a:lstStyle/>
          <a:p>
            <a:r>
              <a:rPr lang="en-US" i="1" dirty="0"/>
              <a:t>(Source: </a:t>
            </a:r>
            <a:r>
              <a:rPr lang="en-US" dirty="0"/>
              <a:t>Adapted from Mosley, 1993.)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C06E64-EA3A-4577-BD98-4C532EF2F3E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556326"/>
            <a:ext cx="8229600" cy="4051098"/>
          </a:xfrm>
        </p:spPr>
        <p:txBody>
          <a:bodyPr/>
          <a:lstStyle/>
          <a:p>
            <a:pPr marL="444500" indent="-342900">
              <a:spcBef>
                <a:spcPts val="100"/>
              </a:spcBef>
              <a:buFont typeface="+mj-lt"/>
              <a:buAutoNum type="arabicPeriod" startAt="5"/>
            </a:pPr>
            <a:r>
              <a:rPr lang="en-US" sz="2400" dirty="0"/>
              <a:t>Test-specific or component-specific test plans</a:t>
            </a:r>
          </a:p>
          <a:p>
            <a:pPr marL="901700" lvl="1" indent="-342900">
              <a:spcBef>
                <a:spcPts val="100"/>
              </a:spcBef>
              <a:buFont typeface="+mj-lt"/>
              <a:buAutoNum type="alphaLcPeriod"/>
            </a:pPr>
            <a:r>
              <a:rPr lang="en-US" sz="2000" dirty="0"/>
              <a:t>Objectives</a:t>
            </a:r>
          </a:p>
          <a:p>
            <a:pPr marL="901700" lvl="1" indent="-342900">
              <a:spcBef>
                <a:spcPts val="100"/>
              </a:spcBef>
              <a:buFont typeface="+mj-lt"/>
              <a:buAutoNum type="alphaLcPeriod"/>
            </a:pPr>
            <a:r>
              <a:rPr lang="en-US" sz="2000" dirty="0"/>
              <a:t>Software description</a:t>
            </a:r>
          </a:p>
          <a:p>
            <a:pPr marL="901700" lvl="1" indent="-342900">
              <a:spcBef>
                <a:spcPts val="100"/>
              </a:spcBef>
              <a:buFont typeface="+mj-lt"/>
              <a:buAutoNum type="alphaLcPeriod"/>
            </a:pPr>
            <a:r>
              <a:rPr lang="en-US" sz="2000" dirty="0"/>
              <a:t>Method</a:t>
            </a:r>
          </a:p>
          <a:p>
            <a:pPr marL="901700" lvl="1" indent="-342900">
              <a:spcBef>
                <a:spcPts val="100"/>
              </a:spcBef>
              <a:buFont typeface="+mj-lt"/>
              <a:buAutoNum type="alphaLcPeriod"/>
            </a:pPr>
            <a:r>
              <a:rPr lang="en-US" sz="2000" dirty="0"/>
              <a:t>Milestones, schedule, progression</a:t>
            </a:r>
          </a:p>
          <a:p>
            <a:pPr marL="901700" lvl="1" indent="-342900">
              <a:spcBef>
                <a:spcPts val="100"/>
              </a:spcBef>
              <a:buFont typeface="+mj-lt"/>
              <a:buAutoNum type="alphaLcPeriod"/>
            </a:pPr>
            <a:r>
              <a:rPr lang="en-US" sz="2000" dirty="0"/>
              <a:t>Locations</a:t>
            </a:r>
          </a:p>
          <a:p>
            <a:pPr marL="901700" lvl="1" indent="-342900">
              <a:spcBef>
                <a:spcPts val="100"/>
              </a:spcBef>
              <a:buFont typeface="+mj-lt"/>
              <a:buAutoNum type="alphaLcPeriod"/>
            </a:pPr>
            <a:r>
              <a:rPr lang="en-US" sz="2000" dirty="0"/>
              <a:t>Requirements</a:t>
            </a:r>
          </a:p>
          <a:p>
            <a:pPr marL="901700" lvl="1" indent="-342900">
              <a:spcBef>
                <a:spcPts val="100"/>
              </a:spcBef>
              <a:buFont typeface="+mj-lt"/>
              <a:buAutoNum type="alphaLcPeriod"/>
            </a:pPr>
            <a:r>
              <a:rPr lang="en-US" sz="2000" dirty="0"/>
              <a:t>Criteria for passing tests</a:t>
            </a:r>
          </a:p>
          <a:p>
            <a:pPr marL="901700" lvl="1" indent="-342900">
              <a:spcBef>
                <a:spcPts val="100"/>
              </a:spcBef>
              <a:buFont typeface="+mj-lt"/>
              <a:buAutoNum type="alphaLcPeriod"/>
            </a:pPr>
            <a:r>
              <a:rPr lang="en-US" sz="2000" dirty="0"/>
              <a:t>Resulting test materials</a:t>
            </a:r>
          </a:p>
          <a:p>
            <a:pPr marL="901700" lvl="1" indent="-342900">
              <a:spcBef>
                <a:spcPts val="100"/>
              </a:spcBef>
              <a:buFont typeface="+mj-lt"/>
              <a:buAutoNum type="alphaLcPeriod"/>
            </a:pPr>
            <a:r>
              <a:rPr lang="en-US" sz="2000" dirty="0"/>
              <a:t>Execution control</a:t>
            </a:r>
          </a:p>
          <a:p>
            <a:pPr marL="901700" lvl="1" indent="-342900">
              <a:spcBef>
                <a:spcPts val="100"/>
              </a:spcBef>
              <a:buFont typeface="+mj-lt"/>
              <a:buAutoNum type="alphaLcPeriod"/>
            </a:pPr>
            <a:r>
              <a:rPr lang="en-US" sz="2000" dirty="0"/>
              <a:t>Attachments</a:t>
            </a:r>
          </a:p>
        </p:txBody>
      </p:sp>
    </p:spTree>
    <p:extLst>
      <p:ext uri="{BB962C8B-B14F-4D97-AF65-F5344CB8AC3E}">
        <p14:creationId xmlns:p14="http://schemas.microsoft.com/office/powerpoint/2010/main" val="1792460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Seven Different Types of Tests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(1 of 4)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586232" indent="-514350"/>
            <a:r>
              <a:rPr lang="en-US" sz="2800" i="1" dirty="0"/>
              <a:t>Software</a:t>
            </a:r>
            <a:r>
              <a:rPr lang="en-US" sz="2800" dirty="0"/>
              <a:t> </a:t>
            </a:r>
            <a:r>
              <a:rPr lang="en-US" sz="2800" i="1" dirty="0"/>
              <a:t>application testing </a:t>
            </a:r>
            <a:r>
              <a:rPr lang="en-US" sz="2800" dirty="0"/>
              <a:t>is an umbrella term that covers several types of tests</a:t>
            </a:r>
          </a:p>
          <a:p>
            <a:pPr eaLnBrk="1" hangingPunct="1"/>
            <a:r>
              <a:rPr lang="en-US" altLang="en-US" sz="2800" dirty="0"/>
              <a:t>   Static or dynamic techniques</a:t>
            </a:r>
          </a:p>
          <a:p>
            <a:pPr lvl="1"/>
            <a:r>
              <a:rPr lang="en-US" altLang="en-US" sz="2400" dirty="0"/>
              <a:t>Static testing means that the code being tested is not executed</a:t>
            </a:r>
          </a:p>
          <a:p>
            <a:pPr lvl="1"/>
            <a:r>
              <a:rPr lang="en-US" altLang="en-US" sz="2400" dirty="0"/>
              <a:t>Dynamic testing involves execution of the code</a:t>
            </a:r>
          </a:p>
          <a:p>
            <a:pPr eaLnBrk="1" hangingPunct="1"/>
            <a:r>
              <a:rPr lang="en-US" altLang="en-US" sz="2400" dirty="0"/>
              <a:t>   Automated testing vs. manual testing</a:t>
            </a:r>
            <a:endParaRPr lang="en-US" altLang="en-US" sz="2800" dirty="0"/>
          </a:p>
          <a:p>
            <a:pPr lvl="1" eaLnBrk="1" hangingPunct="1"/>
            <a:r>
              <a:rPr lang="en-US" altLang="en-US" sz="2400" dirty="0"/>
              <a:t>Automated means computer conducts the test</a:t>
            </a:r>
          </a:p>
          <a:p>
            <a:pPr lvl="1" eaLnBrk="1" hangingPunct="1"/>
            <a:r>
              <a:rPr lang="en-US" altLang="en-US" sz="2400" dirty="0"/>
              <a:t>Manual means that people complete the test</a:t>
            </a:r>
          </a:p>
          <a:p>
            <a:endParaRPr lang="en-US" altLang="en-US" sz="2800" dirty="0"/>
          </a:p>
          <a:p>
            <a:endParaRPr lang="en-US" altLang="en-US" sz="2800" dirty="0"/>
          </a:p>
          <a:p>
            <a:pPr marL="586232" indent="-514350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3522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3A925-60F3-4F9C-B6A0-27771E5CD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4472"/>
            <a:ext cx="8229600" cy="1160928"/>
          </a:xfrm>
        </p:spPr>
        <p:txBody>
          <a:bodyPr/>
          <a:lstStyle/>
          <a:p>
            <a:r>
              <a:rPr lang="en-US" dirty="0"/>
              <a:t>Table 4: Categorization of Test Types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E050CF-2F7E-4190-8DB0-1C92E2FC5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5688106"/>
            <a:ext cx="8229600" cy="381232"/>
          </a:xfrm>
        </p:spPr>
        <p:txBody>
          <a:bodyPr/>
          <a:lstStyle/>
          <a:p>
            <a:r>
              <a:rPr lang="en-US" i="1" dirty="0"/>
              <a:t>(Source: </a:t>
            </a:r>
            <a:r>
              <a:rPr lang="en-US" dirty="0"/>
              <a:t>Adapted from Mosley, 1993)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A0426A4-6298-4BF4-8CDA-380E75DC5F68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441846086"/>
              </p:ext>
            </p:extLst>
          </p:nvPr>
        </p:nvGraphicFramePr>
        <p:xfrm>
          <a:off x="2023782" y="1555750"/>
          <a:ext cx="5096436" cy="1473200"/>
        </p:xfrm>
        <a:graphic>
          <a:graphicData uri="http://schemas.openxmlformats.org/drawingml/2006/table">
            <a:tbl>
              <a:tblPr firstRow="1" bandRow="1">
                <a:tableStyleId>{40F9630F-82C1-40B7-BC3A-925EFCFF5E92}</a:tableStyleId>
              </a:tblPr>
              <a:tblGrid>
                <a:gridCol w="1698812">
                  <a:extLst>
                    <a:ext uri="{9D8B030D-6E8A-4147-A177-3AD203B41FA5}">
                      <a16:colId xmlns:a16="http://schemas.microsoft.com/office/drawing/2014/main" val="1154165582"/>
                    </a:ext>
                  </a:extLst>
                </a:gridCol>
                <a:gridCol w="1698812">
                  <a:extLst>
                    <a:ext uri="{9D8B030D-6E8A-4147-A177-3AD203B41FA5}">
                      <a16:colId xmlns:a16="http://schemas.microsoft.com/office/drawing/2014/main" val="1111732102"/>
                    </a:ext>
                  </a:extLst>
                </a:gridCol>
                <a:gridCol w="1698812">
                  <a:extLst>
                    <a:ext uri="{9D8B030D-6E8A-4147-A177-3AD203B41FA5}">
                      <a16:colId xmlns:a16="http://schemas.microsoft.com/office/drawing/2014/main" val="27423567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Automated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1073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Inspections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Syntax checking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2030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Dynamic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Walk-through</a:t>
                      </a:r>
                    </a:p>
                    <a:p>
                      <a:r>
                        <a:rPr lang="en-US" dirty="0"/>
                        <a:t>Desk checking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Unit test</a:t>
                      </a:r>
                    </a:p>
                    <a:p>
                      <a:r>
                        <a:rPr lang="en-US" dirty="0"/>
                        <a:t>Integration test</a:t>
                      </a:r>
                    </a:p>
                    <a:p>
                      <a:r>
                        <a:rPr lang="en-US" dirty="0"/>
                        <a:t>System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16058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514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Seven Different Types of Tests </a:t>
            </a:r>
            <a:r>
              <a:rPr lang="en-US" sz="2000" dirty="0"/>
              <a:t>(2 of 4)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z="3200" dirty="0">
                <a:solidFill>
                  <a:schemeClr val="tx1"/>
                </a:solidFill>
              </a:rPr>
              <a:t>Seven types of testing:</a:t>
            </a:r>
          </a:p>
          <a:p>
            <a:pPr marL="1073150" lvl="1" indent="-514350">
              <a:buFont typeface="+mj-lt"/>
              <a:buAutoNum type="arabicPeriod"/>
            </a:pPr>
            <a:r>
              <a:rPr lang="en-US" sz="2800" b="1" dirty="0">
                <a:solidFill>
                  <a:srgbClr val="007FA3"/>
                </a:solidFill>
              </a:rPr>
              <a:t>Inspections</a:t>
            </a:r>
            <a:r>
              <a:rPr lang="en-US" sz="2800" dirty="0"/>
              <a:t> – testing technique in which participants examine program code for predictable language-specific errors</a:t>
            </a:r>
          </a:p>
          <a:p>
            <a:pPr marL="1073150" lvl="1" indent="-514350">
              <a:buFont typeface="+mj-lt"/>
              <a:buAutoNum type="arabicPeriod"/>
            </a:pPr>
            <a:r>
              <a:rPr lang="en-US" altLang="en-US" sz="2800" b="1" dirty="0">
                <a:solidFill>
                  <a:srgbClr val="007FA3"/>
                </a:solidFill>
              </a:rPr>
              <a:t>Walk-throughs</a:t>
            </a:r>
            <a:r>
              <a:rPr lang="en-US" altLang="en-US" sz="2800" dirty="0"/>
              <a:t> (code walk-throughs) should be done frequently when pieces of work are reviewed and before formal testing. It is an informal process.</a:t>
            </a:r>
          </a:p>
          <a:p>
            <a:endParaRPr lang="en-US" altLang="en-US" sz="2800" dirty="0"/>
          </a:p>
          <a:p>
            <a:endParaRPr lang="en-US" altLang="en-US" sz="2800" dirty="0"/>
          </a:p>
          <a:p>
            <a:pPr marL="586232" indent="-514350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709652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E3D0D-1A89-4B52-BB74-C77C0E81F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2: Steps in a Typical Walk-Through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B8DF8-84F1-4D57-AF4D-552AD35BA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5715000"/>
            <a:ext cx="8229600" cy="354338"/>
          </a:xfrm>
        </p:spPr>
        <p:txBody>
          <a:bodyPr/>
          <a:lstStyle/>
          <a:p>
            <a:r>
              <a:rPr lang="en-US" i="1" dirty="0"/>
              <a:t>(Source: </a:t>
            </a:r>
            <a:r>
              <a:rPr lang="en-US" dirty="0"/>
              <a:t>Based on Yourdon, 1989)</a:t>
            </a:r>
          </a:p>
        </p:txBody>
      </p:sp>
      <p:pic>
        <p:nvPicPr>
          <p:cNvPr id="6" name="Content Placeholder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A202AFF0-E170-4526-A3FE-812B78CDB589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633329" y="1555750"/>
            <a:ext cx="7877341" cy="3392488"/>
          </a:xfrm>
        </p:spPr>
      </p:pic>
    </p:spTree>
    <p:extLst>
      <p:ext uri="{BB962C8B-B14F-4D97-AF65-F5344CB8AC3E}">
        <p14:creationId xmlns:p14="http://schemas.microsoft.com/office/powerpoint/2010/main" val="16126329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6243"/>
            <a:ext cx="8229600" cy="622828"/>
          </a:xfrm>
        </p:spPr>
        <p:txBody>
          <a:bodyPr/>
          <a:lstStyle/>
          <a:p>
            <a:r>
              <a:rPr lang="en-US" dirty="0"/>
              <a:t>Seven Different Types of Tests </a:t>
            </a:r>
            <a:r>
              <a:rPr lang="en-US" sz="2000" dirty="0"/>
              <a:t>(3 of 4)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261966"/>
            <a:ext cx="8229600" cy="4980572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</a:rPr>
              <a:t>Seven types of testing:</a:t>
            </a:r>
          </a:p>
          <a:p>
            <a:pPr marL="1073150" lvl="1" indent="-514350">
              <a:buFont typeface="+mj-lt"/>
              <a:buAutoNum type="arabicPeriod" startAt="3"/>
            </a:pPr>
            <a:r>
              <a:rPr lang="en-US" sz="2500" b="1" dirty="0">
                <a:solidFill>
                  <a:srgbClr val="007FA3"/>
                </a:solidFill>
              </a:rPr>
              <a:t>Desk checking </a:t>
            </a:r>
            <a:r>
              <a:rPr lang="en-US" sz="2500" dirty="0">
                <a:solidFill>
                  <a:schemeClr val="tx1"/>
                </a:solidFill>
              </a:rPr>
              <a:t>– </a:t>
            </a:r>
            <a:r>
              <a:rPr lang="en-US" sz="2500" dirty="0"/>
              <a:t>testing technique in which the program code is sequentially executed manually by the reviewer</a:t>
            </a:r>
          </a:p>
          <a:p>
            <a:pPr marL="1073150" lvl="1" indent="-514350">
              <a:buFont typeface="+mj-lt"/>
              <a:buAutoNum type="arabicPeriod" startAt="4"/>
            </a:pPr>
            <a:r>
              <a:rPr lang="en-US" altLang="en-US" sz="2500" b="1" dirty="0">
                <a:solidFill>
                  <a:srgbClr val="007FA3"/>
                </a:solidFill>
              </a:rPr>
              <a:t>Unit testing </a:t>
            </a:r>
            <a:r>
              <a:rPr lang="en-US" altLang="en-US" sz="2500" dirty="0"/>
              <a:t>– </a:t>
            </a:r>
            <a:r>
              <a:rPr lang="en-US" sz="2500" dirty="0"/>
              <a:t>process of testing each module alone in an attempt to discover any errors in its code</a:t>
            </a:r>
          </a:p>
          <a:p>
            <a:pPr marL="1069848" lvl="1" indent="-512064">
              <a:buFont typeface="+mj-lt"/>
              <a:buAutoNum type="arabicPeriod" startAt="5"/>
            </a:pPr>
            <a:r>
              <a:rPr lang="en-US" sz="2500" b="1" dirty="0">
                <a:solidFill>
                  <a:srgbClr val="007FA3"/>
                </a:solidFill>
              </a:rPr>
              <a:t>Integration testing </a:t>
            </a:r>
            <a:r>
              <a:rPr lang="en-US" sz="2500" dirty="0"/>
              <a:t>– process of bringing together all of the modules that a program comprises for testing purposes. Modules are typically integrated in a top-down, incremental fashion.</a:t>
            </a:r>
            <a:endParaRPr lang="en-US" altLang="en-US" sz="2500" dirty="0"/>
          </a:p>
          <a:p>
            <a:endParaRPr lang="en-US" altLang="en-US" sz="2800" dirty="0"/>
          </a:p>
          <a:p>
            <a:endParaRPr lang="en-US" altLang="en-US" sz="2800" dirty="0"/>
          </a:p>
          <a:p>
            <a:pPr marL="586232" indent="-514350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30751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Seven Different Types of Tests </a:t>
            </a:r>
            <a:r>
              <a:rPr lang="en-US" sz="2000" dirty="0"/>
              <a:t>(4 of 4)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82388" y="1312641"/>
            <a:ext cx="8229600" cy="4767485"/>
          </a:xfrm>
        </p:spPr>
        <p:txBody>
          <a:bodyPr/>
          <a:lstStyle/>
          <a:p>
            <a:r>
              <a:rPr lang="en-US" sz="3000" dirty="0">
                <a:solidFill>
                  <a:schemeClr val="tx1"/>
                </a:solidFill>
              </a:rPr>
              <a:t>Seven types of testing:</a:t>
            </a:r>
          </a:p>
          <a:p>
            <a:pPr marL="1073150" lvl="1" indent="-514350">
              <a:buFont typeface="+mj-lt"/>
              <a:buAutoNum type="arabicPeriod" startAt="6"/>
            </a:pPr>
            <a:r>
              <a:rPr lang="en-US" sz="2600" b="1" dirty="0">
                <a:solidFill>
                  <a:srgbClr val="007FA3"/>
                </a:solidFill>
              </a:rPr>
              <a:t>System testing </a:t>
            </a:r>
            <a:r>
              <a:rPr lang="en-US" sz="2600" dirty="0">
                <a:solidFill>
                  <a:schemeClr val="tx1"/>
                </a:solidFill>
              </a:rPr>
              <a:t>– bringing together </a:t>
            </a:r>
            <a:r>
              <a:rPr lang="en-US" sz="2600" dirty="0"/>
              <a:t>of all of the programs that a system comprises for testing purposes. Programs are typically integrated in a top-down, incremental fashion.</a:t>
            </a:r>
          </a:p>
          <a:p>
            <a:pPr marL="1073150" lvl="1" indent="-514350">
              <a:buFont typeface="+mj-lt"/>
              <a:buAutoNum type="arabicPeriod" startAt="7"/>
            </a:pPr>
            <a:r>
              <a:rPr lang="en-US" sz="2600" b="1" dirty="0">
                <a:solidFill>
                  <a:srgbClr val="007FA3"/>
                </a:solidFill>
              </a:rPr>
              <a:t>Stub testing </a:t>
            </a:r>
            <a:r>
              <a:rPr lang="en-US" sz="2600" dirty="0"/>
              <a:t>– technique used in testing modules, especially where modules are written and tested in a top-down fashion, where a few lines of code are used to substitute for subordinate modules</a:t>
            </a:r>
          </a:p>
          <a:p>
            <a:pPr marL="1073150" lvl="1" indent="-514350">
              <a:buFont typeface="+mj-lt"/>
              <a:buAutoNum type="arabicPeriod" startAt="6"/>
            </a:pPr>
            <a:endParaRPr lang="en-US" altLang="en-US" sz="2600" dirty="0"/>
          </a:p>
          <a:p>
            <a:endParaRPr lang="en-US" altLang="en-US" sz="2800" dirty="0"/>
          </a:p>
          <a:p>
            <a:endParaRPr lang="en-US" altLang="en-US" sz="2800" dirty="0"/>
          </a:p>
          <a:p>
            <a:pPr marL="586232" indent="-514350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684363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Testing Process </a:t>
            </a:r>
            <a:r>
              <a:rPr lang="en-US" sz="2000" dirty="0"/>
              <a:t>(1 of 2)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586232" indent="-514350"/>
            <a:r>
              <a:rPr lang="en-US" sz="2800" dirty="0"/>
              <a:t>Two important things to remember when testing information systems:</a:t>
            </a:r>
          </a:p>
          <a:p>
            <a:pPr marL="1073150" lvl="1" indent="-514350">
              <a:buFont typeface="+mj-lt"/>
              <a:buAutoNum type="arabicPeriod"/>
            </a:pPr>
            <a:r>
              <a:rPr lang="en-US" sz="2400" dirty="0"/>
              <a:t>The purpose of testing is to confirm that the system satisfies requirements</a:t>
            </a:r>
          </a:p>
          <a:p>
            <a:pPr marL="1073150" lvl="1" indent="-514350">
              <a:buFont typeface="+mj-lt"/>
              <a:buAutoNum type="arabicPeriod"/>
            </a:pPr>
            <a:r>
              <a:rPr lang="en-US" sz="2400" dirty="0"/>
              <a:t>Testing must be planned</a:t>
            </a:r>
          </a:p>
          <a:p>
            <a:pPr marL="586232" indent="-514350"/>
            <a:r>
              <a:rPr lang="en-US" sz="2400" dirty="0"/>
              <a:t>A test case is a specific scenario of transactions, queries, or navigation paths that represent a typical, critical, or abnormal use of the system</a:t>
            </a:r>
          </a:p>
          <a:p>
            <a:pPr marL="1073150" lvl="1" indent="-514350"/>
            <a:r>
              <a:rPr lang="en-US" sz="2400" dirty="0"/>
              <a:t>Should be repeatable</a:t>
            </a:r>
          </a:p>
          <a:p>
            <a:pPr marL="1073150" lvl="1" indent="-514350"/>
            <a:r>
              <a:rPr lang="en-US" sz="2400" dirty="0"/>
              <a:t>Need to determine if new software work with other existing software</a:t>
            </a:r>
          </a:p>
        </p:txBody>
      </p:sp>
    </p:spTree>
    <p:extLst>
      <p:ext uri="{BB962C8B-B14F-4D97-AF65-F5344CB8AC3E}">
        <p14:creationId xmlns:p14="http://schemas.microsoft.com/office/powerpoint/2010/main" val="39774984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DE8AC-BC6B-48EE-B81D-7812DFD6D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3: Test Case Description Form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D86D26-3BF0-4AC5-9030-CAD614B45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5701553"/>
            <a:ext cx="8229600" cy="367785"/>
          </a:xfrm>
        </p:spPr>
        <p:txBody>
          <a:bodyPr/>
          <a:lstStyle/>
          <a:p>
            <a:r>
              <a:rPr lang="en-US" i="1" dirty="0"/>
              <a:t>(Source: </a:t>
            </a:r>
            <a:r>
              <a:rPr lang="en-US" dirty="0"/>
              <a:t>Adapted from Mosley, 1993)</a:t>
            </a:r>
          </a:p>
        </p:txBody>
      </p:sp>
      <p:pic>
        <p:nvPicPr>
          <p:cNvPr id="6" name="Content Placeholder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BBD0D459-5643-4A66-A48C-3D2C54ADA9C0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3032747" y="1555749"/>
            <a:ext cx="3078506" cy="4090473"/>
          </a:xfrm>
        </p:spPr>
      </p:pic>
    </p:spTree>
    <p:extLst>
      <p:ext uri="{BB962C8B-B14F-4D97-AF65-F5344CB8AC3E}">
        <p14:creationId xmlns:p14="http://schemas.microsoft.com/office/powerpoint/2010/main" val="30017336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D5BD6-445D-4D17-A91D-14CFC1E20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1"/>
            <a:ext cx="8229600" cy="800100"/>
          </a:xfrm>
        </p:spPr>
        <p:txBody>
          <a:bodyPr/>
          <a:lstStyle/>
          <a:p>
            <a:r>
              <a:rPr lang="en-US" dirty="0"/>
              <a:t>Figure 4: Test Case Results Form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ED548B-B21C-4278-9FD5-C833A54F3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5620871"/>
            <a:ext cx="8229600" cy="448467"/>
          </a:xfrm>
        </p:spPr>
        <p:txBody>
          <a:bodyPr/>
          <a:lstStyle/>
          <a:p>
            <a:r>
              <a:rPr lang="en-US" i="1" dirty="0"/>
              <a:t>(Source: </a:t>
            </a:r>
            <a:r>
              <a:rPr lang="en-US" dirty="0"/>
              <a:t>Adapted from Mosley, 1993)</a:t>
            </a:r>
          </a:p>
        </p:txBody>
      </p:sp>
      <p:pic>
        <p:nvPicPr>
          <p:cNvPr id="6" name="Content Placeholder 5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03FEE38C-747A-4081-B448-BF9CA14C7E72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3058166" y="1555749"/>
            <a:ext cx="3027667" cy="4065121"/>
          </a:xfrm>
        </p:spPr>
      </p:pic>
    </p:spTree>
    <p:extLst>
      <p:ext uri="{BB962C8B-B14F-4D97-AF65-F5344CB8AC3E}">
        <p14:creationId xmlns:p14="http://schemas.microsoft.com/office/powerpoint/2010/main" val="4353004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Testing Process </a:t>
            </a:r>
            <a:r>
              <a:rPr lang="en-US" sz="2000" dirty="0"/>
              <a:t>(2 of 2)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z="2800" dirty="0"/>
              <a:t>Testing harness – automated testing environment used to review code for errors, standards violations, and other design flaws</a:t>
            </a:r>
          </a:p>
          <a:p>
            <a:pPr lvl="1"/>
            <a:r>
              <a:rPr lang="en-US" sz="2400" dirty="0"/>
              <a:t>Greatly enhances the testing process because it can automatically expand the scope of the tests beyond the current development platform</a:t>
            </a:r>
          </a:p>
        </p:txBody>
      </p:sp>
    </p:spTree>
    <p:extLst>
      <p:ext uri="{BB962C8B-B14F-4D97-AF65-F5344CB8AC3E}">
        <p14:creationId xmlns:p14="http://schemas.microsoft.com/office/powerpoint/2010/main" val="8755869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Acceptance Testing by Users </a:t>
            </a:r>
            <a:r>
              <a:rPr lang="en-US" sz="2000" dirty="0"/>
              <a:t>(1 of 2)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007FA3"/>
                </a:solidFill>
              </a:rPr>
              <a:t>Acceptance testing </a:t>
            </a:r>
            <a:r>
              <a:rPr lang="en-US" sz="2800" dirty="0"/>
              <a:t>– process whereby actual users test a completed information system, the end result of which is the users’ acceptance of it</a:t>
            </a:r>
          </a:p>
          <a:p>
            <a:r>
              <a:rPr lang="en-US" sz="2800" b="1" dirty="0">
                <a:solidFill>
                  <a:srgbClr val="007FA3"/>
                </a:solidFill>
              </a:rPr>
              <a:t>Alpha testing </a:t>
            </a:r>
            <a:r>
              <a:rPr lang="en-US" sz="2800" dirty="0">
                <a:solidFill>
                  <a:schemeClr val="tx1"/>
                </a:solidFill>
              </a:rPr>
              <a:t>–</a:t>
            </a:r>
            <a:r>
              <a:rPr lang="en-US" sz="2800" b="1" dirty="0">
                <a:solidFill>
                  <a:srgbClr val="007FA3"/>
                </a:solidFill>
              </a:rPr>
              <a:t> </a:t>
            </a:r>
            <a:r>
              <a:rPr lang="en-US" sz="2800" dirty="0"/>
              <a:t>user testing of a completed information system using simulated data</a:t>
            </a:r>
          </a:p>
          <a:p>
            <a:r>
              <a:rPr lang="en-US" sz="2800" b="1" dirty="0">
                <a:solidFill>
                  <a:srgbClr val="007FA3"/>
                </a:solidFill>
              </a:rPr>
              <a:t>Beta testing </a:t>
            </a:r>
            <a:r>
              <a:rPr lang="en-US" sz="2800" dirty="0">
                <a:solidFill>
                  <a:schemeClr val="tx1"/>
                </a:solidFill>
              </a:rPr>
              <a:t>–</a:t>
            </a:r>
            <a:r>
              <a:rPr lang="en-US" sz="2800" b="1" dirty="0">
                <a:solidFill>
                  <a:srgbClr val="007FA3"/>
                </a:solidFill>
              </a:rPr>
              <a:t> </a:t>
            </a:r>
            <a:r>
              <a:rPr lang="en-US" sz="2800" dirty="0"/>
              <a:t>user testing of a completed information system using real data in the real user environment</a:t>
            </a:r>
          </a:p>
        </p:txBody>
      </p:sp>
    </p:spTree>
    <p:extLst>
      <p:ext uri="{BB962C8B-B14F-4D97-AF65-F5344CB8AC3E}">
        <p14:creationId xmlns:p14="http://schemas.microsoft.com/office/powerpoint/2010/main" val="1836970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Installation</a:t>
            </a:r>
            <a:endParaRPr lang="en-US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9258"/>
            <a:ext cx="8229600" cy="4686906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</a:pPr>
            <a:r>
              <a:rPr lang="en-US" altLang="en-US" sz="2800" b="1" dirty="0">
                <a:solidFill>
                  <a:srgbClr val="007FA3"/>
                </a:solidFill>
              </a:rPr>
              <a:t>Installation</a:t>
            </a:r>
            <a:r>
              <a:rPr lang="en-US" altLang="en-US" sz="2800" b="1" dirty="0"/>
              <a:t> </a:t>
            </a:r>
            <a:r>
              <a:rPr lang="en-US" altLang="en-US" sz="2800" dirty="0"/>
              <a:t>– organizational process of changing over from the current information system to a new one</a:t>
            </a:r>
          </a:p>
          <a:p>
            <a:pPr marL="609600" indent="-609600" eaLnBrk="1" hangingPunct="1">
              <a:lnSpc>
                <a:spcPct val="90000"/>
              </a:lnSpc>
            </a:pPr>
            <a:r>
              <a:rPr lang="en-US" altLang="en-US" sz="2800" dirty="0"/>
              <a:t>Four installation strategies:</a:t>
            </a:r>
          </a:p>
          <a:p>
            <a:pPr marL="990600" lvl="1" indent="-533400" eaLnBrk="1" hangingPunct="1">
              <a:lnSpc>
                <a:spcPct val="90000"/>
              </a:lnSpc>
            </a:pPr>
            <a:r>
              <a:rPr lang="en-US" altLang="en-US" sz="2800" dirty="0"/>
              <a:t>Direct installation</a:t>
            </a:r>
          </a:p>
          <a:p>
            <a:pPr marL="990600" lvl="1" indent="-533400" eaLnBrk="1" hangingPunct="1">
              <a:lnSpc>
                <a:spcPct val="90000"/>
              </a:lnSpc>
            </a:pPr>
            <a:r>
              <a:rPr lang="en-US" altLang="en-US" sz="2800" dirty="0"/>
              <a:t>Parallel installation</a:t>
            </a:r>
          </a:p>
          <a:p>
            <a:pPr marL="990600" lvl="1" indent="-533400" eaLnBrk="1" hangingPunct="1">
              <a:lnSpc>
                <a:spcPct val="90000"/>
              </a:lnSpc>
            </a:pPr>
            <a:r>
              <a:rPr lang="en-US" altLang="en-US" sz="2800" dirty="0"/>
              <a:t>Single-location installation</a:t>
            </a:r>
          </a:p>
          <a:p>
            <a:pPr marL="990600" lvl="1" indent="-533400" eaLnBrk="1" hangingPunct="1">
              <a:lnSpc>
                <a:spcPct val="90000"/>
              </a:lnSpc>
            </a:pPr>
            <a:r>
              <a:rPr lang="en-US" altLang="en-US" sz="2800" dirty="0"/>
              <a:t>Phased installation</a:t>
            </a:r>
          </a:p>
          <a:p>
            <a:pPr marL="586232" indent="-514350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191804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5371"/>
            <a:ext cx="8229600" cy="622828"/>
          </a:xfrm>
        </p:spPr>
        <p:txBody>
          <a:bodyPr/>
          <a:lstStyle/>
          <a:p>
            <a:r>
              <a:rPr lang="en-US" dirty="0"/>
              <a:t>Installation</a:t>
            </a:r>
            <a:endParaRPr lang="en-US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9258"/>
            <a:ext cx="8229600" cy="4686906"/>
          </a:xfrm>
        </p:spPr>
        <p:txBody>
          <a:bodyPr/>
          <a:lstStyle/>
          <a:p>
            <a:r>
              <a:rPr lang="en-US" sz="2800" b="1" dirty="0">
                <a:solidFill>
                  <a:srgbClr val="007FA3"/>
                </a:solidFill>
              </a:rPr>
              <a:t>Direct installation </a:t>
            </a:r>
            <a:r>
              <a:rPr lang="en-US" sz="2800" dirty="0"/>
              <a:t>– changing over from the old information system to a new one by turning off the old system when the new one is turned on</a:t>
            </a:r>
          </a:p>
          <a:p>
            <a:pPr lvl="1"/>
            <a:r>
              <a:rPr lang="en-US" sz="2800" dirty="0"/>
              <a:t>Users at the mercy of the new system</a:t>
            </a:r>
          </a:p>
          <a:p>
            <a:pPr lvl="1"/>
            <a:r>
              <a:rPr lang="en-US" sz="2800" dirty="0"/>
              <a:t>Very risky installation</a:t>
            </a:r>
          </a:p>
          <a:p>
            <a:pPr lvl="1"/>
            <a:r>
              <a:rPr lang="en-US" sz="2800" dirty="0"/>
              <a:t>Least expensive installation</a:t>
            </a:r>
          </a:p>
        </p:txBody>
      </p:sp>
    </p:spTree>
    <p:extLst>
      <p:ext uri="{BB962C8B-B14F-4D97-AF65-F5344CB8AC3E}">
        <p14:creationId xmlns:p14="http://schemas.microsoft.com/office/powerpoint/2010/main" val="8795696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BB9BA-C975-4048-B4AB-BC5E288C2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95835"/>
            <a:ext cx="8229600" cy="1082489"/>
          </a:xfrm>
        </p:spPr>
        <p:txBody>
          <a:bodyPr/>
          <a:lstStyle/>
          <a:p>
            <a:r>
              <a:rPr lang="en-US" sz="3400" dirty="0"/>
              <a:t>Figure 5: Comparison of Installation Strategies (a) Direct Installation</a:t>
            </a:r>
          </a:p>
        </p:txBody>
      </p:sp>
      <p:pic>
        <p:nvPicPr>
          <p:cNvPr id="6" name="Content Placeholder 5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F11B9F38-68A7-4EF6-9905-74EE7267396D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793678" y="1693863"/>
            <a:ext cx="7556643" cy="3254375"/>
          </a:xfr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2614D79-D500-4E99-B6D4-41C5A3BCD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5517660"/>
            <a:ext cx="8229600" cy="367785"/>
          </a:xfrm>
        </p:spPr>
        <p:txBody>
          <a:bodyPr/>
          <a:lstStyle/>
          <a:p>
            <a:r>
              <a:rPr lang="en-US" i="1" dirty="0"/>
              <a:t>(Source: </a:t>
            </a:r>
            <a:r>
              <a:rPr lang="en-US" dirty="0"/>
              <a:t>Adapted from Bell and Evans, 1989)</a:t>
            </a:r>
          </a:p>
        </p:txBody>
      </p:sp>
    </p:spTree>
    <p:extLst>
      <p:ext uri="{BB962C8B-B14F-4D97-AF65-F5344CB8AC3E}">
        <p14:creationId xmlns:p14="http://schemas.microsoft.com/office/powerpoint/2010/main" val="26013588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5371"/>
            <a:ext cx="8229600" cy="622828"/>
          </a:xfrm>
        </p:spPr>
        <p:txBody>
          <a:bodyPr/>
          <a:lstStyle/>
          <a:p>
            <a:r>
              <a:rPr lang="en-US" dirty="0"/>
              <a:t>Installation </a:t>
            </a:r>
            <a:r>
              <a:rPr lang="en-US" sz="2000" dirty="0"/>
              <a:t>(3 of 9)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9258"/>
            <a:ext cx="8229600" cy="4686906"/>
          </a:xfrm>
        </p:spPr>
        <p:txBody>
          <a:bodyPr/>
          <a:lstStyle/>
          <a:p>
            <a:r>
              <a:rPr lang="en-US" sz="2800" b="1" dirty="0">
                <a:solidFill>
                  <a:srgbClr val="007FA3"/>
                </a:solidFill>
              </a:rPr>
              <a:t>Parallel installation </a:t>
            </a:r>
            <a:r>
              <a:rPr lang="en-US" sz="2800" dirty="0"/>
              <a:t>– running the old information system and the new one at the same time until management decides the old system can be turned off</a:t>
            </a:r>
          </a:p>
          <a:p>
            <a:pPr lvl="1"/>
            <a:r>
              <a:rPr lang="en-US" sz="2800" dirty="0"/>
              <a:t>Safest approach but very expensive</a:t>
            </a:r>
          </a:p>
          <a:p>
            <a:pPr lvl="1"/>
            <a:r>
              <a:rPr lang="en-US" sz="2800" dirty="0"/>
              <a:t>Outputs are compared with each system</a:t>
            </a:r>
          </a:p>
        </p:txBody>
      </p:sp>
    </p:spTree>
    <p:extLst>
      <p:ext uri="{BB962C8B-B14F-4D97-AF65-F5344CB8AC3E}">
        <p14:creationId xmlns:p14="http://schemas.microsoft.com/office/powerpoint/2010/main" val="17148159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8F715-C0EA-428D-9378-C67778CF4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dirty="0"/>
              <a:t>Figure 5: Comparison of Installation Strategies (b) Parallel Installation</a:t>
            </a:r>
          </a:p>
        </p:txBody>
      </p:sp>
      <p:pic>
        <p:nvPicPr>
          <p:cNvPr id="6" name="Content Placeholder 5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1701D260-E46F-4905-90E9-584195F96DE2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633329" y="1555750"/>
            <a:ext cx="7877341" cy="3392488"/>
          </a:xfr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7A0AB0E-EB3C-48D4-8F68-AA66DEFD6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5517660"/>
            <a:ext cx="8229600" cy="367785"/>
          </a:xfrm>
        </p:spPr>
        <p:txBody>
          <a:bodyPr/>
          <a:lstStyle/>
          <a:p>
            <a:r>
              <a:rPr lang="en-US" i="1" dirty="0"/>
              <a:t>(Source: </a:t>
            </a:r>
            <a:r>
              <a:rPr lang="en-US" dirty="0"/>
              <a:t>Adapted from Bell and Evans, 1989)</a:t>
            </a:r>
          </a:p>
        </p:txBody>
      </p:sp>
    </p:spTree>
    <p:extLst>
      <p:ext uri="{BB962C8B-B14F-4D97-AF65-F5344CB8AC3E}">
        <p14:creationId xmlns:p14="http://schemas.microsoft.com/office/powerpoint/2010/main" val="41973868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5371"/>
            <a:ext cx="8229600" cy="622828"/>
          </a:xfrm>
        </p:spPr>
        <p:txBody>
          <a:bodyPr/>
          <a:lstStyle/>
          <a:p>
            <a:r>
              <a:rPr lang="en-US" dirty="0"/>
              <a:t>Installation</a:t>
            </a:r>
            <a:endParaRPr lang="en-US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B47EAB-FC10-47F5-9725-84EB9C4D9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816429"/>
            <a:ext cx="8229600" cy="622828"/>
          </a:xfrm>
        </p:spPr>
        <p:txBody>
          <a:bodyPr/>
          <a:lstStyle/>
          <a:p>
            <a:r>
              <a:rPr lang="en-US" b="1" dirty="0"/>
              <a:t>13.3</a:t>
            </a:r>
            <a:r>
              <a:rPr lang="en-US" dirty="0"/>
              <a:t> Apply four installation strategies: direct, parallel, single-location, and phased installation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9258"/>
            <a:ext cx="8229600" cy="4686906"/>
          </a:xfrm>
        </p:spPr>
        <p:txBody>
          <a:bodyPr/>
          <a:lstStyle/>
          <a:p>
            <a:r>
              <a:rPr lang="en-US" sz="2800" b="1" dirty="0">
                <a:solidFill>
                  <a:srgbClr val="007FA3"/>
                </a:solidFill>
              </a:rPr>
              <a:t>Single-location installation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dirty="0">
                <a:solidFill>
                  <a:schemeClr val="tx1"/>
                </a:solidFill>
              </a:rPr>
              <a:t>– trying </a:t>
            </a:r>
            <a:r>
              <a:rPr lang="en-US" sz="2800" dirty="0"/>
              <a:t>out a new  information system at one site and using the experience to decide if and how the new system should be deployed throughout the organization</a:t>
            </a:r>
          </a:p>
          <a:p>
            <a:pPr lvl="1"/>
            <a:r>
              <a:rPr lang="en-US" sz="2800" dirty="0"/>
              <a:t>Considered a middle-or-the-road approach</a:t>
            </a:r>
          </a:p>
          <a:p>
            <a:pPr lvl="1"/>
            <a:r>
              <a:rPr lang="en-US" sz="2800" dirty="0"/>
              <a:t>Usually a branch office or one department</a:t>
            </a:r>
          </a:p>
          <a:p>
            <a:pPr lvl="1"/>
            <a:r>
              <a:rPr lang="en-US" sz="2800" dirty="0"/>
              <a:t>Once successful then rolled out to entire company</a:t>
            </a:r>
          </a:p>
          <a:p>
            <a:pPr lvl="1"/>
            <a:r>
              <a:rPr lang="en-US" sz="2800" dirty="0"/>
              <a:t>Results in extra work for staff</a:t>
            </a:r>
          </a:p>
          <a:p>
            <a:pPr lvl="1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871999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CAC28-2D96-4809-A96F-1F1FA24F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210235"/>
          </a:xfrm>
        </p:spPr>
        <p:txBody>
          <a:bodyPr/>
          <a:lstStyle/>
          <a:p>
            <a:r>
              <a:rPr lang="en-US" sz="2400" dirty="0"/>
              <a:t>Figure 5: Comparison of Installation Strategies (c) Single-Location Installation (with Direct Installation at Each Location)</a:t>
            </a:r>
          </a:p>
        </p:txBody>
      </p:sp>
      <p:pic>
        <p:nvPicPr>
          <p:cNvPr id="6" name="Content Placeholder 5" descr="A picture containing screenshot&#10;&#10;Description automatically generated">
            <a:extLst>
              <a:ext uri="{FF2B5EF4-FFF2-40B4-BE49-F238E27FC236}">
                <a16:creationId xmlns:a16="http://schemas.microsoft.com/office/drawing/2014/main" id="{E21DBF81-51AF-4450-A887-A34455C43109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1351389" y="1438275"/>
            <a:ext cx="6441222" cy="3509963"/>
          </a:xfr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F6EB264-FB34-4095-B2F1-6E4FE5ACD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5517660"/>
            <a:ext cx="8229600" cy="367785"/>
          </a:xfrm>
        </p:spPr>
        <p:txBody>
          <a:bodyPr/>
          <a:lstStyle/>
          <a:p>
            <a:r>
              <a:rPr lang="en-US" i="1" dirty="0"/>
              <a:t>(Source: </a:t>
            </a:r>
            <a:r>
              <a:rPr lang="en-US" dirty="0"/>
              <a:t>Adapted from Bell and Evans, 1989)</a:t>
            </a:r>
          </a:p>
        </p:txBody>
      </p:sp>
    </p:spTree>
    <p:extLst>
      <p:ext uri="{BB962C8B-B14F-4D97-AF65-F5344CB8AC3E}">
        <p14:creationId xmlns:p14="http://schemas.microsoft.com/office/powerpoint/2010/main" val="39721115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5371"/>
            <a:ext cx="8229600" cy="622828"/>
          </a:xfrm>
        </p:spPr>
        <p:txBody>
          <a:bodyPr/>
          <a:lstStyle/>
          <a:p>
            <a:r>
              <a:rPr lang="en-US" dirty="0"/>
              <a:t>Installation</a:t>
            </a:r>
            <a:endParaRPr lang="en-US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9258"/>
            <a:ext cx="8229600" cy="4686906"/>
          </a:xfrm>
        </p:spPr>
        <p:txBody>
          <a:bodyPr/>
          <a:lstStyle/>
          <a:p>
            <a:r>
              <a:rPr lang="en-US" sz="2800" b="1" dirty="0">
                <a:solidFill>
                  <a:srgbClr val="007FA3"/>
                </a:solidFill>
              </a:rPr>
              <a:t>Phased installation </a:t>
            </a:r>
            <a:r>
              <a:rPr lang="en-US" sz="2800" dirty="0">
                <a:solidFill>
                  <a:schemeClr val="tx1"/>
                </a:solidFill>
              </a:rPr>
              <a:t>– c</a:t>
            </a:r>
            <a:r>
              <a:rPr lang="en-US" sz="2800" dirty="0"/>
              <a:t>hanging from the old information system to the new one incrementally, starting with one or a few functional components and then gradually extending the installation to cover the whole new system</a:t>
            </a:r>
          </a:p>
          <a:p>
            <a:pPr lvl="1"/>
            <a:r>
              <a:rPr lang="en-US" sz="2800" dirty="0"/>
              <a:t>An incremental approach (also called staged)</a:t>
            </a:r>
          </a:p>
          <a:p>
            <a:pPr lvl="1"/>
            <a:r>
              <a:rPr lang="en-US" sz="2800" dirty="0"/>
              <a:t>Usually implemented in a sequence approach</a:t>
            </a:r>
          </a:p>
          <a:p>
            <a:pPr lvl="1"/>
            <a:r>
              <a:rPr lang="en-US" sz="2800" dirty="0"/>
              <a:t>Requires careful version control</a:t>
            </a:r>
          </a:p>
          <a:p>
            <a:pPr lvl="1"/>
            <a:endParaRPr lang="en-US" sz="28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4196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A93A2-F73E-4477-8C6A-703F01A87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dirty="0"/>
              <a:t>Figure 5: Comparison of Installation Strategies (d) Phased Installation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6ECDC3-D732-4858-A3A7-E30D9F9E2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5701553"/>
            <a:ext cx="8229600" cy="367785"/>
          </a:xfrm>
        </p:spPr>
        <p:txBody>
          <a:bodyPr/>
          <a:lstStyle/>
          <a:p>
            <a:r>
              <a:rPr lang="en-US" i="1" dirty="0"/>
              <a:t>(Source: </a:t>
            </a:r>
            <a:r>
              <a:rPr lang="en-US" dirty="0"/>
              <a:t>Adapted from Bell and Evans, 1989)</a:t>
            </a:r>
          </a:p>
        </p:txBody>
      </p:sp>
      <p:pic>
        <p:nvPicPr>
          <p:cNvPr id="6" name="Content Placeholder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8F445BA5-4573-4692-A2A7-593C85516FB5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457200" y="1680815"/>
            <a:ext cx="8229600" cy="3142357"/>
          </a:xfrm>
        </p:spPr>
      </p:pic>
    </p:spTree>
    <p:extLst>
      <p:ext uri="{BB962C8B-B14F-4D97-AF65-F5344CB8AC3E}">
        <p14:creationId xmlns:p14="http://schemas.microsoft.com/office/powerpoint/2010/main" val="37239926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 Installation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B47EAB-FC10-47F5-9725-84EB9C4D9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816429"/>
            <a:ext cx="8229600" cy="622828"/>
          </a:xfrm>
        </p:spPr>
        <p:txBody>
          <a:bodyPr/>
          <a:lstStyle/>
          <a:p>
            <a:r>
              <a:rPr lang="en-US" b="1" dirty="0"/>
              <a:t>13.3</a:t>
            </a:r>
            <a:r>
              <a:rPr lang="en-US" dirty="0"/>
              <a:t> Apply four installation strategies: direct, parallel, single-location, and phased installation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9258"/>
            <a:ext cx="8229600" cy="4686906"/>
          </a:xfrm>
        </p:spPr>
        <p:txBody>
          <a:bodyPr/>
          <a:lstStyle/>
          <a:p>
            <a:pPr marL="586232" indent="-514350"/>
            <a:r>
              <a:rPr lang="en-US" sz="2800" dirty="0"/>
              <a:t>Of special interest during installation is the conversion of data</a:t>
            </a:r>
          </a:p>
          <a:p>
            <a:pPr marL="1073150" lvl="1" indent="-514350"/>
            <a:r>
              <a:rPr lang="en-US" sz="2800" dirty="0"/>
              <a:t>Must be error free, combined with new data and loaded into files</a:t>
            </a:r>
          </a:p>
          <a:p>
            <a:pPr marL="1073150" lvl="1" indent="-514350"/>
            <a:r>
              <a:rPr lang="en-US" sz="2800" dirty="0"/>
              <a:t>May require current systems to be shut down</a:t>
            </a:r>
          </a:p>
          <a:p>
            <a:pPr marL="1073150" lvl="1" indent="-514350"/>
            <a:r>
              <a:rPr lang="en-US" sz="2800" dirty="0"/>
              <a:t>Involves getting people to change the way they work</a:t>
            </a:r>
          </a:p>
          <a:p>
            <a:pPr marL="1073150" lvl="1" indent="-514350"/>
            <a:endParaRPr lang="en-US" sz="2800" dirty="0"/>
          </a:p>
          <a:p>
            <a:pPr marL="1073150" lvl="1" indent="-514350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572398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Documenting the System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9258"/>
            <a:ext cx="8229600" cy="4686906"/>
          </a:xfrm>
        </p:spPr>
        <p:txBody>
          <a:bodyPr/>
          <a:lstStyle/>
          <a:p>
            <a:r>
              <a:rPr lang="en-US" sz="2800" b="1" dirty="0">
                <a:solidFill>
                  <a:srgbClr val="007FA3"/>
                </a:solidFill>
              </a:rPr>
              <a:t>System documentation </a:t>
            </a:r>
            <a:r>
              <a:rPr lang="en-US" sz="2800" b="1" dirty="0">
                <a:solidFill>
                  <a:schemeClr val="tx1"/>
                </a:solidFill>
              </a:rPr>
              <a:t>– </a:t>
            </a:r>
            <a:r>
              <a:rPr lang="en-US" sz="2800" dirty="0"/>
              <a:t>detailed information about a system’s design specifications, its internal workings, and its functionality</a:t>
            </a:r>
          </a:p>
          <a:p>
            <a:r>
              <a:rPr lang="en-US" sz="2800" b="1" dirty="0">
                <a:solidFill>
                  <a:srgbClr val="007FA3"/>
                </a:solidFill>
              </a:rPr>
              <a:t>User documentation </a:t>
            </a:r>
            <a:r>
              <a:rPr lang="en-US" sz="2800" b="1" dirty="0">
                <a:solidFill>
                  <a:schemeClr val="tx1"/>
                </a:solidFill>
              </a:rPr>
              <a:t>–</a:t>
            </a:r>
            <a:r>
              <a:rPr lang="en-US" sz="2800" b="1" dirty="0">
                <a:solidFill>
                  <a:srgbClr val="007FA3"/>
                </a:solidFill>
              </a:rPr>
              <a:t> </a:t>
            </a:r>
            <a:r>
              <a:rPr lang="en-US" sz="2800" dirty="0"/>
              <a:t>written or other visual information about an application system, how it works, and how to use it</a:t>
            </a:r>
          </a:p>
        </p:txBody>
      </p:sp>
    </p:spTree>
    <p:extLst>
      <p:ext uri="{BB962C8B-B14F-4D97-AF65-F5344CB8AC3E}">
        <p14:creationId xmlns:p14="http://schemas.microsoft.com/office/powerpoint/2010/main" val="30214125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and Supporting Users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9258"/>
            <a:ext cx="8229600" cy="4686906"/>
          </a:xfrm>
        </p:spPr>
        <p:txBody>
          <a:bodyPr/>
          <a:lstStyle/>
          <a:p>
            <a:r>
              <a:rPr lang="en-US" sz="2800" b="1" dirty="0">
                <a:solidFill>
                  <a:srgbClr val="007FA3"/>
                </a:solidFill>
              </a:rPr>
              <a:t>Support</a:t>
            </a:r>
            <a:r>
              <a:rPr lang="en-US" sz="2800" dirty="0"/>
              <a:t> – providing ongoing educational and problem-solving assistance to information system users. For in-house developed systems, support materials and jobs will have to be prepared or designed as part of the implementation process. </a:t>
            </a:r>
          </a:p>
        </p:txBody>
      </p:sp>
    </p:spTree>
    <p:extLst>
      <p:ext uri="{BB962C8B-B14F-4D97-AF65-F5344CB8AC3E}">
        <p14:creationId xmlns:p14="http://schemas.microsoft.com/office/powerpoint/2010/main" val="33847794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D1982-3D76-40AE-AF4D-58E233A63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7: Types of Training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8F7165-7528-4D1A-B6EA-3B63021CE9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556326"/>
            <a:ext cx="8229600" cy="4454509"/>
          </a:xfrm>
        </p:spPr>
        <p:txBody>
          <a:bodyPr/>
          <a:lstStyle/>
          <a:p>
            <a:r>
              <a:rPr lang="en-US" sz="2800" dirty="0"/>
              <a:t>Resident expert</a:t>
            </a:r>
          </a:p>
          <a:p>
            <a:r>
              <a:rPr lang="en-US" sz="2800" dirty="0"/>
              <a:t>Traditional instructor-led classroom training</a:t>
            </a:r>
          </a:p>
          <a:p>
            <a:r>
              <a:rPr lang="en-US" sz="2800" dirty="0"/>
              <a:t>E-learning/distance learning</a:t>
            </a:r>
          </a:p>
          <a:p>
            <a:r>
              <a:rPr lang="en-US" sz="2800" dirty="0"/>
              <a:t>Blended learning (combination of instructor-led and e-learning)</a:t>
            </a:r>
          </a:p>
          <a:p>
            <a:r>
              <a:rPr lang="en-US" sz="2800" dirty="0"/>
              <a:t>Software help components</a:t>
            </a:r>
          </a:p>
          <a:p>
            <a:r>
              <a:rPr lang="en-US" sz="2800" dirty="0"/>
              <a:t>External sources, such as vendors</a:t>
            </a:r>
          </a:p>
        </p:txBody>
      </p:sp>
    </p:spTree>
    <p:extLst>
      <p:ext uri="{BB962C8B-B14F-4D97-AF65-F5344CB8AC3E}">
        <p14:creationId xmlns:p14="http://schemas.microsoft.com/office/powerpoint/2010/main" val="19400183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Automating Support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9258"/>
            <a:ext cx="8229600" cy="4813624"/>
          </a:xfrm>
        </p:spPr>
        <p:txBody>
          <a:bodyPr/>
          <a:lstStyle/>
          <a:p>
            <a:pPr marL="586232" indent="-514350"/>
            <a:r>
              <a:rPr lang="en-US" sz="2600" dirty="0"/>
              <a:t>Vendor’s have automated support to users in order to cut costs</a:t>
            </a:r>
          </a:p>
          <a:p>
            <a:pPr marL="586232" indent="-514350"/>
            <a:r>
              <a:rPr lang="en-US" sz="2600" dirty="0"/>
              <a:t>Ways vendor’s have automated support:</a:t>
            </a:r>
          </a:p>
          <a:p>
            <a:pPr marL="1073150" lvl="1" indent="-514350"/>
            <a:r>
              <a:rPr lang="en-US" sz="2200" dirty="0"/>
              <a:t>Forums offered over the Internet</a:t>
            </a:r>
          </a:p>
          <a:p>
            <a:pPr marL="1073150" lvl="1" indent="-514350"/>
            <a:r>
              <a:rPr lang="en-US" sz="2200" dirty="0"/>
              <a:t>Voice-response systems allow users to navigate option menus</a:t>
            </a:r>
          </a:p>
          <a:p>
            <a:pPr marL="1073150" lvl="1" indent="-514350"/>
            <a:r>
              <a:rPr lang="en-US" sz="2200" dirty="0"/>
              <a:t>Vendor knowledge bases</a:t>
            </a:r>
          </a:p>
          <a:p>
            <a:pPr marL="586232" indent="-514350"/>
            <a:r>
              <a:rPr lang="en-US" sz="2600" b="1" dirty="0">
                <a:solidFill>
                  <a:srgbClr val="007FA3"/>
                </a:solidFill>
              </a:rPr>
              <a:t>Help desk </a:t>
            </a:r>
            <a:r>
              <a:rPr lang="en-US" sz="2600" dirty="0"/>
              <a:t>– single point of contact for all user inquiries  and problems about a particular information system or for all users in a particular department (non automated)</a:t>
            </a:r>
          </a:p>
          <a:p>
            <a:pPr marL="586232" indent="-514350"/>
            <a:endParaRPr lang="en-US" sz="2800" dirty="0"/>
          </a:p>
          <a:p>
            <a:pPr marL="586232" indent="-514350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07377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3931"/>
            <a:ext cx="8229600" cy="1223464"/>
          </a:xfrm>
        </p:spPr>
        <p:txBody>
          <a:bodyPr/>
          <a:lstStyle/>
          <a:p>
            <a:r>
              <a:rPr lang="en-US" dirty="0"/>
              <a:t>Organizational Issues in Systems Implementation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2032120"/>
            <a:ext cx="8229600" cy="4168588"/>
          </a:xfrm>
        </p:spPr>
        <p:txBody>
          <a:bodyPr/>
          <a:lstStyle/>
          <a:p>
            <a:pPr marL="586232" indent="-514350"/>
            <a:r>
              <a:rPr lang="en-US" sz="2800" dirty="0"/>
              <a:t>Implementation effort sometimes fails because:</a:t>
            </a:r>
          </a:p>
          <a:p>
            <a:pPr marL="1073150" lvl="1" indent="-514350"/>
            <a:r>
              <a:rPr lang="en-US" sz="2400" dirty="0"/>
              <a:t>Employees don’t use the new system</a:t>
            </a:r>
          </a:p>
          <a:p>
            <a:pPr marL="1073150" lvl="1" indent="-514350"/>
            <a:r>
              <a:rPr lang="en-US" sz="2400" dirty="0"/>
              <a:t>Employee dissatisfaction with new system</a:t>
            </a:r>
          </a:p>
          <a:p>
            <a:pPr marL="586232" indent="-514350"/>
            <a:r>
              <a:rPr lang="en-US" sz="2800" dirty="0"/>
              <a:t>Important factors to implementation success include:</a:t>
            </a:r>
          </a:p>
          <a:p>
            <a:pPr marL="1073150" lvl="1" indent="-514350"/>
            <a:r>
              <a:rPr lang="en-US" sz="2400" dirty="0"/>
              <a:t>Commitment to the project</a:t>
            </a:r>
          </a:p>
          <a:p>
            <a:pPr marL="1073150" lvl="1" indent="-514350"/>
            <a:r>
              <a:rPr lang="en-US" sz="2400" dirty="0"/>
              <a:t>Commitment to change (willingness to change behaviors)</a:t>
            </a:r>
          </a:p>
          <a:p>
            <a:pPr marL="1073150" lvl="1" indent="-514350"/>
            <a:r>
              <a:rPr lang="en-US" sz="2400" dirty="0"/>
              <a:t>Meeting user expectations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2548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E9E80-9107-4073-A30A-8C8540C13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9: Implementation success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15A821-2069-49DA-9C9C-B8919454F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5540188"/>
            <a:ext cx="8229600" cy="529150"/>
          </a:xfrm>
        </p:spPr>
        <p:txBody>
          <a:bodyPr/>
          <a:lstStyle/>
          <a:p>
            <a:r>
              <a:rPr lang="en-US" i="1" dirty="0"/>
              <a:t>(Source: </a:t>
            </a:r>
            <a:r>
              <a:rPr lang="en-US" dirty="0"/>
              <a:t>From Lucas, H. C. (1997). </a:t>
            </a:r>
            <a:r>
              <a:rPr lang="en-US" i="1" dirty="0"/>
              <a:t>Information technology for management</a:t>
            </a:r>
            <a:r>
              <a:rPr lang="en-US" dirty="0"/>
              <a:t>. New York: McGraw-Hill. Reprinted by</a:t>
            </a:r>
          </a:p>
          <a:p>
            <a:r>
              <a:rPr lang="en-US" dirty="0"/>
              <a:t>permission.)</a:t>
            </a:r>
          </a:p>
        </p:txBody>
      </p:sp>
      <p:pic>
        <p:nvPicPr>
          <p:cNvPr id="6" name="Content Placeholder 5" descr="A close up of a piece of paper&#10;&#10;Description automatically generated">
            <a:extLst>
              <a:ext uri="{FF2B5EF4-FFF2-40B4-BE49-F238E27FC236}">
                <a16:creationId xmlns:a16="http://schemas.microsoft.com/office/drawing/2014/main" id="{EDE842F0-1E00-43C2-8BCA-7B5214286CC0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1070077" y="1555750"/>
            <a:ext cx="7003846" cy="3392488"/>
          </a:xfrm>
        </p:spPr>
      </p:pic>
    </p:spTree>
    <p:extLst>
      <p:ext uri="{BB962C8B-B14F-4D97-AF65-F5344CB8AC3E}">
        <p14:creationId xmlns:p14="http://schemas.microsoft.com/office/powerpoint/2010/main" val="2398721880"/>
      </p:ext>
    </p:extLst>
  </p:cSld>
  <p:clrMapOvr>
    <a:masterClrMapping/>
  </p:clrMapOvr>
</p:sld>
</file>

<file path=ppt/theme/theme1.xml><?xml version="1.0" encoding="utf-8"?>
<a:theme xmlns:a="http://schemas.openxmlformats.org/drawingml/2006/main" name="1_508 Lecture">
  <a:themeElements>
    <a:clrScheme name="Custom 7">
      <a:dk1>
        <a:srgbClr val="000000"/>
      </a:dk1>
      <a:lt1>
        <a:srgbClr val="FFFFFF"/>
      </a:lt1>
      <a:dk2>
        <a:srgbClr val="000000"/>
      </a:dk2>
      <a:lt2>
        <a:srgbClr val="007FA3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C1D44C1E-9EBB-412A-BA0C-DCE179B6EC19}" vid="{3161DD84-284C-40F7-B4D0-8E6A5EB9A114}"/>
    </a:ext>
  </a:extLst>
</a:theme>
</file>

<file path=ppt/theme/theme2.xml><?xml version="1.0" encoding="utf-8"?>
<a:theme xmlns:a="http://schemas.openxmlformats.org/drawingml/2006/main" name="508 Lecture">
  <a:themeElements>
    <a:clrScheme name="Custom 40">
      <a:dk1>
        <a:srgbClr val="000000"/>
      </a:dk1>
      <a:lt1>
        <a:srgbClr val="FFFFFF"/>
      </a:lt1>
      <a:dk2>
        <a:srgbClr val="000000"/>
      </a:dk2>
      <a:lt2>
        <a:srgbClr val="007FA3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33399"/>
      </a:hlink>
      <a:folHlink>
        <a:srgbClr val="7030A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C1D44C1E-9EBB-412A-BA0C-DCE179B6EC19}" vid="{BFC39A0E-65C1-4534-BBED-7B0D47F25E23}"/>
    </a:ext>
  </a:extLst>
</a:theme>
</file>

<file path=ppt/theme/theme3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ValacichTemplate</Template>
  <TotalTime>1015</TotalTime>
  <Words>1584</Words>
  <Application>Microsoft Office PowerPoint</Application>
  <PresentationFormat>On-screen Show (4:3)</PresentationFormat>
  <Paragraphs>217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Noto Sans Symbols</vt:lpstr>
      <vt:lpstr>Times New Roman</vt:lpstr>
      <vt:lpstr>Verdana</vt:lpstr>
      <vt:lpstr>1_508 Lecture</vt:lpstr>
      <vt:lpstr>508 Lecture</vt:lpstr>
      <vt:lpstr>Week 11</vt:lpstr>
      <vt:lpstr>Figure 1: Systems Development Life Cycle with the Implementation Phase Highlighted</vt:lpstr>
      <vt:lpstr>System Implementation</vt:lpstr>
      <vt:lpstr>Table 1: Deliverables for Coding, Testing, and Installation</vt:lpstr>
      <vt:lpstr>Documenting the System, Training Users, and Supporting Users</vt:lpstr>
      <vt:lpstr>Table 2: Deliverables for Documenting the System, Training and Supporting Users</vt:lpstr>
      <vt:lpstr>Software Application Testing</vt:lpstr>
      <vt:lpstr>Table 3: Table of Contents of a Master Test Plan (1 of 3)</vt:lpstr>
      <vt:lpstr>Table 3: Table of Contents of a Master Test Plan (2 of 3)</vt:lpstr>
      <vt:lpstr>Table 3: Table of Contents of a Master Test Plan (3 of 3)</vt:lpstr>
      <vt:lpstr>Seven Different Types of Tests (1 of 4)</vt:lpstr>
      <vt:lpstr>Table 4: Categorization of Test Types</vt:lpstr>
      <vt:lpstr>Seven Different Types of Tests (2 of 4)</vt:lpstr>
      <vt:lpstr>Figure 2: Steps in a Typical Walk-Through</vt:lpstr>
      <vt:lpstr>Seven Different Types of Tests (3 of 4)</vt:lpstr>
      <vt:lpstr>Seven Different Types of Tests (4 of 4)</vt:lpstr>
      <vt:lpstr>The Testing Process (1 of 2)</vt:lpstr>
      <vt:lpstr>Figure 3: Test Case Description Form</vt:lpstr>
      <vt:lpstr>Figure 4: Test Case Results Form</vt:lpstr>
      <vt:lpstr>The Testing Process (2 of 2)</vt:lpstr>
      <vt:lpstr>Acceptance Testing by Users (1 of 2)</vt:lpstr>
      <vt:lpstr>Installation</vt:lpstr>
      <vt:lpstr>Installation</vt:lpstr>
      <vt:lpstr>Figure 5: Comparison of Installation Strategies (a) Direct Installation</vt:lpstr>
      <vt:lpstr>Installation (3 of 9)</vt:lpstr>
      <vt:lpstr>Figure 5: Comparison of Installation Strategies (b) Parallel Installation</vt:lpstr>
      <vt:lpstr>Installation</vt:lpstr>
      <vt:lpstr>Figure 5: Comparison of Installation Strategies (c) Single-Location Installation (with Direct Installation at Each Location)</vt:lpstr>
      <vt:lpstr>Installation</vt:lpstr>
      <vt:lpstr>Figure 5: Comparison of Installation Strategies (d) Phased Installation</vt:lpstr>
      <vt:lpstr>Planning Installation</vt:lpstr>
      <vt:lpstr>Documenting the System</vt:lpstr>
      <vt:lpstr>Training and Supporting Users</vt:lpstr>
      <vt:lpstr>Table 7: Types of Training</vt:lpstr>
      <vt:lpstr>Automating Support</vt:lpstr>
      <vt:lpstr>Organizational Issues in Systems Implementation</vt:lpstr>
      <vt:lpstr>Figure 9: Implementation success</vt:lpstr>
    </vt:vector>
  </TitlesOfParts>
  <Company>Pearson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 Systems Analysis and Design</dc:title>
  <dc:subject>Psychology</dc:subject>
  <dc:creator>Harold Wise</dc:creator>
  <cp:keywords>Psychology</cp:keywords>
  <cp:lastModifiedBy>NURUL FAZMIDAR BINTI MOHD NOOR</cp:lastModifiedBy>
  <cp:revision>113</cp:revision>
  <dcterms:created xsi:type="dcterms:W3CDTF">2019-01-06T02:09:03Z</dcterms:created>
  <dcterms:modified xsi:type="dcterms:W3CDTF">2022-12-07T07:21:15Z</dcterms:modified>
</cp:coreProperties>
</file>