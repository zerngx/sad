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58" r:id="rId4"/>
    <p:sldId id="265" r:id="rId5"/>
    <p:sldId id="259" r:id="rId6"/>
    <p:sldId id="262" r:id="rId7"/>
    <p:sldId id="260" r:id="rId8"/>
    <p:sldId id="261" r:id="rId9"/>
    <p:sldId id="271" r:id="rId10"/>
    <p:sldId id="274" r:id="rId11"/>
    <p:sldId id="27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0" d="100"/>
          <a:sy n="110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0C3E7-5EB0-BF40-93B3-45CC6552E228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1F064-4BCD-994F-8409-7F27BC7B6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04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1F064-4BCD-994F-8409-7F27BC7B6D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5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575F-E3F3-8CA8-51E3-19C4BBCE0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0192D-51D0-4474-2216-8C2A2B3CE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4D459-0FA3-6959-8E23-33AC4B39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E1DE5-CF18-7BEB-5AED-C5BF15B62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A057A-F272-EC20-B3F6-E8ABD3F9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5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1F2E-6EC4-55C9-FBE3-9C68E820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67830-378C-4AD8-7713-1E2F3F391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22F90-E8FD-3DB1-7A9E-BC24602E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B7AC7-A447-A01A-956F-C9807DD4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1FBF8-4911-75C1-4A44-7CA309E3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5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C2A21-6E61-15A3-5723-CE168664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D426B-EF37-F70A-F3AD-77165EAA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462F-0E7D-9408-02E4-30FA51E51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74A9B-27CF-C10C-BA17-F185A2BC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92436-C223-40DB-94A9-840C17EC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8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0A65-1A51-E088-1AB3-8BB8231EA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96440-A116-53B7-B99C-DBB0465BB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C50CB-BE15-3831-BABD-039DC6EEA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EB2BE-CAA1-794A-07BC-C0B7EAA3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6C78D-818C-5ACF-FC1D-AE2F55F5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9196-2580-CFDD-C485-D10D52BC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2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6D8F-02BC-88CA-B86A-8398F4FE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E71A0-B9D6-D654-A70E-2352DA63B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89141-A510-9760-122A-2168E0F34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9571B-2A5F-8147-6063-BDC6FCB33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36ABF-ABF4-8504-2886-EA4B5D259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5B6EA-6794-EB7E-E95E-C3745BD0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F0956-A606-E9D8-430D-FE2B3FEF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737A3-9520-D3EB-829D-2F06FDB4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0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E49C-FDA5-92E7-BEF8-E4AACB4B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4655C-671D-BAB2-1F69-EA098A81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C63EF-48EF-63D5-A39A-EFAB0354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8A036-D75D-029D-4872-E90D04EF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1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866CB-E379-FF75-6AE2-B09797C2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EB668-1028-2487-61D3-DC65713F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CBCC2-4451-CBEE-6E10-1F2176D0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4111-CD2E-D93B-C625-1B21DD6A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5788-5BA6-93AB-EBCE-5C02AF1E1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7AF2B-2550-4F99-B4F2-571E1A46F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1225D-8101-7B36-CC99-96380022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854C4-1895-73C7-FA2A-10F9EFD3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821B7-95CA-4633-0F32-B2979AA2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35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D495-744D-320C-69CE-7298E2FF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DB4AEF-7EAD-033C-D8E2-751068CC6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B6E00-CBEA-E7E9-14F2-46B7928B4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7EF6A-BB0D-B361-4C05-D70A4E768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1E34D-E677-B253-52C2-B3EB0616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1504E-99D5-535D-98A4-133AEECC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5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CBEA-8828-FE10-7085-9D70584D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97388-BA90-F9A2-0C60-42539A8B4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635ED-7C7B-7CE3-E74C-3E17C7A9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22BF3-2A01-179D-AE20-DEE7DFE2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A2DB4-DEA4-2904-8EC2-160605C5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99D1A0-AAB7-3EA0-F8CB-9D39235F0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C5482-E016-5C61-BBDB-EB663339D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A7F5B-B94F-91A4-F0F6-BCF324D6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4CD68-D30D-A58C-7D67-852D3D67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A51C3-CCA7-7C5A-D746-999239E9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4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9EEAA0-9748-CB22-2444-40C14736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22367-AF62-FFB4-85CF-8993A0FF7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BB6A9-B128-B3A1-C0C8-1C065B219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E78E3-5854-AF47-8D7D-48D7A4FA5A9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A4781-F5AF-4037-06B7-B5D3CF092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D73C1-542E-936A-489F-BDD79A355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ECA07-F69B-1040-9EF9-BE9E762F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9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1812-FC53-41D0-9912-1511B190A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Analysis and Design: What it is and why?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EC0A9-F6F8-F373-E3D3-68840421A6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WIA2006</a:t>
            </a:r>
          </a:p>
        </p:txBody>
      </p:sp>
    </p:spTree>
    <p:extLst>
      <p:ext uri="{BB962C8B-B14F-4D97-AF65-F5344CB8AC3E}">
        <p14:creationId xmlns:p14="http://schemas.microsoft.com/office/powerpoint/2010/main" val="333647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7835-6154-809D-58FF-CAD8A03C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The Reality of Software: Jenga &amp; Urban Archaeology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9E4DB-F40C-F1FE-7BB1-2F74BB8DF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3995"/>
            <a:ext cx="10515600" cy="4641448"/>
          </a:xfrm>
        </p:spPr>
        <p:txBody>
          <a:bodyPr>
            <a:normAutofit fontScale="92500" lnSpcReduction="20000"/>
          </a:bodyPr>
          <a:lstStyle/>
          <a:p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If you have ever worked with existing software, you know </a:t>
            </a:r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legacy code 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s like urban archaeology. 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You are excavating an ancient city built on top of older ancient cities. You find mysterious pipes under the street that no living person has a map of. Cutting one pipe might accidentally turn off water for three city blocks.</a:t>
            </a:r>
          </a:p>
          <a:p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Bug Fixing in Complex Code is like Jenga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. You pull out one tiny block near the bottom because it looked loose, only to watch three completely unrelated systems at the top wobble and collapse.</a:t>
            </a:r>
          </a:p>
          <a:p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System Analysis and Design is the discipline that prevents your software from turning into a fragile game of Jenga or an unmapped archaeological mess.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69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6420-9C59-B3E9-A672-4A03E690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System Analysis and Design (SAD)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F3C91-E7EE-986C-AEE4-07AF81C53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MY" sz="3600" b="1" dirty="0">
                <a:latin typeface="Calibri" panose="020F0502020204030204" pitchFamily="34" charset="0"/>
                <a:cs typeface="Calibri" panose="020F0502020204030204" pitchFamily="34" charset="0"/>
              </a:rPr>
              <a:t>SAD</a:t>
            </a:r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 bridges the messy, real-world problems of humans with the precise, structured logic of computers.  </a:t>
            </a:r>
          </a:p>
          <a:p>
            <a:pPr marL="0" indent="0">
              <a:buNone/>
            </a:pPr>
            <a:endParaRPr lang="en-MY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It provides the blueprint, planning, and architectural foundation of the software world.</a:t>
            </a:r>
          </a:p>
          <a:p>
            <a:pPr marL="0" indent="0">
              <a:buNone/>
            </a:pPr>
            <a:endParaRPr lang="en-MY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MY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10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D775D-451A-9B48-0454-BAA3BD394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096" y="763929"/>
            <a:ext cx="10515600" cy="50426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Undoubtedly, throughout your degree, you have spent a lot of time learning how to code. However, the ability to code alone does not build complex, reliable software systems.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MY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MY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This course asks you to step back and master two distinct mental gears that must happen </a:t>
            </a:r>
            <a:r>
              <a:rPr lang="en-MY" sz="3600" i="1" dirty="0">
                <a:latin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MY" sz="3600" i="1" dirty="0">
                <a:latin typeface="Calibri" panose="020F0502020204030204" pitchFamily="34" charset="0"/>
                <a:cs typeface="Calibri" panose="020F0502020204030204" pitchFamily="34" charset="0"/>
              </a:rPr>
              <a:t>around</a:t>
            </a:r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 the code: </a:t>
            </a:r>
            <a:r>
              <a:rPr lang="en-MY" sz="3600" b="1" dirty="0">
                <a:latin typeface="Calibri" panose="020F0502020204030204" pitchFamily="34" charset="0"/>
                <a:cs typeface="Calibri" panose="020F0502020204030204" pitchFamily="34" charset="0"/>
              </a:rPr>
              <a:t>System Analysis (Understanding the </a:t>
            </a:r>
            <a:r>
              <a:rPr lang="en-MY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MY" sz="3600" b="1" dirty="0">
                <a:latin typeface="Calibri" panose="020F0502020204030204" pitchFamily="34" charset="0"/>
                <a:cs typeface="Calibri" panose="020F0502020204030204" pitchFamily="34" charset="0"/>
              </a:rPr>
              <a:t>) &amp; System Design (Planning the </a:t>
            </a:r>
            <a:r>
              <a:rPr lang="en-MY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en-MY" sz="36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MY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MY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34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5445B-492E-AAE0-3380-505D26EB2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434"/>
            <a:ext cx="10515600" cy="6111433"/>
          </a:xfrm>
        </p:spPr>
        <p:txBody>
          <a:bodyPr>
            <a:normAutofit/>
          </a:bodyPr>
          <a:lstStyle/>
          <a:p>
            <a:pPr lvl="0"/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System Analysis (Understanding the </a:t>
            </a:r>
            <a:r>
              <a:rPr lang="en-MY" b="1" i="1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lvl="0" indent="0">
              <a:buNone/>
            </a:pPr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MY" sz="2800" dirty="0">
                <a:latin typeface="Calibri" panose="020F0502020204030204" pitchFamily="34" charset="0"/>
                <a:cs typeface="Calibri" panose="020F0502020204030204" pitchFamily="34" charset="0"/>
              </a:rPr>
              <a:t>Think of yourself as a master detective or an investigative doctor. </a:t>
            </a:r>
          </a:p>
          <a:p>
            <a:pPr lvl="1"/>
            <a:r>
              <a:rPr lang="en-MY" sz="2800" dirty="0">
                <a:latin typeface="Calibri" panose="020F0502020204030204" pitchFamily="34" charset="0"/>
                <a:cs typeface="Calibri" panose="020F0502020204030204" pitchFamily="34" charset="0"/>
              </a:rPr>
              <a:t>Before writing a single line of logic, you must diagnose the real problem. </a:t>
            </a:r>
          </a:p>
          <a:p>
            <a:pPr lvl="1"/>
            <a:r>
              <a:rPr lang="en-MY" sz="2800" dirty="0">
                <a:latin typeface="Calibri" panose="020F0502020204030204" pitchFamily="34" charset="0"/>
                <a:cs typeface="Calibri" panose="020F0502020204030204" pitchFamily="34" charset="0"/>
              </a:rPr>
              <a:t>You interview stakeholders, map existing workflows, identify bottlenecks, and define precise requirements. </a:t>
            </a:r>
          </a:p>
          <a:p>
            <a:pPr lvl="1"/>
            <a:endParaRPr lang="en-MY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MY" sz="2800" dirty="0">
                <a:latin typeface="Calibri" panose="020F0502020204030204" pitchFamily="34" charset="0"/>
                <a:cs typeface="Calibri" panose="020F0502020204030204" pitchFamily="34" charset="0"/>
              </a:rPr>
              <a:t>Analysis asks: </a:t>
            </a:r>
          </a:p>
          <a:p>
            <a:pPr lvl="2"/>
            <a:r>
              <a:rPr lang="en-MY" sz="2800" i="1" dirty="0">
                <a:latin typeface="Calibri" panose="020F0502020204030204" pitchFamily="34" charset="0"/>
                <a:cs typeface="Calibri" panose="020F0502020204030204" pitchFamily="34" charset="0"/>
              </a:rPr>
              <a:t>What problem are we actually solving, and what must the software do to solve it?</a:t>
            </a:r>
            <a:endParaRPr lang="en-MY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97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5C6D2-2A33-2E37-FCEB-2D0405B8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E6E61-FA8D-2A26-A26C-18540801E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434"/>
            <a:ext cx="10515600" cy="6111433"/>
          </a:xfrm>
        </p:spPr>
        <p:txBody>
          <a:bodyPr>
            <a:normAutofit/>
          </a:bodyPr>
          <a:lstStyle/>
          <a:p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System Design (Planning the </a:t>
            </a:r>
            <a:r>
              <a:rPr lang="en-MY" b="1" i="1" dirty="0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MY" sz="2800" dirty="0">
                <a:latin typeface="Calibri" panose="020F0502020204030204" pitchFamily="34" charset="0"/>
                <a:cs typeface="Calibri" panose="020F0502020204030204" pitchFamily="34" charset="0"/>
              </a:rPr>
              <a:t>Now you switch hats to become the architect. </a:t>
            </a:r>
          </a:p>
          <a:p>
            <a:pPr lvl="1"/>
            <a:r>
              <a:rPr lang="en-MY" sz="2800" dirty="0">
                <a:latin typeface="Calibri" panose="020F0502020204030204" pitchFamily="34" charset="0"/>
                <a:cs typeface="Calibri" panose="020F0502020204030204" pitchFamily="34" charset="0"/>
              </a:rPr>
              <a:t>You design data flow diagrams, database schemas, user interface journeys, and system architectures. </a:t>
            </a:r>
          </a:p>
          <a:p>
            <a:pPr lvl="1"/>
            <a:endParaRPr lang="en-MY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MY" sz="2800" dirty="0">
                <a:latin typeface="Calibri" panose="020F0502020204030204" pitchFamily="34" charset="0"/>
                <a:cs typeface="Calibri" panose="020F0502020204030204" pitchFamily="34" charset="0"/>
              </a:rPr>
              <a:t>Design asks: </a:t>
            </a:r>
          </a:p>
          <a:p>
            <a:pPr lvl="2"/>
            <a:r>
              <a:rPr lang="en-MY" sz="2800" i="1" dirty="0">
                <a:latin typeface="Calibri" panose="020F0502020204030204" pitchFamily="34" charset="0"/>
                <a:cs typeface="Calibri" panose="020F0502020204030204" pitchFamily="34" charset="0"/>
              </a:rPr>
              <a:t>How will all these components fit together securely, efficiently, and </a:t>
            </a:r>
            <a:r>
              <a:rPr lang="en-MY" sz="2800" i="1" dirty="0" err="1">
                <a:latin typeface="Calibri" panose="020F0502020204030204" pitchFamily="34" charset="0"/>
                <a:cs typeface="Calibri" panose="020F0502020204030204" pitchFamily="34" charset="0"/>
              </a:rPr>
              <a:t>scalably</a:t>
            </a:r>
            <a:r>
              <a:rPr lang="en-MY" sz="2800" i="1" dirty="0">
                <a:latin typeface="Calibri" panose="020F0502020204030204" pitchFamily="34" charset="0"/>
                <a:cs typeface="Calibri" panose="020F0502020204030204" pitchFamily="34" charset="0"/>
              </a:rPr>
              <a:t> before we hand the schematics to the developers?</a:t>
            </a:r>
            <a:endParaRPr lang="en-MY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73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4D3C-4247-B438-D182-EE47EB38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The Blueprint Analogy</a:t>
            </a:r>
            <a:r>
              <a:rPr lang="en-MY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C05C-2496-0998-3761-3F07E1AE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Coding without System Analysis and Design is like building a custom home without a blueprint. </a:t>
            </a:r>
          </a:p>
          <a:p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You might build a gorgeous, perfectly crafted kitchen only to realize later that you forgot to leave room for the plumbing, or that the front door opens directly into a load-bearing wall. </a:t>
            </a:r>
          </a:p>
          <a:p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SAD ensures that every room, pipe, and wire is planned </a:t>
            </a:r>
            <a:r>
              <a:rPr lang="en-MY" i="1" dirty="0">
                <a:latin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 construction begins.</a:t>
            </a:r>
            <a:r>
              <a:rPr lang="en-MY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370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3E3D-CFB4-EBB1-BB29-D280D8F6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Throughout this course, you will step beyond being just a </a:t>
            </a:r>
            <a:r>
              <a:rPr lang="en-MY" sz="3600" i="1" dirty="0">
                <a:latin typeface="Calibri" panose="020F0502020204030204" pitchFamily="34" charset="0"/>
                <a:cs typeface="Calibri" panose="020F0502020204030204" pitchFamily="34" charset="0"/>
              </a:rPr>
              <a:t>coder</a:t>
            </a:r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 to become a </a:t>
            </a:r>
            <a:r>
              <a:rPr lang="en-MY" sz="3600" b="1" dirty="0">
                <a:latin typeface="Calibri" panose="020F0502020204030204" pitchFamily="34" charset="0"/>
                <a:cs typeface="Calibri" panose="020F0502020204030204" pitchFamily="34" charset="0"/>
              </a:rPr>
              <a:t>System Architect</a:t>
            </a:r>
            <a: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MY" sz="3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1859E-8091-9A9E-BF68-174015336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432"/>
            <a:ext cx="10515600" cy="520860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Requirement Gathering: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 Learn how to translate vague user complaints ("This app is too slow and frustrating!") into concrete engineering specs.</a:t>
            </a:r>
          </a:p>
          <a:p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Visual </a:t>
            </a:r>
            <a:r>
              <a:rPr lang="en-MY" b="1" dirty="0" err="1">
                <a:latin typeface="Calibri" panose="020F0502020204030204" pitchFamily="34" charset="0"/>
                <a:cs typeface="Calibri" panose="020F0502020204030204" pitchFamily="34" charset="0"/>
              </a:rPr>
              <a:t>Modeling</a:t>
            </a:r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 Master industry-standard </a:t>
            </a:r>
            <a:r>
              <a:rPr lang="en-MY" dirty="0" err="1">
                <a:latin typeface="Calibri" panose="020F0502020204030204" pitchFamily="34" charset="0"/>
                <a:cs typeface="Calibri" panose="020F0502020204030204" pitchFamily="34" charset="0"/>
              </a:rPr>
              <a:t>modeling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 languages (UML, Data Flow Diagrams, Entity-Relationship Diagrams) to visualize complex systems clearly and cleanly.</a:t>
            </a:r>
          </a:p>
          <a:p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SDLC Methodologies: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 Discover how software moves from initial concept to deployment using system development life cycle (SDLC) models such as Waterfall, Agile, or Scrum.</a:t>
            </a:r>
          </a:p>
          <a:p>
            <a:pPr lvl="0"/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MY" b="1" dirty="0">
                <a:latin typeface="Calibri" panose="020F0502020204030204" pitchFamily="34" charset="0"/>
                <a:cs typeface="Calibri" panose="020F0502020204030204" pitchFamily="34" charset="0"/>
              </a:rPr>
              <a:t>Feasibility &amp; Risk Analysis:</a:t>
            </a: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 Evaluate whether a proposed system is technically possible, financially viable, and operationally realistic before investing resources.</a:t>
            </a:r>
          </a:p>
          <a:p>
            <a:pPr lvl="0"/>
            <a:endParaRPr lang="en-MY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47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24" y="104173"/>
            <a:ext cx="12006803" cy="675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36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82FD-BDF2-CF59-67F4-809EBFE2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870" y="1709738"/>
            <a:ext cx="10282579" cy="2852737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analysis and design is a step-by-step process for developing  high-quality information systems.</a:t>
            </a:r>
          </a:p>
        </p:txBody>
      </p:sp>
    </p:spTree>
    <p:extLst>
      <p:ext uri="{BB962C8B-B14F-4D97-AF65-F5344CB8AC3E}">
        <p14:creationId xmlns:p14="http://schemas.microsoft.com/office/powerpoint/2010/main" val="3280130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F09E-2FE2-35E2-1AE7-26301499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Aim to develop a high-quality information system…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F34D6-39C1-6806-5BE1-8ADD20277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7143"/>
            <a:ext cx="10515600" cy="4618299"/>
          </a:xfrm>
        </p:spPr>
        <p:txBody>
          <a:bodyPr>
            <a:normAutofit fontScale="92500"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information system (IS)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combines technology, people, and data to support business functions such as order processing, inventory control, human resources, and accounting.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People involved in developing IS are managers, users, network administrators, web designers, programmers,</a:t>
            </a:r>
            <a:r>
              <a:rPr lang="en-US" sz="3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and systems analysts. </a:t>
            </a:r>
          </a:p>
          <a:p>
            <a:endParaRPr lang="en-US" sz="32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Information Technology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refers to the combination of hardware, software, and services that people use to manage, communicate, and share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4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169A-12DF-2EF9-769A-218A0A1F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24" y="1770927"/>
            <a:ext cx="10515600" cy="2882881"/>
          </a:xfrm>
        </p:spPr>
        <p:txBody>
          <a:bodyPr>
            <a:normAutofit/>
          </a:bodyPr>
          <a:lstStyle/>
          <a:p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By the end of this course, you won't just know how to write programs, you’ll know how to design software that scales, survives, and solves real-world problems.</a:t>
            </a:r>
            <a:r>
              <a:rPr lang="en-MY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3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708</Words>
  <Application>Microsoft Macintosh PowerPoint</Application>
  <PresentationFormat>Widescreen</PresentationFormat>
  <Paragraphs>55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Software Analysis and Design: What it is and why?</vt:lpstr>
      <vt:lpstr>The Reality of Software: Jenga &amp; Urban Archaeology</vt:lpstr>
      <vt:lpstr>System Analysis and Design (SAD) </vt:lpstr>
      <vt:lpstr>PowerPoint Presentation</vt:lpstr>
      <vt:lpstr>PowerPoint Presentation</vt:lpstr>
      <vt:lpstr>PowerPoint Presentation</vt:lpstr>
      <vt:lpstr>The Blueprint Analogy </vt:lpstr>
      <vt:lpstr>Throughout this course, you will step beyond being just a coder to become a System Architect: </vt:lpstr>
      <vt:lpstr>PowerPoint Presentation</vt:lpstr>
      <vt:lpstr>System analysis and design is a step-by-step process for developing  high-quality information systems.</vt:lpstr>
      <vt:lpstr>Aim to develop a high-quality information system…</vt:lpstr>
      <vt:lpstr>By the end of this course, you won't just know how to write programs, you’ll know how to design software that scales, survives, and solves real-world problems.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aniza abdullah</dc:creator>
  <cp:lastModifiedBy>aniza abdullah</cp:lastModifiedBy>
  <cp:revision>15</cp:revision>
  <dcterms:created xsi:type="dcterms:W3CDTF">2026-10-05T02:26:21Z</dcterms:created>
  <dcterms:modified xsi:type="dcterms:W3CDTF">2026-10-05T04:15:48Z</dcterms:modified>
</cp:coreProperties>
</file>