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3" r:id="rId1"/>
    <p:sldMasterId id="2147483659" r:id="rId2"/>
    <p:sldMasterId id="2147483695" r:id="rId3"/>
  </p:sldMasterIdLst>
  <p:notesMasterIdLst>
    <p:notesMasterId r:id="rId43"/>
  </p:notesMasterIdLst>
  <p:handoutMasterIdLst>
    <p:handoutMasterId r:id="rId44"/>
  </p:handoutMasterIdLst>
  <p:sldIdLst>
    <p:sldId id="270" r:id="rId4"/>
    <p:sldId id="393" r:id="rId5"/>
    <p:sldId id="390" r:id="rId6"/>
    <p:sldId id="425" r:id="rId7"/>
    <p:sldId id="310" r:id="rId8"/>
    <p:sldId id="397" r:id="rId9"/>
    <p:sldId id="398" r:id="rId10"/>
    <p:sldId id="399" r:id="rId11"/>
    <p:sldId id="426" r:id="rId12"/>
    <p:sldId id="431" r:id="rId13"/>
    <p:sldId id="427" r:id="rId14"/>
    <p:sldId id="432" r:id="rId15"/>
    <p:sldId id="404" r:id="rId16"/>
    <p:sldId id="406" r:id="rId17"/>
    <p:sldId id="405" r:id="rId18"/>
    <p:sldId id="407" r:id="rId19"/>
    <p:sldId id="437" r:id="rId20"/>
    <p:sldId id="434" r:id="rId21"/>
    <p:sldId id="435" r:id="rId22"/>
    <p:sldId id="436" r:id="rId23"/>
    <p:sldId id="410" r:id="rId24"/>
    <p:sldId id="438" r:id="rId25"/>
    <p:sldId id="411" r:id="rId26"/>
    <p:sldId id="412" r:id="rId27"/>
    <p:sldId id="413" r:id="rId28"/>
    <p:sldId id="414" r:id="rId29"/>
    <p:sldId id="415" r:id="rId30"/>
    <p:sldId id="417" r:id="rId31"/>
    <p:sldId id="416" r:id="rId32"/>
    <p:sldId id="418" r:id="rId33"/>
    <p:sldId id="419" r:id="rId34"/>
    <p:sldId id="420" r:id="rId35"/>
    <p:sldId id="421" r:id="rId36"/>
    <p:sldId id="422" r:id="rId37"/>
    <p:sldId id="424" r:id="rId38"/>
    <p:sldId id="423" r:id="rId39"/>
    <p:sldId id="439" r:id="rId40"/>
    <p:sldId id="429" r:id="rId41"/>
    <p:sldId id="440" r:id="rId4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Maureen Steddin" initials="MS [2]" lastIdx="1" clrIdx="7">
    <p:extLst/>
  </p:cmAuthor>
  <p:cmAuthor id="1" name="Ruchi Sachdev" initials="" lastIdx="8" clrIdx="1"/>
  <p:cmAuthor id="8" name="Maureen Steddin" initials="MS [3]" lastIdx="1" clrIdx="8">
    <p:extLst/>
  </p:cmAuthor>
  <p:cmAuthor id="2" name="Sarah Reusché" initials="" lastIdx="13" clrIdx="2"/>
  <p:cmAuthor id="9" name="Maureen Steddin" initials="MS [4]" lastIdx="1" clrIdx="9">
    <p:extLst/>
  </p:cmAuthor>
  <p:cmAuthor id="3" name="Nitin Shankar" initials="" lastIdx="6" clrIdx="3"/>
  <p:cmAuthor id="10" name="Harold Wise" initials="HW" lastIdx="2" clrIdx="10">
    <p:extLst/>
  </p:cmAuthor>
  <p:cmAuthor id="4" name="Kristen Flathman" initials="" lastIdx="1" clrIdx="4"/>
  <p:cmAuthor id="5" name="Ben Schroeter" initials="" lastIdx="0" clrIdx="5"/>
  <p:cmAuthor id="6" name="Maureen Steddin" initials="MS" lastIdx="1" clrIdx="6">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78" autoAdjust="0"/>
    <p:restoredTop sz="90413" autoAdjust="0"/>
  </p:normalViewPr>
  <p:slideViewPr>
    <p:cSldViewPr snapToGrid="0" snapToObjects="1">
      <p:cViewPr varScale="1">
        <p:scale>
          <a:sx n="66" d="100"/>
          <a:sy n="66" d="100"/>
        </p:scale>
        <p:origin x="1608" y="72"/>
      </p:cViewPr>
      <p:guideLst>
        <p:guide orient="horz" pos="2160"/>
        <p:guide pos="2880"/>
      </p:guideLst>
    </p:cSldViewPr>
  </p:slideViewPr>
  <p:outlineViewPr>
    <p:cViewPr>
      <p:scale>
        <a:sx n="33" d="100"/>
        <a:sy n="33" d="100"/>
      </p:scale>
      <p:origin x="0" y="-43118"/>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85" d="100"/>
          <a:sy n="85" d="100"/>
        </p:scale>
        <p:origin x="3802"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commentAuthors" Target="commentAuthor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10/11/2022</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Shape 19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baseline="0" dirty="0"/>
          </a:p>
        </p:txBody>
      </p:sp>
      <p:sp>
        <p:nvSpPr>
          <p:cNvPr id="193" name="Shape 19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dirty="0"/>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r>
              <a:rPr lang="en-US"/>
              <a:t>Click to edit Master subtitle style</a:t>
            </a:r>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0" cap="none" spc="0" normalizeH="0" baseline="0" noProof="0">
              <a:ln>
                <a:noFill/>
              </a:ln>
              <a:solidFill>
                <a:srgbClr val="000000"/>
              </a:solidFill>
              <a:effectLst/>
              <a:uLnTx/>
              <a:uFillTx/>
              <a:latin typeface="Arial"/>
              <a:cs typeface="Arial"/>
              <a:sym typeface="Arial"/>
            </a:endParaRPr>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3" name="Text Placeholder 2">
            <a:extLst>
              <a:ext uri="{FF2B5EF4-FFF2-40B4-BE49-F238E27FC236}">
                <a16:creationId xmlns:a16="http://schemas.microsoft.com/office/drawing/2014/main" id="{0291B9DA-1DAD-4AB4-94B2-688DFC8B093A}"/>
              </a:ext>
            </a:extLst>
          </p:cNvPr>
          <p:cNvSpPr>
            <a:spLocks noGrp="1"/>
          </p:cNvSpPr>
          <p:nvPr>
            <p:ph type="body" sz="quarter" idx="13" hasCustomPrompt="1"/>
          </p:nvPr>
        </p:nvSpPr>
        <p:spPr>
          <a:xfrm>
            <a:off x="1494693" y="6407662"/>
            <a:ext cx="7194635" cy="334534"/>
          </a:xfrm>
        </p:spPr>
        <p:txBody>
          <a:bodyPr/>
          <a:lstStyle>
            <a:lvl1pPr marL="101600" indent="0" algn="r">
              <a:buNone/>
              <a:defRPr sz="1200">
                <a:latin typeface="Verdana" panose="020B0604030504040204" pitchFamily="34" charset="0"/>
                <a:ea typeface="Verdana" panose="020B0604030504040204" pitchFamily="34" charset="0"/>
                <a:cs typeface="Verdana" panose="020B0604030504040204" pitchFamily="34" charset="0"/>
              </a:defRPr>
            </a:lvl1pPr>
            <a:lvl2pPr>
              <a:defRPr sz="1200">
                <a:latin typeface="Verdana" panose="020B0604030504040204" pitchFamily="34" charset="0"/>
                <a:ea typeface="Verdana" panose="020B0604030504040204" pitchFamily="34" charset="0"/>
                <a:cs typeface="Verdana" panose="020B0604030504040204" pitchFamily="34" charset="0"/>
              </a:defRPr>
            </a:lvl2pPr>
            <a:lvl3pPr>
              <a:defRPr sz="1200">
                <a:latin typeface="Verdana" panose="020B0604030504040204" pitchFamily="34" charset="0"/>
                <a:ea typeface="Verdana" panose="020B0604030504040204" pitchFamily="34" charset="0"/>
                <a:cs typeface="Verdana" panose="020B0604030504040204" pitchFamily="34" charset="0"/>
              </a:defRPr>
            </a:lvl3pPr>
            <a:lvl4pPr>
              <a:defRPr sz="1200">
                <a:latin typeface="Verdana" panose="020B0604030504040204" pitchFamily="34" charset="0"/>
                <a:ea typeface="Verdana" panose="020B0604030504040204" pitchFamily="34" charset="0"/>
                <a:cs typeface="Verdana" panose="020B0604030504040204" pitchFamily="34" charset="0"/>
              </a:defRPr>
            </a:lvl4pPr>
            <a:lvl5pPr>
              <a:defRPr sz="1200">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add copyright text</a:t>
            </a:r>
          </a:p>
        </p:txBody>
      </p:sp>
      <p:sp>
        <p:nvSpPr>
          <p:cNvPr id="4" name="Picture Placeholder 3">
            <a:extLst>
              <a:ext uri="{FF2B5EF4-FFF2-40B4-BE49-F238E27FC236}">
                <a16:creationId xmlns:a16="http://schemas.microsoft.com/office/drawing/2014/main" id="{3AC35AB9-24C4-47CB-AA83-05CAEBB6D99B}"/>
              </a:ext>
            </a:extLst>
          </p:cNvPr>
          <p:cNvSpPr>
            <a:spLocks noGrp="1"/>
          </p:cNvSpPr>
          <p:nvPr>
            <p:ph type="pic" sz="quarter" idx="14" hasCustomPrompt="1"/>
          </p:nvPr>
        </p:nvSpPr>
        <p:spPr>
          <a:xfrm>
            <a:off x="93663" y="6407150"/>
            <a:ext cx="1401762" cy="334963"/>
          </a:xfrm>
        </p:spPr>
        <p:txBody>
          <a:bodyPr/>
          <a:lstStyle>
            <a:lvl1pPr marL="101600" indent="0">
              <a:buNone/>
              <a:defRPr sz="1200"/>
            </a:lvl1pPr>
          </a:lstStyle>
          <a:p>
            <a:r>
              <a:rPr lang="en-US" dirty="0"/>
              <a:t>Logo</a:t>
            </a:r>
          </a:p>
        </p:txBody>
      </p:sp>
    </p:spTree>
    <p:extLst>
      <p:ext uri="{BB962C8B-B14F-4D97-AF65-F5344CB8AC3E}">
        <p14:creationId xmlns:p14="http://schemas.microsoft.com/office/powerpoint/2010/main" val="4215940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a:p>
        </p:txBody>
      </p:sp>
      <p:sp>
        <p:nvSpPr>
          <p:cNvPr id="26" name="Shape 26"/>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pPr lvl="0"/>
            <a:r>
              <a:rPr lang="en-US"/>
              <a:t>Edit Master text styles</a:t>
            </a:r>
          </a:p>
        </p:txBody>
      </p:sp>
      <p:sp>
        <p:nvSpPr>
          <p:cNvPr id="27" name="Shape 27"/>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39504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p>
            <a:pPr lvl="0"/>
            <a:r>
              <a:rPr lang="en-US" dirty="0"/>
              <a:t>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Shape 54"/>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55" name="Shape 55"/>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Tree>
    <p:extLst>
      <p:ext uri="{BB962C8B-B14F-4D97-AF65-F5344CB8AC3E}">
        <p14:creationId xmlns:p14="http://schemas.microsoft.com/office/powerpoint/2010/main" val="1885097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Figure + Captio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p:nvPr>
        </p:nvSpPr>
        <p:spPr>
          <a:xfrm>
            <a:off x="457200" y="1481138"/>
            <a:ext cx="8229600" cy="3900578"/>
          </a:xfrm>
        </p:spPr>
        <p:txBody>
          <a:bodyPr/>
          <a:lstStyle/>
          <a:p>
            <a:pPr lvl="0"/>
            <a:r>
              <a:rPr lang="en-US" dirty="0"/>
              <a:t>Edit Master text styles</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5" name="Footer Placeholder 4">
            <a:extLst>
              <a:ext uri="{FF2B5EF4-FFF2-40B4-BE49-F238E27FC236}">
                <a16:creationId xmlns:a16="http://schemas.microsoft.com/office/drawing/2014/main" id="{A6FA6EBD-95B8-4957-AE05-FC01EF65059B}"/>
              </a:ext>
            </a:extLst>
          </p:cNvPr>
          <p:cNvSpPr>
            <a:spLocks noGrp="1"/>
          </p:cNvSpPr>
          <p:nvPr>
            <p:ph type="ftr" sz="quarter" idx="12"/>
          </p:nvPr>
        </p:nvSpPr>
        <p:spPr>
          <a:xfrm>
            <a:off x="457200" y="6178739"/>
            <a:ext cx="8229600" cy="200549"/>
          </a:xfrm>
        </p:spPr>
        <p:txBody>
          <a:bodyPr/>
          <a:lstStyle/>
          <a:p>
            <a:endParaRPr lang="en-US" dirty="0"/>
          </a:p>
        </p:txBody>
      </p:sp>
      <p:sp>
        <p:nvSpPr>
          <p:cNvPr id="10" name="Shape 55"/>
          <p:cNvSpPr txBox="1">
            <a:spLocks noGrp="1"/>
          </p:cNvSpPr>
          <p:nvPr>
            <p:ph type="body" idx="1" hasCustomPrompt="1"/>
          </p:nvPr>
        </p:nvSpPr>
        <p:spPr>
          <a:xfrm>
            <a:off x="457200" y="5436525"/>
            <a:ext cx="8229600" cy="687405"/>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Tree>
    <p:extLst>
      <p:ext uri="{BB962C8B-B14F-4D97-AF65-F5344CB8AC3E}">
        <p14:creationId xmlns:p14="http://schemas.microsoft.com/office/powerpoint/2010/main" val="1660428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091D3-E16C-46AB-9A90-0F52CA812534}"/>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957388"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22325" y="2643044"/>
            <a:ext cx="1957388"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22325" y="3613151"/>
            <a:ext cx="1957388"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6729412" y="1681163"/>
            <a:ext cx="1957388"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6729413" y="2651910"/>
            <a:ext cx="1957387"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6729413" y="3613151"/>
            <a:ext cx="1957387" cy="627063"/>
          </a:xfrm>
        </p:spPr>
        <p:txBody>
          <a:bodyPr/>
          <a:lstStyle>
            <a:lvl1pPr marL="101600" indent="0">
              <a:buNone/>
              <a:defRPr/>
            </a:lvl1pPr>
          </a:lstStyle>
          <a:p>
            <a:pPr lvl="0"/>
            <a:r>
              <a:rPr lang="en-US" dirty="0"/>
              <a:t>Label 6</a:t>
            </a:r>
          </a:p>
        </p:txBody>
      </p:sp>
      <p:sp>
        <p:nvSpPr>
          <p:cNvPr id="5" name="Footer Placeholder 4">
            <a:extLst>
              <a:ext uri="{FF2B5EF4-FFF2-40B4-BE49-F238E27FC236}">
                <a16:creationId xmlns:a16="http://schemas.microsoft.com/office/drawing/2014/main" id="{237B7866-709E-4B26-BCD7-5CF284C134CA}"/>
              </a:ext>
            </a:extLst>
          </p:cNvPr>
          <p:cNvSpPr>
            <a:spLocks noGrp="1"/>
          </p:cNvSpPr>
          <p:nvPr>
            <p:ph type="ftr" sz="quarter" idx="12"/>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Tree>
    <p:extLst>
      <p:ext uri="{BB962C8B-B14F-4D97-AF65-F5344CB8AC3E}">
        <p14:creationId xmlns:p14="http://schemas.microsoft.com/office/powerpoint/2010/main" val="2027899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5" name="Footer Placeholder 4">
            <a:extLst>
              <a:ext uri="{FF2B5EF4-FFF2-40B4-BE49-F238E27FC236}">
                <a16:creationId xmlns:a16="http://schemas.microsoft.com/office/drawing/2014/main" id="{E2476705-5AD3-4E05-9DCF-CA01EBF96B12}"/>
              </a:ext>
            </a:extLst>
          </p:cNvPr>
          <p:cNvSpPr>
            <a:spLocks noGrp="1"/>
          </p:cNvSpPr>
          <p:nvPr>
            <p:ph type="ftr" sz="quarter" idx="12"/>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Tree>
    <p:extLst>
      <p:ext uri="{BB962C8B-B14F-4D97-AF65-F5344CB8AC3E}">
        <p14:creationId xmlns:p14="http://schemas.microsoft.com/office/powerpoint/2010/main" val="6487214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Learning Objectives">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118871" marR="0" lvl="0" indent="-93471" algn="l" rtl="0">
              <a:spcBef>
                <a:spcPts val="1500"/>
              </a:spcBef>
              <a:buClr>
                <a:srgbClr val="007FA3"/>
              </a:buClr>
              <a:buSzPct val="25000"/>
              <a:buFont typeface="Arial"/>
              <a:buChar char="•"/>
              <a:defRPr sz="1600" b="0" i="0" u="none" strike="noStrike" cap="none">
                <a:solidFill>
                  <a:schemeClr val="dk1"/>
                </a:solidFill>
                <a:latin typeface="Arial"/>
                <a:ea typeface="Arial"/>
                <a:cs typeface="Arial"/>
                <a:sym typeface="Arial"/>
              </a:defRPr>
            </a:lvl1pPr>
            <a:lvl2pPr marL="569913" marR="0" lvl="1" indent="-188912"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50" name="Shape 5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1" name="Shape 5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2" name="Shape 5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5505001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6" name="Shape 26"/>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27" name="Shape 27"/>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0472311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hasCustomPrompt="1"/>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63" name="Shape 63"/>
          <p:cNvSpPr txBox="1">
            <a:spLocks noGrp="1"/>
          </p:cNvSpPr>
          <p:nvPr>
            <p:ph type="body" idx="1" hasCustomPrompt="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r>
              <a:rPr lang="en-US" dirty="0"/>
              <a:t>Click to add Learning Objective(s)</a:t>
            </a:r>
            <a:endParaRPr dirty="0"/>
          </a:p>
        </p:txBody>
      </p:sp>
      <p:sp>
        <p:nvSpPr>
          <p:cNvPr id="64" name="Shape 64"/>
          <p:cNvSpPr txBox="1">
            <a:spLocks noGrp="1"/>
          </p:cNvSpPr>
          <p:nvPr>
            <p:ph type="body" idx="2"/>
          </p:nvPr>
        </p:nvSpPr>
        <p:spPr>
          <a:xfrm>
            <a:off x="457200" y="1358678"/>
            <a:ext cx="8229600" cy="4767485"/>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02963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cs typeface="Arial"/>
              <a:sym typeface="Arial"/>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tint val="75000"/>
                </a:srgbClr>
              </a:solidFill>
              <a:effectLst/>
              <a:uLnTx/>
              <a:uFillTx/>
              <a:latin typeface="Arial"/>
              <a:cs typeface="Arial"/>
              <a:sym typeface="Arial"/>
            </a:endParaRPr>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311902645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4836772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cs typeface="Arial"/>
              <a:sym typeface="Arial"/>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tint val="75000"/>
                </a:srgbClr>
              </a:solidFill>
              <a:effectLst/>
              <a:uLnTx/>
              <a:uFillTx/>
              <a:latin typeface="Arial"/>
              <a:cs typeface="Arial"/>
              <a:sym typeface="Arial"/>
            </a:endParaRPr>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3151923744"/>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cs typeface="Arial"/>
              <a:sym typeface="Arial"/>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tint val="75000"/>
                </a:srgbClr>
              </a:solidFill>
              <a:effectLst/>
              <a:uLnTx/>
              <a:uFillTx/>
              <a:latin typeface="Arial"/>
              <a:cs typeface="Arial"/>
              <a:sym typeface="Arial"/>
            </a:endParaRPr>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3292463193"/>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cs typeface="Arial"/>
              <a:sym typeface="Arial"/>
            </a:endParaRPr>
          </a:p>
        </p:txBody>
      </p:sp>
      <p:sp>
        <p:nvSpPr>
          <p:cNvPr id="8" name="Footer Placeholder 7"/>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tint val="75000"/>
                </a:srgbClr>
              </a:solidFill>
              <a:effectLst/>
              <a:uLnTx/>
              <a:uFillTx/>
              <a:latin typeface="Arial"/>
              <a:cs typeface="Arial"/>
              <a:sym typeface="Arial"/>
            </a:endParaRPr>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2958236864"/>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cs typeface="Arial"/>
              <a:sym typeface="Arial"/>
            </a:endParaRP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tint val="75000"/>
                </a:srgbClr>
              </a:solidFill>
              <a:effectLst/>
              <a:uLnTx/>
              <a:uFillTx/>
              <a:latin typeface="Arial"/>
              <a:cs typeface="Arial"/>
              <a:sym typeface="Arial"/>
            </a:endParaRPr>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2936662690"/>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cs typeface="Arial"/>
              <a:sym typeface="Arial"/>
            </a:endParaRPr>
          </a:p>
        </p:txBody>
      </p:sp>
      <p:sp>
        <p:nvSpPr>
          <p:cNvPr id="3" name="Footer Placeholder 2"/>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tint val="75000"/>
                </a:srgbClr>
              </a:solidFill>
              <a:effectLst/>
              <a:uLnTx/>
              <a:uFillTx/>
              <a:latin typeface="Arial"/>
              <a:cs typeface="Arial"/>
              <a:sym typeface="Arial"/>
            </a:endParaRPr>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1430346566"/>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cs typeface="Arial"/>
              <a:sym typeface="Arial"/>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tint val="75000"/>
                </a:srgbClr>
              </a:solidFill>
              <a:effectLst/>
              <a:uLnTx/>
              <a:uFillTx/>
              <a:latin typeface="Arial"/>
              <a:cs typeface="Arial"/>
              <a:sym typeface="Arial"/>
            </a:endParaRP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3270383487"/>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cs typeface="Arial"/>
              <a:sym typeface="Arial"/>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tint val="75000"/>
                </a:srgbClr>
              </a:solidFill>
              <a:effectLst/>
              <a:uLnTx/>
              <a:uFillTx/>
              <a:latin typeface="Arial"/>
              <a:cs typeface="Arial"/>
              <a:sym typeface="Arial"/>
            </a:endParaRPr>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3056174664"/>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cs typeface="Arial"/>
              <a:sym typeface="Arial"/>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tint val="75000"/>
                </a:srgbClr>
              </a:solidFill>
              <a:effectLst/>
              <a:uLnTx/>
              <a:uFillTx/>
              <a:latin typeface="Arial"/>
              <a:cs typeface="Arial"/>
              <a:sym typeface="Arial"/>
            </a:endParaRPr>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1817537120"/>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cs typeface="Arial"/>
              <a:sym typeface="Arial"/>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tint val="75000"/>
                </a:srgbClr>
              </a:solidFill>
              <a:effectLst/>
              <a:uLnTx/>
              <a:uFillTx/>
              <a:latin typeface="Arial"/>
              <a:cs typeface="Arial"/>
              <a:sym typeface="Arial"/>
            </a:endParaRPr>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269259153"/>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cs typeface="Arial"/>
              <a:sym typeface="Arial"/>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tint val="75000"/>
                </a:srgbClr>
              </a:solidFill>
              <a:effectLst/>
              <a:uLnTx/>
              <a:uFillTx/>
              <a:latin typeface="Arial"/>
              <a:cs typeface="Arial"/>
              <a:sym typeface="Arial"/>
            </a:endParaRPr>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3676463453"/>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cs typeface="Arial"/>
              <a:sym typeface="Arial"/>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tint val="75000"/>
                </a:srgbClr>
              </a:solidFill>
              <a:effectLst/>
              <a:uLnTx/>
              <a:uFillTx/>
              <a:latin typeface="Arial"/>
              <a:cs typeface="Arial"/>
              <a:sym typeface="Arial"/>
            </a:endParaRPr>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367679154"/>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cs typeface="Arial"/>
              <a:sym typeface="Arial"/>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tint val="75000"/>
                </a:srgbClr>
              </a:solidFill>
              <a:effectLst/>
              <a:uLnTx/>
              <a:uFillTx/>
              <a:latin typeface="Arial"/>
              <a:cs typeface="Arial"/>
              <a:sym typeface="Arial"/>
            </a:endParaRPr>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861305419"/>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cs typeface="Arial"/>
              <a:sym typeface="Arial"/>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tint val="75000"/>
                </a:srgbClr>
              </a:solidFill>
              <a:effectLst/>
              <a:uLnTx/>
              <a:uFillTx/>
              <a:latin typeface="Arial"/>
              <a:cs typeface="Arial"/>
              <a:sym typeface="Arial"/>
            </a:endParaRP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1316883826"/>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cs typeface="Arial"/>
              <a:sym typeface="Arial"/>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tint val="75000"/>
                </a:srgbClr>
              </a:solidFill>
              <a:effectLst/>
              <a:uLnTx/>
              <a:uFillTx/>
              <a:latin typeface="Arial"/>
              <a:cs typeface="Arial"/>
              <a:sym typeface="Arial"/>
            </a:endParaRP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1383078674"/>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1.pn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theme" Target="../theme/theme3.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2" name="Footer Placeholder 1">
            <a:extLst>
              <a:ext uri="{FF2B5EF4-FFF2-40B4-BE49-F238E27FC236}">
                <a16:creationId xmlns:a16="http://schemas.microsoft.com/office/drawing/2014/main" id="{7B8A108E-B0AF-4869-B5B8-3D3BB7BC725E}"/>
              </a:ext>
            </a:extLst>
          </p:cNvPr>
          <p:cNvSpPr>
            <a:spLocks noGrp="1"/>
          </p:cNvSpPr>
          <p:nvPr>
            <p:ph type="ftr" sz="quarter" idx="3"/>
          </p:nvPr>
        </p:nvSpPr>
        <p:spPr>
          <a:xfrm>
            <a:off x="457200" y="6028611"/>
            <a:ext cx="8229600" cy="200549"/>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tint val="75000"/>
                </a:srgbClr>
              </a:solidFill>
              <a:effectLst/>
              <a:uLnTx/>
              <a:uFillTx/>
              <a:latin typeface="Arial"/>
              <a:cs typeface="Arial"/>
              <a:sym typeface="Arial"/>
            </a:endParaRPr>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64" r:id="rId1"/>
    <p:sldLayoutId id="2147483674" r:id="rId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13">
            <a:alphaModFix/>
          </a:blip>
          <a:srcRect/>
          <a:stretch/>
        </p:blipFill>
        <p:spPr>
          <a:xfrm>
            <a:off x="443972" y="6429709"/>
            <a:ext cx="917999" cy="279914"/>
          </a:xfrm>
          <a:prstGeom prst="rect">
            <a:avLst/>
          </a:prstGeom>
          <a:noFill/>
          <a:ln>
            <a:noFill/>
          </a:ln>
        </p:spPr>
      </p:pic>
      <p:sp>
        <p:nvSpPr>
          <p:cNvPr id="16" name="Shape 16"/>
          <p:cNvSpPr txBox="1"/>
          <p:nvPr/>
        </p:nvSpPr>
        <p:spPr>
          <a:xfrm>
            <a:off x="1600200" y="6429344"/>
            <a:ext cx="7162799" cy="200054"/>
          </a:xfrm>
          <a:prstGeom prst="rect">
            <a:avLst/>
          </a:prstGeom>
          <a:noFill/>
          <a:ln>
            <a:noFill/>
          </a:ln>
        </p:spPr>
        <p:txBody>
          <a:bodyPr lIns="91425" tIns="45700" rIns="91425" bIns="45700" anchor="t"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2020, 2017, 2014 Pearson Education, Inc. All Rights Reserved</a:t>
            </a:r>
          </a:p>
        </p:txBody>
      </p:sp>
      <p:sp>
        <p:nvSpPr>
          <p:cNvPr id="2" name="Footer Placeholder 1">
            <a:extLst>
              <a:ext uri="{FF2B5EF4-FFF2-40B4-BE49-F238E27FC236}">
                <a16:creationId xmlns:a16="http://schemas.microsoft.com/office/drawing/2014/main" id="{7B8A108E-B0AF-4869-B5B8-3D3BB7BC725E}"/>
              </a:ext>
            </a:extLst>
          </p:cNvPr>
          <p:cNvSpPr>
            <a:spLocks noGrp="1"/>
          </p:cNvSpPr>
          <p:nvPr>
            <p:ph type="ftr" sz="quarter" idx="3"/>
          </p:nvPr>
        </p:nvSpPr>
        <p:spPr>
          <a:xfrm>
            <a:off x="457200" y="6028611"/>
            <a:ext cx="8229600" cy="200549"/>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Tree>
  </p:cSld>
  <p:clrMap bg1="lt1" tx1="dk1" bg2="dk2" tx2="lt2" accent1="accent1" accent2="accent2" accent3="accent3" accent4="accent4" accent5="accent5" accent6="accent6" hlink="hlink" folHlink="folHlink"/>
  <p:sldLayoutIdLst>
    <p:sldLayoutId id="2147483650" r:id="rId1"/>
    <p:sldLayoutId id="2147483671" r:id="rId2"/>
    <p:sldLayoutId id="2147483673" r:id="rId3"/>
    <p:sldLayoutId id="2147483655" r:id="rId4"/>
    <p:sldLayoutId id="2147483656" r:id="rId5"/>
    <p:sldLayoutId id="2147483670" r:id="rId6"/>
    <p:sldLayoutId id="2147483669" r:id="rId7"/>
    <p:sldLayoutId id="2147483657" r:id="rId8"/>
    <p:sldLayoutId id="2147483675" r:id="rId9"/>
    <p:sldLayoutId id="2147483676" r:id="rId10"/>
    <p:sldLayoutId id="2147483677"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Arial"/>
              <a:cs typeface="Arial"/>
              <a:sym typeface="Arial"/>
            </a:endParaRPr>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00000">
                  <a:tint val="75000"/>
                </a:srgbClr>
              </a:solidFill>
              <a:effectLst/>
              <a:uLnTx/>
              <a:uFillTx/>
              <a:latin typeface="Arial"/>
              <a:cs typeface="Arial"/>
              <a:sym typeface="Arial"/>
            </a:endParaRPr>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smtClean="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1359064668"/>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Lst>
  <p:hf sldNum="0"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Shape 195"/>
          <p:cNvSpPr txBox="1">
            <a:spLocks noGrp="1"/>
          </p:cNvSpPr>
          <p:nvPr>
            <p:ph type="title"/>
          </p:nvPr>
        </p:nvSpPr>
        <p:spPr>
          <a:xfrm>
            <a:off x="457200" y="215370"/>
            <a:ext cx="8229600" cy="1039497"/>
          </a:xfrm>
          <a:prstGeom prst="rect">
            <a:avLst/>
          </a:prstGeom>
          <a:noFill/>
          <a:ln>
            <a:noFill/>
          </a:ln>
        </p:spPr>
        <p:txBody>
          <a:bodyPr lIns="0" tIns="0" rIns="0" bIns="0" anchor="t" anchorCtr="0">
            <a:noAutofit/>
          </a:bodyPr>
          <a:lstStyle/>
          <a:p>
            <a:pPr lvl="0">
              <a:buSzPct val="25000"/>
            </a:pPr>
            <a:r>
              <a:rPr lang="en-US" sz="3600" dirty="0"/>
              <a:t/>
            </a:r>
            <a:br>
              <a:rPr lang="en-US" sz="3600" dirty="0"/>
            </a:br>
            <a:endParaRPr lang="en-US" sz="3600" b="1" i="0" u="none" strike="noStrike" cap="none" dirty="0">
              <a:solidFill>
                <a:srgbClr val="007FA3"/>
              </a:solidFill>
              <a:latin typeface="Times New Roman"/>
              <a:ea typeface="Times New Roman"/>
              <a:cs typeface="Times New Roman"/>
              <a:sym typeface="Times New Roman"/>
            </a:endParaRPr>
          </a:p>
        </p:txBody>
      </p:sp>
      <p:sp>
        <p:nvSpPr>
          <p:cNvPr id="196" name="Shape 196"/>
          <p:cNvSpPr txBox="1">
            <a:spLocks noGrp="1"/>
          </p:cNvSpPr>
          <p:nvPr>
            <p:ph idx="1"/>
          </p:nvPr>
        </p:nvSpPr>
        <p:spPr>
          <a:xfrm>
            <a:off x="457200" y="614788"/>
            <a:ext cx="8229600" cy="4871295"/>
          </a:xfrm>
          <a:prstGeom prst="rect">
            <a:avLst/>
          </a:prstGeom>
          <a:noFill/>
          <a:ln>
            <a:noFill/>
          </a:ln>
        </p:spPr>
        <p:txBody>
          <a:bodyPr lIns="0" tIns="0" rIns="0" bIns="0" anchor="t" anchorCtr="0">
            <a:noAutofit/>
          </a:bodyPr>
          <a:lstStyle/>
          <a:p>
            <a:pPr marL="0" lvl="0" indent="0">
              <a:spcBef>
                <a:spcPts val="0"/>
              </a:spcBef>
              <a:buSzPct val="25000"/>
              <a:buNone/>
            </a:pPr>
            <a:endParaRPr lang="en-US" sz="2000" b="1" dirty="0">
              <a:solidFill>
                <a:srgbClr val="007FA3"/>
              </a:solidFill>
              <a:latin typeface="+mj-lt"/>
              <a:cs typeface="Calibri" panose="020F0502020204030204" pitchFamily="34" charset="0"/>
            </a:endParaRPr>
          </a:p>
        </p:txBody>
      </p:sp>
      <p:sp>
        <p:nvSpPr>
          <p:cNvPr id="198" name="Shape 198"/>
          <p:cNvSpPr txBox="1">
            <a:spLocks noGrp="1"/>
          </p:cNvSpPr>
          <p:nvPr>
            <p:ph type="body" idx="4294967295"/>
          </p:nvPr>
        </p:nvSpPr>
        <p:spPr>
          <a:xfrm>
            <a:off x="5486400" y="3490913"/>
            <a:ext cx="3657600" cy="1600200"/>
          </a:xfrm>
          <a:prstGeom prst="rect">
            <a:avLst/>
          </a:prstGeom>
          <a:noFill/>
          <a:ln>
            <a:noFill/>
          </a:ln>
        </p:spPr>
        <p:txBody>
          <a:bodyPr lIns="0" tIns="0" rIns="0" bIns="0" anchor="b" anchorCtr="0">
            <a:noAutofit/>
          </a:bodyPr>
          <a:lstStyle/>
          <a:p>
            <a:pPr marL="0" marR="0" lvl="0" indent="0" algn="l" rtl="0">
              <a:spcBef>
                <a:spcPts val="0"/>
              </a:spcBef>
              <a:buClr>
                <a:srgbClr val="007FA3"/>
              </a:buClr>
              <a:buSzPct val="25000"/>
              <a:buFont typeface="Arial"/>
              <a:buNone/>
            </a:pPr>
            <a:r>
              <a:rPr lang="en-US" sz="5400" dirty="0" smtClean="0"/>
              <a:t>Week 2</a:t>
            </a:r>
            <a:endParaRPr lang="en-US" sz="5400" b="0" i="0" u="none" strike="noStrike" cap="none" dirty="0">
              <a:solidFill>
                <a:schemeClr val="dk1"/>
              </a:solidFill>
              <a:sym typeface="Arial"/>
            </a:endParaRPr>
          </a:p>
        </p:txBody>
      </p:sp>
      <p:sp>
        <p:nvSpPr>
          <p:cNvPr id="199" name="Shape 199"/>
          <p:cNvSpPr txBox="1">
            <a:spLocks noGrp="1"/>
          </p:cNvSpPr>
          <p:nvPr>
            <p:ph type="body" idx="4294967295"/>
          </p:nvPr>
        </p:nvSpPr>
        <p:spPr>
          <a:xfrm>
            <a:off x="878114" y="1776625"/>
            <a:ext cx="7808686" cy="1593850"/>
          </a:xfrm>
          <a:prstGeom prst="rect">
            <a:avLst/>
          </a:prstGeom>
          <a:noFill/>
          <a:ln>
            <a:noFill/>
          </a:ln>
        </p:spPr>
        <p:txBody>
          <a:bodyPr lIns="0" tIns="0" rIns="0" bIns="0" anchor="t" anchorCtr="0">
            <a:noAutofit/>
          </a:bodyPr>
          <a:lstStyle/>
          <a:p>
            <a:pPr marL="0" marR="0" lvl="0" indent="0" algn="ctr" rtl="0">
              <a:spcBef>
                <a:spcPts val="0"/>
              </a:spcBef>
              <a:buClr>
                <a:srgbClr val="007FA3"/>
              </a:buClr>
              <a:buSzPct val="25000"/>
              <a:buFont typeface="Arial"/>
              <a:buNone/>
            </a:pPr>
            <a:endParaRPr lang="en-US" sz="4800" b="0" i="0" u="none" strike="noStrike" cap="none" dirty="0" smtClean="0">
              <a:solidFill>
                <a:schemeClr val="dk1"/>
              </a:solidFill>
              <a:latin typeface="Arial"/>
              <a:ea typeface="Arial"/>
              <a:cs typeface="Arial"/>
              <a:sym typeface="Arial"/>
            </a:endParaRPr>
          </a:p>
          <a:p>
            <a:pPr marL="0" marR="0" lvl="0" indent="0" algn="ctr" rtl="0">
              <a:spcBef>
                <a:spcPts val="0"/>
              </a:spcBef>
              <a:buClr>
                <a:srgbClr val="007FA3"/>
              </a:buClr>
              <a:buSzPct val="25000"/>
              <a:buFont typeface="Arial"/>
              <a:buNone/>
            </a:pPr>
            <a:r>
              <a:rPr lang="en-US" sz="4800" b="0" i="0" u="none" strike="noStrike" cap="none" dirty="0" smtClean="0">
                <a:solidFill>
                  <a:schemeClr val="dk1"/>
                </a:solidFill>
                <a:latin typeface="Arial"/>
                <a:ea typeface="Arial"/>
                <a:cs typeface="Arial"/>
                <a:sym typeface="Arial"/>
              </a:rPr>
              <a:t>The Systems Development Environment</a:t>
            </a:r>
            <a:endParaRPr lang="en-US" sz="4800" b="0" i="0" u="none" strike="noStrike" cap="none" dirty="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98B9-14D5-4202-B561-DEE240D8FE1D}"/>
              </a:ext>
            </a:extLst>
          </p:cNvPr>
          <p:cNvSpPr>
            <a:spLocks noGrp="1"/>
          </p:cNvSpPr>
          <p:nvPr>
            <p:ph type="title"/>
          </p:nvPr>
        </p:nvSpPr>
        <p:spPr/>
        <p:txBody>
          <a:bodyPr/>
          <a:lstStyle/>
          <a:p>
            <a:r>
              <a:rPr lang="en-US" sz="3600" dirty="0">
                <a:latin typeface="+mj-lt"/>
                <a:ea typeface="Verdana" panose="020B0604030504040204" pitchFamily="34" charset="0"/>
                <a:cs typeface="Calibri" panose="020F0502020204030204" pitchFamily="34" charset="0"/>
              </a:rPr>
              <a:t>Learning Objectives</a:t>
            </a:r>
          </a:p>
        </p:txBody>
      </p:sp>
      <p:sp>
        <p:nvSpPr>
          <p:cNvPr id="3" name="Text Placeholder 2">
            <a:extLst>
              <a:ext uri="{FF2B5EF4-FFF2-40B4-BE49-F238E27FC236}">
                <a16:creationId xmlns:a16="http://schemas.microsoft.com/office/drawing/2014/main" id="{F414D8A8-2BFD-4EF3-A52A-BC8DCBFC50D4}"/>
              </a:ext>
            </a:extLst>
          </p:cNvPr>
          <p:cNvSpPr>
            <a:spLocks noGrp="1"/>
          </p:cNvSpPr>
          <p:nvPr>
            <p:ph type="body" idx="1"/>
          </p:nvPr>
        </p:nvSpPr>
        <p:spPr/>
        <p:txBody>
          <a:bodyPr/>
          <a:lstStyle/>
          <a:p>
            <a:r>
              <a:rPr lang="en-US" sz="2000" b="1" dirty="0">
                <a:solidFill>
                  <a:srgbClr val="007FA3"/>
                </a:solidFill>
              </a:rPr>
              <a:t>1.1</a:t>
            </a:r>
            <a:r>
              <a:rPr lang="en-US" sz="2000" dirty="0"/>
              <a:t> Define information systems analysis and design</a:t>
            </a:r>
          </a:p>
          <a:p>
            <a:r>
              <a:rPr lang="en-US" sz="2000" b="1" dirty="0">
                <a:solidFill>
                  <a:srgbClr val="007FA3"/>
                </a:solidFill>
              </a:rPr>
              <a:t>1.2</a:t>
            </a:r>
            <a:r>
              <a:rPr lang="en-US" sz="2000" b="1" dirty="0">
                <a:solidFill>
                  <a:schemeClr val="accent1"/>
                </a:solidFill>
              </a:rPr>
              <a:t> </a:t>
            </a:r>
            <a:r>
              <a:rPr lang="en-US" sz="2000" dirty="0"/>
              <a:t>Describe the information systems development life cycle (SDLC)</a:t>
            </a:r>
          </a:p>
          <a:p>
            <a:r>
              <a:rPr lang="en-US" sz="2000" b="1" dirty="0">
                <a:solidFill>
                  <a:srgbClr val="007FA3"/>
                </a:solidFill>
              </a:rPr>
              <a:t>1.3</a:t>
            </a:r>
            <a:r>
              <a:rPr lang="en-US" sz="2000" dirty="0"/>
              <a:t> Describe the agile methodologies, eXtreme Programming, and Scrum</a:t>
            </a:r>
          </a:p>
          <a:p>
            <a:r>
              <a:rPr lang="en-US" sz="2000" b="1" dirty="0">
                <a:solidFill>
                  <a:srgbClr val="007FA3"/>
                </a:solidFill>
              </a:rPr>
              <a:t>1.4</a:t>
            </a:r>
            <a:r>
              <a:rPr lang="en-US" sz="2000" b="1" dirty="0">
                <a:solidFill>
                  <a:schemeClr val="accent1"/>
                </a:solidFill>
              </a:rPr>
              <a:t> </a:t>
            </a:r>
            <a:r>
              <a:rPr lang="en-US" sz="2000" dirty="0"/>
              <a:t>Explain object-oriented analysis and design and the Rational Unified Process (RUP)</a:t>
            </a:r>
          </a:p>
          <a:p>
            <a:endParaRPr lang="en-US" sz="2000" dirty="0"/>
          </a:p>
        </p:txBody>
      </p:sp>
    </p:spTree>
    <p:extLst>
      <p:ext uri="{BB962C8B-B14F-4D97-AF65-F5344CB8AC3E}">
        <p14:creationId xmlns:p14="http://schemas.microsoft.com/office/powerpoint/2010/main" val="1791498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B2F01-146C-4CAD-A6E4-7D20202B25BF}"/>
              </a:ext>
            </a:extLst>
          </p:cNvPr>
          <p:cNvSpPr>
            <a:spLocks noGrp="1"/>
          </p:cNvSpPr>
          <p:nvPr>
            <p:ph type="title"/>
          </p:nvPr>
        </p:nvSpPr>
        <p:spPr>
          <a:xfrm>
            <a:off x="457200" y="215372"/>
            <a:ext cx="8229600" cy="669846"/>
          </a:xfrm>
        </p:spPr>
        <p:txBody>
          <a:bodyPr/>
          <a:lstStyle/>
          <a:p>
            <a:r>
              <a:rPr lang="en-US" sz="3600" dirty="0">
                <a:latin typeface="+mj-lt"/>
                <a:cs typeface="Calibri" panose="020F0502020204030204" pitchFamily="34" charset="0"/>
              </a:rPr>
              <a:t>Introduction</a:t>
            </a:r>
            <a:endParaRPr lang="en-US" sz="2000" dirty="0">
              <a:latin typeface="+mj-lt"/>
              <a:cs typeface="Calibri" panose="020F0502020204030204" pitchFamily="34" charset="0"/>
            </a:endParaRPr>
          </a:p>
        </p:txBody>
      </p:sp>
      <p:sp>
        <p:nvSpPr>
          <p:cNvPr id="3" name="Text Placeholder 2">
            <a:extLst>
              <a:ext uri="{FF2B5EF4-FFF2-40B4-BE49-F238E27FC236}">
                <a16:creationId xmlns:a16="http://schemas.microsoft.com/office/drawing/2014/main" id="{B2FC61C0-F204-44D5-9F08-36A7BACD167F}"/>
              </a:ext>
            </a:extLst>
          </p:cNvPr>
          <p:cNvSpPr>
            <a:spLocks noGrp="1"/>
          </p:cNvSpPr>
          <p:nvPr>
            <p:ph type="body" idx="1"/>
          </p:nvPr>
        </p:nvSpPr>
        <p:spPr>
          <a:xfrm>
            <a:off x="457200" y="1079186"/>
            <a:ext cx="8229600" cy="4669861"/>
          </a:xfrm>
        </p:spPr>
        <p:txBody>
          <a:bodyPr/>
          <a:lstStyle/>
          <a:p>
            <a:r>
              <a:rPr lang="en-US" sz="2600" b="1" dirty="0">
                <a:solidFill>
                  <a:srgbClr val="007FA3"/>
                </a:solidFill>
              </a:rPr>
              <a:t>Information Systems Analysis and Design</a:t>
            </a:r>
          </a:p>
          <a:p>
            <a:pPr lvl="1"/>
            <a:r>
              <a:rPr lang="en-US" sz="2200" dirty="0"/>
              <a:t>Defined as the complex, challenging, and simulating organizational process that a team of business and systems professionals uses to develop and maintain information systems</a:t>
            </a:r>
          </a:p>
          <a:p>
            <a:r>
              <a:rPr lang="en-US" sz="2600" b="1" dirty="0">
                <a:solidFill>
                  <a:srgbClr val="007FA3"/>
                </a:solidFill>
              </a:rPr>
              <a:t>Application Software</a:t>
            </a:r>
          </a:p>
          <a:p>
            <a:pPr lvl="1"/>
            <a:r>
              <a:rPr lang="en-US" sz="2200" dirty="0"/>
              <a:t>Software designed to support organizational function or process</a:t>
            </a:r>
          </a:p>
          <a:p>
            <a:r>
              <a:rPr lang="en-US" sz="2600" b="1" dirty="0">
                <a:solidFill>
                  <a:srgbClr val="007FA3"/>
                </a:solidFill>
              </a:rPr>
              <a:t>Systems Analyst</a:t>
            </a:r>
          </a:p>
          <a:p>
            <a:pPr lvl="1"/>
            <a:r>
              <a:rPr lang="en-US" sz="2200" dirty="0"/>
              <a:t>Organizational role most responsible for analysis and design of information systems</a:t>
            </a:r>
          </a:p>
          <a:p>
            <a:pPr lvl="1"/>
            <a:endParaRPr lang="en-US" sz="2400" dirty="0"/>
          </a:p>
        </p:txBody>
      </p:sp>
    </p:spTree>
    <p:extLst>
      <p:ext uri="{BB962C8B-B14F-4D97-AF65-F5344CB8AC3E}">
        <p14:creationId xmlns:p14="http://schemas.microsoft.com/office/powerpoint/2010/main" val="6073160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2F36D-B7D5-4A3E-B5DC-D3A908356C1B}"/>
              </a:ext>
            </a:extLst>
          </p:cNvPr>
          <p:cNvSpPr>
            <a:spLocks noGrp="1"/>
          </p:cNvSpPr>
          <p:nvPr>
            <p:ph type="title"/>
          </p:nvPr>
        </p:nvSpPr>
        <p:spPr/>
        <p:txBody>
          <a:bodyPr/>
          <a:lstStyle/>
          <a:p>
            <a:r>
              <a:rPr lang="en-US" sz="2400" dirty="0"/>
              <a:t>Figure 1-1: An Organizational Approach to Systems Analysis and Design Is Driven by Methodologies, Techniques, and Tools</a:t>
            </a:r>
          </a:p>
        </p:txBody>
      </p:sp>
      <p:pic>
        <p:nvPicPr>
          <p:cNvPr id="15" name="Content Placeholder 14" descr="A picture containing indoor, table&#10;&#10;Description automatically generated">
            <a:extLst>
              <a:ext uri="{FF2B5EF4-FFF2-40B4-BE49-F238E27FC236}">
                <a16:creationId xmlns:a16="http://schemas.microsoft.com/office/drawing/2014/main" id="{E9BBD54C-CC61-44C7-9BF5-F40BC3FB775F}"/>
              </a:ext>
            </a:extLst>
          </p:cNvPr>
          <p:cNvPicPr>
            <a:picLocks noGrp="1" noChangeAspect="1"/>
          </p:cNvPicPr>
          <p:nvPr>
            <p:ph sz="quarter" idx="13"/>
          </p:nvPr>
        </p:nvPicPr>
        <p:blipFill>
          <a:blip r:embed="rId2"/>
          <a:stretch>
            <a:fillRect/>
          </a:stretch>
        </p:blipFill>
        <p:spPr>
          <a:xfrm>
            <a:off x="1802167" y="1481138"/>
            <a:ext cx="5539665" cy="3900487"/>
          </a:xfrm>
        </p:spPr>
      </p:pic>
      <p:sp>
        <p:nvSpPr>
          <p:cNvPr id="3" name="Text Placeholder 2"/>
          <p:cNvSpPr>
            <a:spLocks noGrp="1"/>
          </p:cNvSpPr>
          <p:nvPr>
            <p:ph type="body" idx="1"/>
          </p:nvPr>
        </p:nvSpPr>
        <p:spPr/>
        <p:txBody>
          <a:bodyPr/>
          <a:lstStyle/>
          <a:p>
            <a:r>
              <a:rPr lang="en-US" dirty="0"/>
              <a:t>(</a:t>
            </a:r>
            <a:r>
              <a:rPr lang="en-US" i="1" dirty="0"/>
              <a:t>Sources</a:t>
            </a:r>
            <a:r>
              <a:rPr lang="en-US" dirty="0"/>
              <a:t>: Top: Monkey Business Images/Shutterstock; Left: benchart/Shutterstock; Right: Lifestyle Graphic/Shutterstock)</a:t>
            </a:r>
          </a:p>
        </p:txBody>
      </p:sp>
    </p:spTree>
    <p:extLst>
      <p:ext uri="{BB962C8B-B14F-4D97-AF65-F5344CB8AC3E}">
        <p14:creationId xmlns:p14="http://schemas.microsoft.com/office/powerpoint/2010/main" val="3086968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E4ECF-483B-49C9-A182-640C1A8A9A9B}"/>
              </a:ext>
            </a:extLst>
          </p:cNvPr>
          <p:cNvSpPr>
            <a:spLocks noGrp="1"/>
          </p:cNvSpPr>
          <p:nvPr>
            <p:ph type="title"/>
          </p:nvPr>
        </p:nvSpPr>
        <p:spPr/>
        <p:txBody>
          <a:bodyPr/>
          <a:lstStyle/>
          <a:p>
            <a:r>
              <a:rPr lang="en-US" sz="3400" dirty="0">
                <a:latin typeface="+mn-lt"/>
                <a:cs typeface="Calibri" panose="020F0502020204030204" pitchFamily="34" charset="0"/>
              </a:rPr>
              <a:t>A Modern Approach to Systems Analysis and Design</a:t>
            </a:r>
            <a:r>
              <a:rPr lang="en-US" sz="2000" dirty="0">
                <a:latin typeface="+mn-lt"/>
                <a:cs typeface="Calibri" panose="020F0502020204030204" pitchFamily="34" charset="0"/>
              </a:rPr>
              <a:t> (1 of 3)</a:t>
            </a:r>
            <a:r>
              <a:rPr lang="en-US" sz="3400" dirty="0">
                <a:latin typeface="+mn-lt"/>
                <a:cs typeface="Calibri" panose="020F0502020204030204" pitchFamily="34" charset="0"/>
              </a:rPr>
              <a:t> </a:t>
            </a:r>
          </a:p>
        </p:txBody>
      </p:sp>
      <p:sp>
        <p:nvSpPr>
          <p:cNvPr id="3" name="Text Placeholder 2">
            <a:extLst>
              <a:ext uri="{FF2B5EF4-FFF2-40B4-BE49-F238E27FC236}">
                <a16:creationId xmlns:a16="http://schemas.microsoft.com/office/drawing/2014/main" id="{0975B9A4-E598-4352-A923-2A77FD22BDB5}"/>
              </a:ext>
            </a:extLst>
          </p:cNvPr>
          <p:cNvSpPr>
            <a:spLocks noGrp="1"/>
          </p:cNvSpPr>
          <p:nvPr>
            <p:ph type="body" idx="1"/>
          </p:nvPr>
        </p:nvSpPr>
        <p:spPr>
          <a:xfrm>
            <a:off x="457200" y="1426555"/>
            <a:ext cx="8229600" cy="402769"/>
          </a:xfrm>
        </p:spPr>
        <p:txBody>
          <a:bodyPr/>
          <a:lstStyle/>
          <a:p>
            <a:r>
              <a:rPr lang="en-US" b="1" dirty="0"/>
              <a:t>1.1</a:t>
            </a:r>
            <a:r>
              <a:rPr lang="en-US" dirty="0"/>
              <a:t> Define information systems analysis and design</a:t>
            </a:r>
          </a:p>
          <a:p>
            <a:endParaRPr lang="en-US" dirty="0"/>
          </a:p>
        </p:txBody>
      </p:sp>
      <p:sp>
        <p:nvSpPr>
          <p:cNvPr id="4" name="Text Placeholder 3">
            <a:extLst>
              <a:ext uri="{FF2B5EF4-FFF2-40B4-BE49-F238E27FC236}">
                <a16:creationId xmlns:a16="http://schemas.microsoft.com/office/drawing/2014/main" id="{1276ED8D-F7F4-4D75-BBD6-C94C2BC0C534}"/>
              </a:ext>
            </a:extLst>
          </p:cNvPr>
          <p:cNvSpPr>
            <a:spLocks noGrp="1"/>
          </p:cNvSpPr>
          <p:nvPr>
            <p:ph type="body" idx="2"/>
          </p:nvPr>
        </p:nvSpPr>
        <p:spPr>
          <a:xfrm>
            <a:off x="457200" y="1829324"/>
            <a:ext cx="8229600" cy="4296839"/>
          </a:xfrm>
        </p:spPr>
        <p:txBody>
          <a:bodyPr/>
          <a:lstStyle/>
          <a:p>
            <a:r>
              <a:rPr lang="en-US" sz="2400" dirty="0"/>
              <a:t>1950s</a:t>
            </a:r>
          </a:p>
          <a:p>
            <a:pPr lvl="1"/>
            <a:r>
              <a:rPr lang="en-US" sz="1800" dirty="0"/>
              <a:t>Goal was </a:t>
            </a:r>
            <a:r>
              <a:rPr lang="en-US" sz="1800" dirty="0">
                <a:solidFill>
                  <a:srgbClr val="7030A0"/>
                </a:solidFill>
              </a:rPr>
              <a:t>efficiency of processing</a:t>
            </a:r>
          </a:p>
          <a:p>
            <a:pPr lvl="1"/>
            <a:r>
              <a:rPr lang="en-US" sz="1800" dirty="0"/>
              <a:t>Emphasis was on automating existing processes</a:t>
            </a:r>
          </a:p>
          <a:p>
            <a:pPr lvl="1"/>
            <a:r>
              <a:rPr lang="en-US" sz="1800" dirty="0"/>
              <a:t>All applications developed in machine or assembly language</a:t>
            </a:r>
          </a:p>
          <a:p>
            <a:r>
              <a:rPr lang="en-US" sz="2400" dirty="0"/>
              <a:t>1960s</a:t>
            </a:r>
          </a:p>
          <a:p>
            <a:pPr lvl="1"/>
            <a:r>
              <a:rPr lang="en-US" sz="1800" dirty="0"/>
              <a:t>Advent of procedural (third-generation) languages</a:t>
            </a:r>
          </a:p>
          <a:p>
            <a:pPr lvl="1"/>
            <a:r>
              <a:rPr lang="en-US" sz="1800" dirty="0"/>
              <a:t>Enabled development of </a:t>
            </a:r>
            <a:r>
              <a:rPr lang="en-US" sz="1800" dirty="0">
                <a:solidFill>
                  <a:srgbClr val="7030A0"/>
                </a:solidFill>
              </a:rPr>
              <a:t>smaller, faster, less expensive c</a:t>
            </a:r>
            <a:r>
              <a:rPr lang="en-US" sz="1800" dirty="0"/>
              <a:t>omputers</a:t>
            </a:r>
          </a:p>
          <a:p>
            <a:r>
              <a:rPr lang="en-US" sz="2400" dirty="0"/>
              <a:t>1970s</a:t>
            </a:r>
          </a:p>
          <a:p>
            <a:pPr lvl="1"/>
            <a:r>
              <a:rPr lang="en-US" sz="1800" dirty="0"/>
              <a:t>System development came to be more disciplined</a:t>
            </a:r>
          </a:p>
          <a:p>
            <a:pPr lvl="1"/>
            <a:r>
              <a:rPr lang="en-US" sz="1800" dirty="0"/>
              <a:t>Became more like engineering as focus shifted from process first to </a:t>
            </a:r>
            <a:r>
              <a:rPr lang="en-US" sz="1800" dirty="0">
                <a:solidFill>
                  <a:srgbClr val="7030A0"/>
                </a:solidFill>
              </a:rPr>
              <a:t>data first</a:t>
            </a:r>
          </a:p>
        </p:txBody>
      </p:sp>
    </p:spTree>
    <p:extLst>
      <p:ext uri="{BB962C8B-B14F-4D97-AF65-F5344CB8AC3E}">
        <p14:creationId xmlns:p14="http://schemas.microsoft.com/office/powerpoint/2010/main" val="3837876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E4ECF-483B-49C9-A182-640C1A8A9A9B}"/>
              </a:ext>
            </a:extLst>
          </p:cNvPr>
          <p:cNvSpPr>
            <a:spLocks noGrp="1"/>
          </p:cNvSpPr>
          <p:nvPr>
            <p:ph type="title"/>
          </p:nvPr>
        </p:nvSpPr>
        <p:spPr>
          <a:xfrm>
            <a:off x="457200" y="215371"/>
            <a:ext cx="8229600" cy="1211184"/>
          </a:xfrm>
        </p:spPr>
        <p:txBody>
          <a:bodyPr/>
          <a:lstStyle/>
          <a:p>
            <a:r>
              <a:rPr lang="en-US" sz="3400" dirty="0">
                <a:latin typeface="+mn-lt"/>
                <a:cs typeface="Calibri" panose="020F0502020204030204" pitchFamily="34" charset="0"/>
              </a:rPr>
              <a:t>A Modern Approach to Systems Analysis and Design</a:t>
            </a:r>
            <a:r>
              <a:rPr lang="en-US" sz="2000" dirty="0">
                <a:latin typeface="+mn-lt"/>
                <a:cs typeface="Calibri" panose="020F0502020204030204" pitchFamily="34" charset="0"/>
              </a:rPr>
              <a:t> (2 of 3)</a:t>
            </a:r>
            <a:r>
              <a:rPr lang="en-US" sz="3400" dirty="0">
                <a:latin typeface="+mn-lt"/>
                <a:cs typeface="Calibri" panose="020F0502020204030204" pitchFamily="34" charset="0"/>
              </a:rPr>
              <a:t> </a:t>
            </a:r>
          </a:p>
        </p:txBody>
      </p:sp>
      <p:sp>
        <p:nvSpPr>
          <p:cNvPr id="3" name="Text Placeholder 2">
            <a:extLst>
              <a:ext uri="{FF2B5EF4-FFF2-40B4-BE49-F238E27FC236}">
                <a16:creationId xmlns:a16="http://schemas.microsoft.com/office/drawing/2014/main" id="{0975B9A4-E598-4352-A923-2A77FD22BDB5}"/>
              </a:ext>
            </a:extLst>
          </p:cNvPr>
          <p:cNvSpPr>
            <a:spLocks noGrp="1"/>
          </p:cNvSpPr>
          <p:nvPr>
            <p:ph type="body" idx="1"/>
          </p:nvPr>
        </p:nvSpPr>
        <p:spPr>
          <a:xfrm>
            <a:off x="457200" y="1426555"/>
            <a:ext cx="8229600" cy="402769"/>
          </a:xfrm>
        </p:spPr>
        <p:txBody>
          <a:bodyPr/>
          <a:lstStyle/>
          <a:p>
            <a:r>
              <a:rPr lang="en-US" b="1" dirty="0"/>
              <a:t>1.1</a:t>
            </a:r>
            <a:r>
              <a:rPr lang="en-US" dirty="0"/>
              <a:t> Define information systems analysis and design</a:t>
            </a:r>
          </a:p>
          <a:p>
            <a:endParaRPr lang="en-US" dirty="0"/>
          </a:p>
        </p:txBody>
      </p:sp>
      <p:sp>
        <p:nvSpPr>
          <p:cNvPr id="4" name="Text Placeholder 3">
            <a:extLst>
              <a:ext uri="{FF2B5EF4-FFF2-40B4-BE49-F238E27FC236}">
                <a16:creationId xmlns:a16="http://schemas.microsoft.com/office/drawing/2014/main" id="{1276ED8D-F7F4-4D75-BBD6-C94C2BC0C534}"/>
              </a:ext>
            </a:extLst>
          </p:cNvPr>
          <p:cNvSpPr>
            <a:spLocks noGrp="1"/>
          </p:cNvSpPr>
          <p:nvPr>
            <p:ph type="body" idx="2"/>
          </p:nvPr>
        </p:nvSpPr>
        <p:spPr>
          <a:xfrm>
            <a:off x="457200" y="1829324"/>
            <a:ext cx="8229600" cy="4406106"/>
          </a:xfrm>
        </p:spPr>
        <p:txBody>
          <a:bodyPr/>
          <a:lstStyle/>
          <a:p>
            <a:r>
              <a:rPr lang="en-US" sz="2400" dirty="0"/>
              <a:t>1980s</a:t>
            </a:r>
          </a:p>
          <a:p>
            <a:pPr lvl="1"/>
            <a:r>
              <a:rPr lang="en-US" sz="1800" dirty="0"/>
              <a:t>Marked by major breakthroughs in organizations as </a:t>
            </a:r>
            <a:r>
              <a:rPr lang="en-US" sz="1800" dirty="0">
                <a:solidFill>
                  <a:srgbClr val="7030A0"/>
                </a:solidFill>
              </a:rPr>
              <a:t>microcomputers </a:t>
            </a:r>
            <a:r>
              <a:rPr lang="en-US" sz="1800" dirty="0"/>
              <a:t>became key organizational tools</a:t>
            </a:r>
          </a:p>
          <a:p>
            <a:pPr lvl="1"/>
            <a:r>
              <a:rPr lang="en-US" sz="1800" dirty="0"/>
              <a:t>Software industry expanded writing off-the-shelf software</a:t>
            </a:r>
          </a:p>
          <a:p>
            <a:pPr lvl="1"/>
            <a:r>
              <a:rPr lang="en-US" sz="1800" dirty="0">
                <a:solidFill>
                  <a:srgbClr val="7030A0"/>
                </a:solidFill>
              </a:rPr>
              <a:t>4GL </a:t>
            </a:r>
            <a:r>
              <a:rPr lang="en-US" sz="1800" dirty="0" smtClean="0">
                <a:solidFill>
                  <a:srgbClr val="7030A0"/>
                </a:solidFill>
              </a:rPr>
              <a:t>( Fourth Generation Programming language</a:t>
            </a:r>
            <a:r>
              <a:rPr lang="en-US" sz="1800" dirty="0" smtClean="0"/>
              <a:t>) development </a:t>
            </a:r>
            <a:r>
              <a:rPr lang="en-US" sz="1800" dirty="0"/>
              <a:t>led to instructing computers what to do instead of how to do it</a:t>
            </a:r>
          </a:p>
          <a:p>
            <a:r>
              <a:rPr lang="en-US" sz="2400" dirty="0"/>
              <a:t>1990s</a:t>
            </a:r>
          </a:p>
          <a:p>
            <a:pPr lvl="1"/>
            <a:r>
              <a:rPr lang="en-US" sz="1800" dirty="0"/>
              <a:t>Focused on </a:t>
            </a:r>
            <a:r>
              <a:rPr lang="en-US" sz="1800" dirty="0">
                <a:solidFill>
                  <a:srgbClr val="7030A0"/>
                </a:solidFill>
              </a:rPr>
              <a:t>system integration</a:t>
            </a:r>
          </a:p>
          <a:p>
            <a:pPr lvl="1"/>
            <a:r>
              <a:rPr lang="en-US" sz="1800" dirty="0"/>
              <a:t>Developers used visual programming environments (Visual Basic)</a:t>
            </a:r>
          </a:p>
          <a:p>
            <a:pPr lvl="1"/>
            <a:r>
              <a:rPr lang="en-US" sz="1800" dirty="0">
                <a:solidFill>
                  <a:srgbClr val="7030A0"/>
                </a:solidFill>
              </a:rPr>
              <a:t>Relational and object-oriented databases </a:t>
            </a:r>
            <a:r>
              <a:rPr lang="en-US" sz="1800" dirty="0"/>
              <a:t>developed</a:t>
            </a:r>
          </a:p>
          <a:p>
            <a:pPr lvl="1"/>
            <a:r>
              <a:rPr lang="en-US" sz="1800" dirty="0">
                <a:solidFill>
                  <a:srgbClr val="7030A0"/>
                </a:solidFill>
              </a:rPr>
              <a:t>Enterprise-wide </a:t>
            </a:r>
            <a:r>
              <a:rPr lang="en-US" sz="1800" dirty="0" smtClean="0">
                <a:solidFill>
                  <a:srgbClr val="7030A0"/>
                </a:solidFill>
              </a:rPr>
              <a:t>systems</a:t>
            </a:r>
            <a:r>
              <a:rPr lang="en-US" sz="1800" dirty="0" smtClean="0"/>
              <a:t>(application s/w packages for business processes, data analytics)  developed.</a:t>
            </a:r>
            <a:endParaRPr lang="en-US" sz="1800" dirty="0"/>
          </a:p>
          <a:p>
            <a:pPr lvl="1"/>
            <a:r>
              <a:rPr lang="en-US" sz="1800" dirty="0"/>
              <a:t>Web and </a:t>
            </a:r>
            <a:r>
              <a:rPr lang="en-US" sz="1800" dirty="0">
                <a:solidFill>
                  <a:srgbClr val="7030A0"/>
                </a:solidFill>
              </a:rPr>
              <a:t>Internet</a:t>
            </a:r>
            <a:r>
              <a:rPr lang="en-US" sz="1800" dirty="0"/>
              <a:t> applications begun and expanded</a:t>
            </a:r>
          </a:p>
        </p:txBody>
      </p:sp>
    </p:spTree>
    <p:extLst>
      <p:ext uri="{BB962C8B-B14F-4D97-AF65-F5344CB8AC3E}">
        <p14:creationId xmlns:p14="http://schemas.microsoft.com/office/powerpoint/2010/main" val="3695921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E4ECF-483B-49C9-A182-640C1A8A9A9B}"/>
              </a:ext>
            </a:extLst>
          </p:cNvPr>
          <p:cNvSpPr>
            <a:spLocks noGrp="1"/>
          </p:cNvSpPr>
          <p:nvPr>
            <p:ph type="title"/>
          </p:nvPr>
        </p:nvSpPr>
        <p:spPr/>
        <p:txBody>
          <a:bodyPr/>
          <a:lstStyle/>
          <a:p>
            <a:r>
              <a:rPr lang="en-US" sz="3400" dirty="0">
                <a:latin typeface="+mn-lt"/>
                <a:cs typeface="Calibri" panose="020F0502020204030204" pitchFamily="34" charset="0"/>
              </a:rPr>
              <a:t>A Modern Approach to Systems Analysis and Design</a:t>
            </a:r>
            <a:r>
              <a:rPr lang="en-US" sz="2000" dirty="0">
                <a:latin typeface="+mn-lt"/>
                <a:cs typeface="Calibri" panose="020F0502020204030204" pitchFamily="34" charset="0"/>
              </a:rPr>
              <a:t> (3 of 3)</a:t>
            </a:r>
            <a:r>
              <a:rPr lang="en-US" sz="3400" dirty="0">
                <a:latin typeface="+mn-lt"/>
                <a:cs typeface="Calibri" panose="020F0502020204030204" pitchFamily="34" charset="0"/>
              </a:rPr>
              <a:t> </a:t>
            </a:r>
          </a:p>
        </p:txBody>
      </p:sp>
      <p:sp>
        <p:nvSpPr>
          <p:cNvPr id="3" name="Text Placeholder 2">
            <a:extLst>
              <a:ext uri="{FF2B5EF4-FFF2-40B4-BE49-F238E27FC236}">
                <a16:creationId xmlns:a16="http://schemas.microsoft.com/office/drawing/2014/main" id="{0975B9A4-E598-4352-A923-2A77FD22BDB5}"/>
              </a:ext>
            </a:extLst>
          </p:cNvPr>
          <p:cNvSpPr>
            <a:spLocks noGrp="1"/>
          </p:cNvSpPr>
          <p:nvPr>
            <p:ph type="body" idx="1"/>
          </p:nvPr>
        </p:nvSpPr>
        <p:spPr>
          <a:xfrm>
            <a:off x="457200" y="1426555"/>
            <a:ext cx="8229600" cy="402769"/>
          </a:xfrm>
        </p:spPr>
        <p:txBody>
          <a:bodyPr/>
          <a:lstStyle/>
          <a:p>
            <a:r>
              <a:rPr lang="en-US" b="1" dirty="0"/>
              <a:t>1.1</a:t>
            </a:r>
            <a:r>
              <a:rPr lang="en-US" dirty="0"/>
              <a:t> Define information systems analysis and design</a:t>
            </a:r>
          </a:p>
          <a:p>
            <a:endParaRPr lang="en-US" dirty="0"/>
          </a:p>
        </p:txBody>
      </p:sp>
      <p:sp>
        <p:nvSpPr>
          <p:cNvPr id="4" name="Text Placeholder 3">
            <a:extLst>
              <a:ext uri="{FF2B5EF4-FFF2-40B4-BE49-F238E27FC236}">
                <a16:creationId xmlns:a16="http://schemas.microsoft.com/office/drawing/2014/main" id="{1276ED8D-F7F4-4D75-BBD6-C94C2BC0C534}"/>
              </a:ext>
            </a:extLst>
          </p:cNvPr>
          <p:cNvSpPr>
            <a:spLocks noGrp="1"/>
          </p:cNvSpPr>
          <p:nvPr>
            <p:ph type="body" idx="2"/>
          </p:nvPr>
        </p:nvSpPr>
        <p:spPr>
          <a:xfrm>
            <a:off x="457200" y="1829324"/>
            <a:ext cx="8229600" cy="4296839"/>
          </a:xfrm>
        </p:spPr>
        <p:txBody>
          <a:bodyPr/>
          <a:lstStyle/>
          <a:p>
            <a:r>
              <a:rPr lang="en-US" sz="2400" dirty="0"/>
              <a:t>Present day</a:t>
            </a:r>
          </a:p>
          <a:p>
            <a:pPr lvl="1"/>
            <a:r>
              <a:rPr lang="en-US" sz="1800" dirty="0"/>
              <a:t>Continued focus on developing systems for the Internet and for firm’s intranets and extranets</a:t>
            </a:r>
          </a:p>
          <a:p>
            <a:pPr lvl="1"/>
            <a:r>
              <a:rPr lang="en-US" sz="1800" dirty="0"/>
              <a:t>Implementation involving three-tier design</a:t>
            </a:r>
          </a:p>
          <a:p>
            <a:pPr lvl="2"/>
            <a:r>
              <a:rPr lang="en-US" dirty="0">
                <a:solidFill>
                  <a:srgbClr val="7030A0"/>
                </a:solidFill>
              </a:rPr>
              <a:t>Database on one server</a:t>
            </a:r>
          </a:p>
          <a:p>
            <a:pPr lvl="2"/>
            <a:r>
              <a:rPr lang="en-US" dirty="0">
                <a:solidFill>
                  <a:srgbClr val="7030A0"/>
                </a:solidFill>
              </a:rPr>
              <a:t>Application on second server</a:t>
            </a:r>
          </a:p>
          <a:p>
            <a:pPr lvl="2"/>
            <a:r>
              <a:rPr lang="en-US" dirty="0">
                <a:solidFill>
                  <a:srgbClr val="7030A0"/>
                </a:solidFill>
              </a:rPr>
              <a:t>Client logic located on user machines</a:t>
            </a:r>
          </a:p>
          <a:p>
            <a:pPr lvl="1"/>
            <a:r>
              <a:rPr lang="en-US" sz="1800" dirty="0"/>
              <a:t>Move to </a:t>
            </a:r>
            <a:r>
              <a:rPr lang="en-US" sz="1800" dirty="0">
                <a:solidFill>
                  <a:srgbClr val="7030A0"/>
                </a:solidFill>
              </a:rPr>
              <a:t>wireless </a:t>
            </a:r>
            <a:r>
              <a:rPr lang="en-US" sz="1800" dirty="0"/>
              <a:t>system components (access from anywhere)</a:t>
            </a:r>
          </a:p>
          <a:p>
            <a:pPr lvl="1"/>
            <a:r>
              <a:rPr lang="en-US" sz="1800" dirty="0"/>
              <a:t>Continuing trend toward assembling systems from programs and components purchased off the shelf</a:t>
            </a:r>
          </a:p>
        </p:txBody>
      </p:sp>
    </p:spTree>
    <p:extLst>
      <p:ext uri="{BB962C8B-B14F-4D97-AF65-F5344CB8AC3E}">
        <p14:creationId xmlns:p14="http://schemas.microsoft.com/office/powerpoint/2010/main" val="436251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E4ECF-483B-49C9-A182-640C1A8A9A9B}"/>
              </a:ext>
            </a:extLst>
          </p:cNvPr>
          <p:cNvSpPr>
            <a:spLocks noGrp="1"/>
          </p:cNvSpPr>
          <p:nvPr>
            <p:ph type="title"/>
          </p:nvPr>
        </p:nvSpPr>
        <p:spPr/>
        <p:txBody>
          <a:bodyPr/>
          <a:lstStyle/>
          <a:p>
            <a:r>
              <a:rPr lang="en-US" sz="3200" dirty="0">
                <a:latin typeface="+mn-lt"/>
                <a:cs typeface="Calibri" panose="020F0502020204030204" pitchFamily="34" charset="0"/>
              </a:rPr>
              <a:t>Developing Information Systems and the Systems Development Life Cycle</a:t>
            </a:r>
            <a:r>
              <a:rPr lang="en-US" sz="3400" dirty="0">
                <a:latin typeface="+mn-lt"/>
                <a:cs typeface="Calibri" panose="020F0502020204030204" pitchFamily="34" charset="0"/>
              </a:rPr>
              <a:t> </a:t>
            </a:r>
          </a:p>
        </p:txBody>
      </p:sp>
      <p:sp>
        <p:nvSpPr>
          <p:cNvPr id="3" name="Text Placeholder 2">
            <a:extLst>
              <a:ext uri="{FF2B5EF4-FFF2-40B4-BE49-F238E27FC236}">
                <a16:creationId xmlns:a16="http://schemas.microsoft.com/office/drawing/2014/main" id="{0975B9A4-E598-4352-A923-2A77FD22BDB5}"/>
              </a:ext>
            </a:extLst>
          </p:cNvPr>
          <p:cNvSpPr>
            <a:spLocks noGrp="1"/>
          </p:cNvSpPr>
          <p:nvPr>
            <p:ph type="body" idx="1"/>
          </p:nvPr>
        </p:nvSpPr>
        <p:spPr>
          <a:xfrm>
            <a:off x="457200" y="1426555"/>
            <a:ext cx="8229600" cy="402769"/>
          </a:xfrm>
        </p:spPr>
        <p:txBody>
          <a:bodyPr/>
          <a:lstStyle/>
          <a:p>
            <a:r>
              <a:rPr lang="en-US" b="1" dirty="0"/>
              <a:t>1.2</a:t>
            </a:r>
            <a:r>
              <a:rPr lang="en-US" b="1" dirty="0">
                <a:solidFill>
                  <a:schemeClr val="accent1"/>
                </a:solidFill>
              </a:rPr>
              <a:t> </a:t>
            </a:r>
            <a:r>
              <a:rPr lang="en-US" dirty="0"/>
              <a:t>Describe the information systems development life cycle (SDLC)</a:t>
            </a:r>
          </a:p>
          <a:p>
            <a:endParaRPr lang="en-US" dirty="0"/>
          </a:p>
        </p:txBody>
      </p:sp>
      <p:sp>
        <p:nvSpPr>
          <p:cNvPr id="4" name="Text Placeholder 3">
            <a:extLst>
              <a:ext uri="{FF2B5EF4-FFF2-40B4-BE49-F238E27FC236}">
                <a16:creationId xmlns:a16="http://schemas.microsoft.com/office/drawing/2014/main" id="{1276ED8D-F7F4-4D75-BBD6-C94C2BC0C534}"/>
              </a:ext>
            </a:extLst>
          </p:cNvPr>
          <p:cNvSpPr>
            <a:spLocks noGrp="1"/>
          </p:cNvSpPr>
          <p:nvPr>
            <p:ph type="body" idx="2"/>
          </p:nvPr>
        </p:nvSpPr>
        <p:spPr>
          <a:xfrm>
            <a:off x="457200" y="1829324"/>
            <a:ext cx="8229600" cy="4296839"/>
          </a:xfrm>
        </p:spPr>
        <p:txBody>
          <a:bodyPr/>
          <a:lstStyle/>
          <a:p>
            <a:r>
              <a:rPr lang="en-US" sz="2600" b="1" dirty="0">
                <a:solidFill>
                  <a:srgbClr val="007FA3"/>
                </a:solidFill>
              </a:rPr>
              <a:t>Systems development methodology</a:t>
            </a:r>
          </a:p>
          <a:p>
            <a:pPr lvl="1"/>
            <a:r>
              <a:rPr lang="en-US" sz="2200" dirty="0"/>
              <a:t>A standard process followed in an organization to conduct all the steps necessary to analyze, design, implement, and maintain information systems</a:t>
            </a:r>
          </a:p>
          <a:p>
            <a:r>
              <a:rPr lang="en-US" sz="2600" b="1" dirty="0">
                <a:solidFill>
                  <a:srgbClr val="007FA3"/>
                </a:solidFill>
              </a:rPr>
              <a:t>The systems development life cycle (SDLC) </a:t>
            </a:r>
          </a:p>
          <a:p>
            <a:pPr lvl="1"/>
            <a:r>
              <a:rPr lang="en-US" sz="2200" dirty="0"/>
              <a:t>The traditional methodology used to develop, maintain, and replace information systems</a:t>
            </a:r>
          </a:p>
          <a:p>
            <a:pPr lvl="2"/>
            <a:r>
              <a:rPr lang="en-US" sz="2000" dirty="0"/>
              <a:t>Features several phases that mark the progress of the systems analysis and design efforts</a:t>
            </a:r>
            <a:endParaRPr lang="en-US" sz="2200" dirty="0"/>
          </a:p>
        </p:txBody>
      </p:sp>
    </p:spTree>
    <p:extLst>
      <p:ext uri="{BB962C8B-B14F-4D97-AF65-F5344CB8AC3E}">
        <p14:creationId xmlns:p14="http://schemas.microsoft.com/office/powerpoint/2010/main" val="465884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3A868-DA4D-462C-81F1-B49DF0160071}"/>
              </a:ext>
            </a:extLst>
          </p:cNvPr>
          <p:cNvSpPr>
            <a:spLocks noGrp="1"/>
          </p:cNvSpPr>
          <p:nvPr>
            <p:ph type="title"/>
          </p:nvPr>
        </p:nvSpPr>
        <p:spPr/>
        <p:txBody>
          <a:bodyPr/>
          <a:lstStyle/>
          <a:p>
            <a:r>
              <a:rPr lang="en-US" dirty="0">
                <a:cs typeface="Calibri" panose="020F0502020204030204" pitchFamily="34" charset="0"/>
              </a:rPr>
              <a:t>Systems Development Life Cycle</a:t>
            </a:r>
            <a:endParaRPr lang="en-US" dirty="0"/>
          </a:p>
        </p:txBody>
      </p:sp>
      <p:sp>
        <p:nvSpPr>
          <p:cNvPr id="5" name="Text Placeholder 4">
            <a:extLst>
              <a:ext uri="{FF2B5EF4-FFF2-40B4-BE49-F238E27FC236}">
                <a16:creationId xmlns:a16="http://schemas.microsoft.com/office/drawing/2014/main" id="{31CBF9EF-A174-43C2-B999-F63B82C47BE3}"/>
              </a:ext>
            </a:extLst>
          </p:cNvPr>
          <p:cNvSpPr>
            <a:spLocks noGrp="1"/>
          </p:cNvSpPr>
          <p:nvPr>
            <p:ph type="body" idx="1"/>
          </p:nvPr>
        </p:nvSpPr>
        <p:spPr/>
        <p:txBody>
          <a:bodyPr/>
          <a:lstStyle/>
          <a:p>
            <a:r>
              <a:rPr lang="en-US" b="1" dirty="0"/>
              <a:t>Figure 1-2  </a:t>
            </a:r>
            <a:r>
              <a:rPr lang="en-US" dirty="0"/>
              <a:t>Systems development life cycle</a:t>
            </a:r>
          </a:p>
        </p:txBody>
      </p:sp>
      <p:sp>
        <p:nvSpPr>
          <p:cNvPr id="10" name="Content Placeholder 2">
            <a:extLst>
              <a:ext uri="{FF2B5EF4-FFF2-40B4-BE49-F238E27FC236}">
                <a16:creationId xmlns:a16="http://schemas.microsoft.com/office/drawing/2014/main" id="{699591DC-42B6-40D3-8708-41B91E2C1E8E}"/>
              </a:ext>
            </a:extLst>
          </p:cNvPr>
          <p:cNvSpPr txBox="1">
            <a:spLocks/>
          </p:cNvSpPr>
          <p:nvPr/>
        </p:nvSpPr>
        <p:spPr>
          <a:xfrm>
            <a:off x="457198" y="1857260"/>
            <a:ext cx="8229602" cy="4109021"/>
          </a:xfrm>
          <a:prstGeom prst="rect">
            <a:avLst/>
          </a:prstGeom>
          <a:noFill/>
          <a:ln>
            <a:noFill/>
          </a:ln>
        </p:spPr>
        <p:txBody>
          <a:bodyPr lIns="91425" tIns="91425" rIns="91425" bIns="91425" anchor="t" anchorCtr="0"/>
          <a:lstStyle>
            <a:defPPr marR="0" lvl="0" algn="l" rtl="0">
              <a:lnSpc>
                <a:spcPct val="100000"/>
              </a:lnSpc>
              <a:spcBef>
                <a:spcPts val="0"/>
              </a:spcBef>
              <a:spcAft>
                <a:spcPts val="0"/>
              </a:spcAft>
            </a:defPPr>
            <a:lvl1pPr marL="256032" marR="0" lvl="0" indent="-154432" algn="l" rtl="0">
              <a:lnSpc>
                <a:spcPct val="100000"/>
              </a:lnSpc>
              <a:spcBef>
                <a:spcPts val="15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lnSpc>
                <a:spcPct val="100000"/>
              </a:lnSpc>
              <a:spcBef>
                <a:spcPts val="6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lnSpc>
                <a:spcPct val="100000"/>
              </a:lnSpc>
              <a:spcBef>
                <a:spcPts val="600"/>
              </a:spcBef>
              <a:spcAft>
                <a:spcPts val="0"/>
              </a:spcAft>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lnSpc>
                <a:spcPct val="100000"/>
              </a:lnSpc>
              <a:spcBef>
                <a:spcPts val="6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lnSpc>
                <a:spcPct val="100000"/>
              </a:lnSpc>
              <a:spcBef>
                <a:spcPts val="6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r>
              <a:rPr lang="en-US" altLang="en-US" sz="2800" dirty="0"/>
              <a:t>A circular process, with the end of the useful life leading to the start of another</a:t>
            </a:r>
          </a:p>
          <a:p>
            <a:r>
              <a:rPr lang="en-US" altLang="en-US" sz="2800" dirty="0"/>
              <a:t>At any given phase the project can return to a previous phase when needed</a:t>
            </a:r>
          </a:p>
          <a:p>
            <a:r>
              <a:rPr lang="en-US" altLang="en-US" sz="2800" dirty="0"/>
              <a:t>Can be an iterative process</a:t>
            </a:r>
          </a:p>
        </p:txBody>
      </p:sp>
      <p:sp>
        <p:nvSpPr>
          <p:cNvPr id="13" name="Text Placeholder 2">
            <a:extLst>
              <a:ext uri="{FF2B5EF4-FFF2-40B4-BE49-F238E27FC236}">
                <a16:creationId xmlns:a16="http://schemas.microsoft.com/office/drawing/2014/main" id="{E8EE50F7-1C0A-4A8A-B7D1-D7CE710DB973}"/>
              </a:ext>
            </a:extLst>
          </p:cNvPr>
          <p:cNvSpPr txBox="1">
            <a:spLocks/>
          </p:cNvSpPr>
          <p:nvPr/>
        </p:nvSpPr>
        <p:spPr>
          <a:xfrm>
            <a:off x="457200" y="1488737"/>
            <a:ext cx="8229600" cy="40276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r>
              <a:rPr lang="en-US" sz="1600" b="1" dirty="0">
                <a:solidFill>
                  <a:srgbClr val="007FA3"/>
                </a:solidFill>
              </a:rPr>
              <a:t>1.2 </a:t>
            </a:r>
            <a:r>
              <a:rPr lang="en-US" sz="1600" dirty="0">
                <a:solidFill>
                  <a:srgbClr val="007FA3"/>
                </a:solidFill>
              </a:rPr>
              <a:t>Describe the information systems development life cycle (SDLC)</a:t>
            </a:r>
          </a:p>
          <a:p>
            <a:endParaRPr lang="en-US" dirty="0"/>
          </a:p>
        </p:txBody>
      </p:sp>
    </p:spTree>
    <p:extLst>
      <p:ext uri="{BB962C8B-B14F-4D97-AF65-F5344CB8AC3E}">
        <p14:creationId xmlns:p14="http://schemas.microsoft.com/office/powerpoint/2010/main" val="24280076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3A868-DA4D-462C-81F1-B49DF0160071}"/>
              </a:ext>
            </a:extLst>
          </p:cNvPr>
          <p:cNvSpPr>
            <a:spLocks noGrp="1"/>
          </p:cNvSpPr>
          <p:nvPr>
            <p:ph type="title"/>
          </p:nvPr>
        </p:nvSpPr>
        <p:spPr/>
        <p:txBody>
          <a:bodyPr/>
          <a:lstStyle/>
          <a:p>
            <a:r>
              <a:rPr lang="en-US" dirty="0"/>
              <a:t>Figure 1-2: Systems Development Life Cycle</a:t>
            </a:r>
          </a:p>
        </p:txBody>
      </p:sp>
      <p:pic>
        <p:nvPicPr>
          <p:cNvPr id="12" name="Content Placeholder 11" descr="A close up of a map&#10;&#10;Description automatically generated">
            <a:extLst>
              <a:ext uri="{FF2B5EF4-FFF2-40B4-BE49-F238E27FC236}">
                <a16:creationId xmlns:a16="http://schemas.microsoft.com/office/drawing/2014/main" id="{F8D41DCE-4AB1-4119-B3EF-A5832EF24338}"/>
              </a:ext>
            </a:extLst>
          </p:cNvPr>
          <p:cNvPicPr>
            <a:picLocks noGrp="1" noChangeAspect="1"/>
          </p:cNvPicPr>
          <p:nvPr>
            <p:ph sz="quarter" idx="13"/>
          </p:nvPr>
        </p:nvPicPr>
        <p:blipFill>
          <a:blip r:embed="rId2"/>
          <a:stretch>
            <a:fillRect/>
          </a:stretch>
        </p:blipFill>
        <p:spPr>
          <a:xfrm>
            <a:off x="1930400" y="1481138"/>
            <a:ext cx="5283199" cy="3900487"/>
          </a:xfrm>
        </p:spPr>
      </p:pic>
      <p:sp>
        <p:nvSpPr>
          <p:cNvPr id="5" name="Text Placeholder 4">
            <a:extLst>
              <a:ext uri="{FF2B5EF4-FFF2-40B4-BE49-F238E27FC236}">
                <a16:creationId xmlns:a16="http://schemas.microsoft.com/office/drawing/2014/main" id="{31CBF9EF-A174-43C2-B999-F63B82C47BE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03069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AD57C-1DEA-4835-9B56-CA8BB32C2753}"/>
              </a:ext>
            </a:extLst>
          </p:cNvPr>
          <p:cNvSpPr>
            <a:spLocks noGrp="1"/>
          </p:cNvSpPr>
          <p:nvPr>
            <p:ph type="title"/>
          </p:nvPr>
        </p:nvSpPr>
        <p:spPr/>
        <p:txBody>
          <a:bodyPr/>
          <a:lstStyle/>
          <a:p>
            <a:r>
              <a:rPr lang="en-US" dirty="0">
                <a:cs typeface="Calibri" panose="020F0502020204030204" pitchFamily="34" charset="0"/>
              </a:rPr>
              <a:t>Evolutionary Model</a:t>
            </a:r>
            <a:endParaRPr lang="en-US" dirty="0"/>
          </a:p>
        </p:txBody>
      </p:sp>
      <p:sp>
        <p:nvSpPr>
          <p:cNvPr id="4" name="Text Placeholder 3"/>
          <p:cNvSpPr>
            <a:spLocks noGrp="1"/>
          </p:cNvSpPr>
          <p:nvPr>
            <p:ph type="body" idx="1"/>
          </p:nvPr>
        </p:nvSpPr>
        <p:spPr/>
        <p:txBody>
          <a:bodyPr/>
          <a:lstStyle/>
          <a:p>
            <a:r>
              <a:rPr lang="en-US" b="1" dirty="0"/>
              <a:t>1.2 </a:t>
            </a:r>
            <a:r>
              <a:rPr lang="en-US" dirty="0"/>
              <a:t>Describe the information systems development life cycle (SDLC)</a:t>
            </a:r>
          </a:p>
          <a:p>
            <a:endParaRPr lang="en-US" dirty="0"/>
          </a:p>
        </p:txBody>
      </p:sp>
      <p:sp>
        <p:nvSpPr>
          <p:cNvPr id="6" name="Content Placeholder 2">
            <a:extLst>
              <a:ext uri="{FF2B5EF4-FFF2-40B4-BE49-F238E27FC236}">
                <a16:creationId xmlns:a16="http://schemas.microsoft.com/office/drawing/2014/main" id="{D8B943B7-C5E6-4CCB-8727-CA9C1997A877}"/>
              </a:ext>
            </a:extLst>
          </p:cNvPr>
          <p:cNvSpPr txBox="1">
            <a:spLocks/>
          </p:cNvSpPr>
          <p:nvPr/>
        </p:nvSpPr>
        <p:spPr>
          <a:xfrm>
            <a:off x="559558" y="1439257"/>
            <a:ext cx="8127242" cy="4236267"/>
          </a:xfrm>
          <a:prstGeom prst="rect">
            <a:avLst/>
          </a:prstGeom>
          <a:noFill/>
          <a:ln>
            <a:noFill/>
          </a:ln>
        </p:spPr>
        <p:txBody>
          <a:bodyPr lIns="91425" tIns="91425" rIns="91425" bIns="91425" anchor="t" anchorCtr="0"/>
          <a:lstStyle>
            <a:defPPr marR="0" lvl="0" algn="l" rtl="0">
              <a:lnSpc>
                <a:spcPct val="100000"/>
              </a:lnSpc>
              <a:spcBef>
                <a:spcPts val="0"/>
              </a:spcBef>
              <a:spcAft>
                <a:spcPts val="0"/>
              </a:spcAft>
            </a:defPPr>
            <a:lvl1pPr marL="256032" marR="0" lvl="0" indent="-154432" algn="l" rtl="0">
              <a:lnSpc>
                <a:spcPct val="100000"/>
              </a:lnSpc>
              <a:spcBef>
                <a:spcPts val="15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lnSpc>
                <a:spcPct val="100000"/>
              </a:lnSpc>
              <a:spcBef>
                <a:spcPts val="6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lnSpc>
                <a:spcPct val="100000"/>
              </a:lnSpc>
              <a:spcBef>
                <a:spcPts val="600"/>
              </a:spcBef>
              <a:spcAft>
                <a:spcPts val="0"/>
              </a:spcAft>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lnSpc>
                <a:spcPct val="100000"/>
              </a:lnSpc>
              <a:spcBef>
                <a:spcPts val="6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lnSpc>
                <a:spcPct val="100000"/>
              </a:lnSpc>
              <a:spcBef>
                <a:spcPts val="6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r>
              <a:rPr lang="en-US" altLang="en-US" sz="2800" dirty="0"/>
              <a:t>A spiral process in which one is constantly cycling through phases at different levels</a:t>
            </a:r>
          </a:p>
          <a:p>
            <a:endParaRPr lang="en-US" dirty="0"/>
          </a:p>
        </p:txBody>
      </p:sp>
      <p:sp>
        <p:nvSpPr>
          <p:cNvPr id="9" name="Text Placeholder 2">
            <a:extLst>
              <a:ext uri="{FF2B5EF4-FFF2-40B4-BE49-F238E27FC236}">
                <a16:creationId xmlns:a16="http://schemas.microsoft.com/office/drawing/2014/main" id="{6B44EFC6-2D58-4C2C-AE86-6731D9E4CAE1}"/>
              </a:ext>
            </a:extLst>
          </p:cNvPr>
          <p:cNvSpPr txBox="1">
            <a:spLocks/>
          </p:cNvSpPr>
          <p:nvPr/>
        </p:nvSpPr>
        <p:spPr>
          <a:xfrm>
            <a:off x="457200" y="1426555"/>
            <a:ext cx="8229600" cy="40276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endParaRPr lang="en-US" dirty="0"/>
          </a:p>
        </p:txBody>
      </p:sp>
    </p:spTree>
    <p:extLst>
      <p:ext uri="{BB962C8B-B14F-4D97-AF65-F5344CB8AC3E}">
        <p14:creationId xmlns:p14="http://schemas.microsoft.com/office/powerpoint/2010/main" val="13112021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1-3: Evolutionary Model</a:t>
            </a:r>
          </a:p>
        </p:txBody>
      </p:sp>
      <p:sp>
        <p:nvSpPr>
          <p:cNvPr id="4" name="Text Placeholder 3"/>
          <p:cNvSpPr>
            <a:spLocks noGrp="1"/>
          </p:cNvSpPr>
          <p:nvPr>
            <p:ph type="body" idx="1"/>
          </p:nvPr>
        </p:nvSpPr>
        <p:spPr/>
        <p:txBody>
          <a:bodyPr/>
          <a:lstStyle/>
          <a:p>
            <a:endParaRPr lang="en-US" dirty="0"/>
          </a:p>
        </p:txBody>
      </p:sp>
      <p:pic>
        <p:nvPicPr>
          <p:cNvPr id="5" name="Content Placeholder 7">
            <a:extLst>
              <a:ext uri="{FF2B5EF4-FFF2-40B4-BE49-F238E27FC236}">
                <a16:creationId xmlns:a16="http://schemas.microsoft.com/office/drawing/2014/main" id="{3140CAEB-4B12-4706-8C11-BA8597315EC7}"/>
              </a:ext>
            </a:extLst>
          </p:cNvPr>
          <p:cNvPicPr>
            <a:picLocks noGrp="1" noChangeAspect="1"/>
          </p:cNvPicPr>
          <p:nvPr>
            <p:ph sz="quarter" idx="13"/>
          </p:nvPr>
        </p:nvPicPr>
        <p:blipFill>
          <a:blip r:embed="rId2"/>
          <a:stretch>
            <a:fillRect/>
          </a:stretch>
        </p:blipFill>
        <p:spPr>
          <a:xfrm>
            <a:off x="1771089" y="1481138"/>
            <a:ext cx="5601821" cy="3900487"/>
          </a:xfrm>
        </p:spPr>
      </p:pic>
    </p:spTree>
    <p:extLst>
      <p:ext uri="{BB962C8B-B14F-4D97-AF65-F5344CB8AC3E}">
        <p14:creationId xmlns:p14="http://schemas.microsoft.com/office/powerpoint/2010/main" val="2982471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08E928-D0C4-4C95-A1CB-8B8089BA9760}"/>
              </a:ext>
            </a:extLst>
          </p:cNvPr>
          <p:cNvSpPr>
            <a:spLocks noGrp="1"/>
          </p:cNvSpPr>
          <p:nvPr>
            <p:ph type="title"/>
          </p:nvPr>
        </p:nvSpPr>
        <p:spPr/>
        <p:txBody>
          <a:bodyPr/>
          <a:lstStyle/>
          <a:p>
            <a:r>
              <a:rPr lang="en-US" dirty="0">
                <a:cs typeface="Calibri" panose="020F0502020204030204" pitchFamily="34" charset="0"/>
              </a:rPr>
              <a:t>Phases of the SDLC</a:t>
            </a:r>
            <a:r>
              <a:rPr lang="en-US" sz="2000" dirty="0">
                <a:cs typeface="Calibri" panose="020F0502020204030204" pitchFamily="34" charset="0"/>
              </a:rPr>
              <a:t> (1 of 3)</a:t>
            </a:r>
            <a:r>
              <a:rPr lang="en-US" dirty="0">
                <a:cs typeface="Calibri" panose="020F0502020204030204" pitchFamily="34" charset="0"/>
              </a:rPr>
              <a:t> </a:t>
            </a:r>
            <a:endParaRPr lang="en-US" dirty="0"/>
          </a:p>
        </p:txBody>
      </p:sp>
      <p:sp>
        <p:nvSpPr>
          <p:cNvPr id="10" name="Text Placeholder 2">
            <a:extLst>
              <a:ext uri="{FF2B5EF4-FFF2-40B4-BE49-F238E27FC236}">
                <a16:creationId xmlns:a16="http://schemas.microsoft.com/office/drawing/2014/main" id="{E3EAC154-94DA-4256-A2F6-51DEB1747429}"/>
              </a:ext>
            </a:extLst>
          </p:cNvPr>
          <p:cNvSpPr txBox="1">
            <a:spLocks/>
          </p:cNvSpPr>
          <p:nvPr/>
        </p:nvSpPr>
        <p:spPr>
          <a:xfrm>
            <a:off x="457200" y="1426555"/>
            <a:ext cx="8229600" cy="40276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r>
              <a:rPr lang="en-US" sz="1600" b="1" dirty="0">
                <a:solidFill>
                  <a:srgbClr val="007FA3"/>
                </a:solidFill>
              </a:rPr>
              <a:t>1.2 </a:t>
            </a:r>
            <a:r>
              <a:rPr lang="en-US" sz="1600" dirty="0">
                <a:solidFill>
                  <a:srgbClr val="007FA3"/>
                </a:solidFill>
              </a:rPr>
              <a:t>Describe the information systems development life cycle (SDLC)</a:t>
            </a:r>
          </a:p>
          <a:p>
            <a:endParaRPr lang="en-US" dirty="0"/>
          </a:p>
        </p:txBody>
      </p:sp>
      <p:sp>
        <p:nvSpPr>
          <p:cNvPr id="3" name="Content Placeholder 2">
            <a:extLst>
              <a:ext uri="{FF2B5EF4-FFF2-40B4-BE49-F238E27FC236}">
                <a16:creationId xmlns:a16="http://schemas.microsoft.com/office/drawing/2014/main" id="{26C30B26-B4A4-4BD8-81A5-37C09D752FFA}"/>
              </a:ext>
            </a:extLst>
          </p:cNvPr>
          <p:cNvSpPr>
            <a:spLocks noGrp="1"/>
          </p:cNvSpPr>
          <p:nvPr>
            <p:ph sz="quarter" idx="13"/>
          </p:nvPr>
        </p:nvSpPr>
        <p:spPr>
          <a:xfrm>
            <a:off x="457200" y="1943229"/>
            <a:ext cx="8229600" cy="4379194"/>
          </a:xfrm>
        </p:spPr>
        <p:txBody>
          <a:bodyPr/>
          <a:lstStyle/>
          <a:p>
            <a:r>
              <a:rPr lang="en-US" sz="2400" b="1" dirty="0">
                <a:solidFill>
                  <a:srgbClr val="007FA3"/>
                </a:solidFill>
              </a:rPr>
              <a:t>Planning</a:t>
            </a:r>
          </a:p>
          <a:p>
            <a:pPr lvl="1"/>
            <a:r>
              <a:rPr lang="en-US" sz="2000" dirty="0"/>
              <a:t>Need for a new or enhanced system is identified</a:t>
            </a:r>
          </a:p>
          <a:p>
            <a:pPr lvl="1"/>
            <a:r>
              <a:rPr lang="en-US" sz="2000" dirty="0"/>
              <a:t>Needs are identified, analyzed, prioritized, and arranged</a:t>
            </a:r>
          </a:p>
          <a:p>
            <a:pPr lvl="1"/>
            <a:r>
              <a:rPr lang="en-US" sz="2000" dirty="0"/>
              <a:t>Determine the scope of the proposed system</a:t>
            </a:r>
          </a:p>
          <a:p>
            <a:pPr lvl="1"/>
            <a:r>
              <a:rPr lang="en-US" sz="2000" dirty="0"/>
              <a:t>Baseline project plan is developed</a:t>
            </a:r>
          </a:p>
          <a:p>
            <a:r>
              <a:rPr lang="en-US" sz="2400" b="1" dirty="0">
                <a:solidFill>
                  <a:srgbClr val="007FA3"/>
                </a:solidFill>
              </a:rPr>
              <a:t>Analysis</a:t>
            </a:r>
          </a:p>
          <a:p>
            <a:pPr lvl="1"/>
            <a:r>
              <a:rPr lang="en-US" sz="2000" dirty="0"/>
              <a:t>System requirements are studied from user input and structured</a:t>
            </a:r>
          </a:p>
          <a:p>
            <a:pPr lvl="1"/>
            <a:r>
              <a:rPr lang="en-US" sz="2000" dirty="0"/>
              <a:t>Requires careful study of current systems, manual and computerized, that might be replaced or be enhanced</a:t>
            </a:r>
          </a:p>
          <a:p>
            <a:pPr lvl="1"/>
            <a:r>
              <a:rPr lang="en-US" sz="2000" dirty="0"/>
              <a:t>Output is description of the alternate solution recommend by the analysis team</a:t>
            </a:r>
          </a:p>
          <a:p>
            <a:pPr lvl="1"/>
            <a:endParaRPr lang="en-US" sz="2000" dirty="0"/>
          </a:p>
        </p:txBody>
      </p:sp>
    </p:spTree>
    <p:extLst>
      <p:ext uri="{BB962C8B-B14F-4D97-AF65-F5344CB8AC3E}">
        <p14:creationId xmlns:p14="http://schemas.microsoft.com/office/powerpoint/2010/main" val="823487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08E928-D0C4-4C95-A1CB-8B8089BA9760}"/>
              </a:ext>
            </a:extLst>
          </p:cNvPr>
          <p:cNvSpPr>
            <a:spLocks noGrp="1"/>
          </p:cNvSpPr>
          <p:nvPr>
            <p:ph type="title"/>
          </p:nvPr>
        </p:nvSpPr>
        <p:spPr/>
        <p:txBody>
          <a:bodyPr/>
          <a:lstStyle/>
          <a:p>
            <a:r>
              <a:rPr lang="en-US" dirty="0">
                <a:cs typeface="Calibri" panose="020F0502020204030204" pitchFamily="34" charset="0"/>
              </a:rPr>
              <a:t>Phases of the SDLC</a:t>
            </a:r>
            <a:r>
              <a:rPr lang="en-US" sz="2000" dirty="0">
                <a:cs typeface="Calibri" panose="020F0502020204030204" pitchFamily="34" charset="0"/>
              </a:rPr>
              <a:t> (2 of 3)</a:t>
            </a:r>
            <a:r>
              <a:rPr lang="en-US" dirty="0">
                <a:cs typeface="Calibri" panose="020F0502020204030204" pitchFamily="34" charset="0"/>
              </a:rPr>
              <a:t> </a:t>
            </a:r>
            <a:endParaRPr lang="en-US" dirty="0"/>
          </a:p>
        </p:txBody>
      </p:sp>
      <p:sp>
        <p:nvSpPr>
          <p:cNvPr id="10" name="Text Placeholder 2">
            <a:extLst>
              <a:ext uri="{FF2B5EF4-FFF2-40B4-BE49-F238E27FC236}">
                <a16:creationId xmlns:a16="http://schemas.microsoft.com/office/drawing/2014/main" id="{E3EAC154-94DA-4256-A2F6-51DEB1747429}"/>
              </a:ext>
            </a:extLst>
          </p:cNvPr>
          <p:cNvSpPr txBox="1">
            <a:spLocks/>
          </p:cNvSpPr>
          <p:nvPr/>
        </p:nvSpPr>
        <p:spPr>
          <a:xfrm>
            <a:off x="457200" y="1426555"/>
            <a:ext cx="8229600" cy="40276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r>
              <a:rPr lang="en-US" sz="1600" b="1" dirty="0">
                <a:solidFill>
                  <a:srgbClr val="007FA3"/>
                </a:solidFill>
              </a:rPr>
              <a:t>1.2 </a:t>
            </a:r>
            <a:r>
              <a:rPr lang="en-US" sz="1600" dirty="0">
                <a:solidFill>
                  <a:srgbClr val="007FA3"/>
                </a:solidFill>
              </a:rPr>
              <a:t>Describe the information systems development life cycle (SDLC)</a:t>
            </a:r>
          </a:p>
          <a:p>
            <a:endParaRPr lang="en-US" dirty="0"/>
          </a:p>
        </p:txBody>
      </p:sp>
      <p:sp>
        <p:nvSpPr>
          <p:cNvPr id="3" name="Content Placeholder 2">
            <a:extLst>
              <a:ext uri="{FF2B5EF4-FFF2-40B4-BE49-F238E27FC236}">
                <a16:creationId xmlns:a16="http://schemas.microsoft.com/office/drawing/2014/main" id="{26C30B26-B4A4-4BD8-81A5-37C09D752FFA}"/>
              </a:ext>
            </a:extLst>
          </p:cNvPr>
          <p:cNvSpPr>
            <a:spLocks noGrp="1"/>
          </p:cNvSpPr>
          <p:nvPr>
            <p:ph sz="quarter" idx="13"/>
          </p:nvPr>
        </p:nvSpPr>
        <p:spPr>
          <a:xfrm>
            <a:off x="457200" y="1943229"/>
            <a:ext cx="8229600" cy="4083944"/>
          </a:xfrm>
        </p:spPr>
        <p:txBody>
          <a:bodyPr/>
          <a:lstStyle/>
          <a:p>
            <a:r>
              <a:rPr lang="en-US" sz="2400" b="1" dirty="0">
                <a:solidFill>
                  <a:srgbClr val="007FA3"/>
                </a:solidFill>
              </a:rPr>
              <a:t>Design</a:t>
            </a:r>
          </a:p>
          <a:p>
            <a:pPr lvl="1"/>
            <a:r>
              <a:rPr lang="en-US" sz="2000" dirty="0"/>
              <a:t>Analyst converts the alternate solution into logical and physical specifications</a:t>
            </a:r>
          </a:p>
          <a:p>
            <a:pPr lvl="1"/>
            <a:r>
              <a:rPr lang="en-US" sz="2000" b="1" dirty="0">
                <a:solidFill>
                  <a:srgbClr val="007FA3"/>
                </a:solidFill>
              </a:rPr>
              <a:t>Logical Design</a:t>
            </a:r>
          </a:p>
          <a:p>
            <a:pPr lvl="2"/>
            <a:r>
              <a:rPr lang="en-US" sz="1800" dirty="0"/>
              <a:t>The design process part that is independent of any specific hardware or software platform</a:t>
            </a:r>
          </a:p>
          <a:p>
            <a:pPr lvl="1"/>
            <a:r>
              <a:rPr lang="en-US" sz="2000" b="1" dirty="0">
                <a:solidFill>
                  <a:srgbClr val="007FA3"/>
                </a:solidFill>
              </a:rPr>
              <a:t>Physical Design</a:t>
            </a:r>
          </a:p>
          <a:p>
            <a:pPr lvl="2"/>
            <a:r>
              <a:rPr lang="en-US" sz="1800" dirty="0"/>
              <a:t>The logical specifications of the system from logical design are transformed into technology-specific details from which all programing/system construction can be accomplished</a:t>
            </a:r>
          </a:p>
          <a:p>
            <a:pPr lvl="1"/>
            <a:r>
              <a:rPr lang="en-US" sz="2000" dirty="0"/>
              <a:t>Choices of language, database, and platform are many times already decided by the organization or client</a:t>
            </a:r>
          </a:p>
          <a:p>
            <a:pPr lvl="1"/>
            <a:endParaRPr lang="en-US" sz="2000" dirty="0"/>
          </a:p>
        </p:txBody>
      </p:sp>
    </p:spTree>
    <p:extLst>
      <p:ext uri="{BB962C8B-B14F-4D97-AF65-F5344CB8AC3E}">
        <p14:creationId xmlns:p14="http://schemas.microsoft.com/office/powerpoint/2010/main" val="15961322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08E928-D0C4-4C95-A1CB-8B8089BA9760}"/>
              </a:ext>
            </a:extLst>
          </p:cNvPr>
          <p:cNvSpPr>
            <a:spLocks noGrp="1"/>
          </p:cNvSpPr>
          <p:nvPr>
            <p:ph type="title"/>
          </p:nvPr>
        </p:nvSpPr>
        <p:spPr/>
        <p:txBody>
          <a:bodyPr/>
          <a:lstStyle/>
          <a:p>
            <a:r>
              <a:rPr lang="en-US" dirty="0">
                <a:cs typeface="Calibri" panose="020F0502020204030204" pitchFamily="34" charset="0"/>
              </a:rPr>
              <a:t>Phases of the SDLC</a:t>
            </a:r>
            <a:r>
              <a:rPr lang="en-US" sz="2000" dirty="0">
                <a:cs typeface="Calibri" panose="020F0502020204030204" pitchFamily="34" charset="0"/>
              </a:rPr>
              <a:t> (3 of 3)</a:t>
            </a:r>
            <a:r>
              <a:rPr lang="en-US" dirty="0">
                <a:cs typeface="Calibri" panose="020F0502020204030204" pitchFamily="34" charset="0"/>
              </a:rPr>
              <a:t> </a:t>
            </a:r>
            <a:endParaRPr lang="en-US" dirty="0"/>
          </a:p>
        </p:txBody>
      </p:sp>
      <p:sp>
        <p:nvSpPr>
          <p:cNvPr id="10" name="Text Placeholder 2">
            <a:extLst>
              <a:ext uri="{FF2B5EF4-FFF2-40B4-BE49-F238E27FC236}">
                <a16:creationId xmlns:a16="http://schemas.microsoft.com/office/drawing/2014/main" id="{E3EAC154-94DA-4256-A2F6-51DEB1747429}"/>
              </a:ext>
            </a:extLst>
          </p:cNvPr>
          <p:cNvSpPr txBox="1">
            <a:spLocks/>
          </p:cNvSpPr>
          <p:nvPr/>
        </p:nvSpPr>
        <p:spPr>
          <a:xfrm>
            <a:off x="457200" y="1426555"/>
            <a:ext cx="8229600" cy="40276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r>
              <a:rPr lang="en-US" sz="1600" b="1" dirty="0">
                <a:solidFill>
                  <a:srgbClr val="007FA3"/>
                </a:solidFill>
              </a:rPr>
              <a:t>1.2 </a:t>
            </a:r>
            <a:r>
              <a:rPr lang="en-US" sz="1600" dirty="0">
                <a:solidFill>
                  <a:srgbClr val="007FA3"/>
                </a:solidFill>
              </a:rPr>
              <a:t>Describe the information systems development life cycle (SDLC)</a:t>
            </a:r>
          </a:p>
          <a:p>
            <a:endParaRPr lang="en-US" dirty="0"/>
          </a:p>
        </p:txBody>
      </p:sp>
      <p:sp>
        <p:nvSpPr>
          <p:cNvPr id="3" name="Content Placeholder 2">
            <a:extLst>
              <a:ext uri="{FF2B5EF4-FFF2-40B4-BE49-F238E27FC236}">
                <a16:creationId xmlns:a16="http://schemas.microsoft.com/office/drawing/2014/main" id="{26C30B26-B4A4-4BD8-81A5-37C09D752FFA}"/>
              </a:ext>
            </a:extLst>
          </p:cNvPr>
          <p:cNvSpPr>
            <a:spLocks noGrp="1"/>
          </p:cNvSpPr>
          <p:nvPr>
            <p:ph sz="quarter" idx="13"/>
          </p:nvPr>
        </p:nvSpPr>
        <p:spPr>
          <a:xfrm>
            <a:off x="457200" y="1943229"/>
            <a:ext cx="8229600" cy="4083944"/>
          </a:xfrm>
        </p:spPr>
        <p:txBody>
          <a:bodyPr/>
          <a:lstStyle/>
          <a:p>
            <a:r>
              <a:rPr lang="en-US" sz="2400" b="1" dirty="0">
                <a:solidFill>
                  <a:srgbClr val="007FA3"/>
                </a:solidFill>
              </a:rPr>
              <a:t>Implementation</a:t>
            </a:r>
            <a:endParaRPr lang="en-US" sz="2400" dirty="0">
              <a:solidFill>
                <a:srgbClr val="007FA3"/>
              </a:solidFill>
            </a:endParaRPr>
          </a:p>
          <a:p>
            <a:pPr lvl="1"/>
            <a:r>
              <a:rPr lang="en-US" sz="2000" dirty="0"/>
              <a:t>Occurs when the information system is coded, tested, installed, and supported in the organization</a:t>
            </a:r>
          </a:p>
          <a:p>
            <a:pPr lvl="1"/>
            <a:r>
              <a:rPr lang="en-US" sz="2000" dirty="0"/>
              <a:t>New systems become part of the daily activities of the organization</a:t>
            </a:r>
          </a:p>
          <a:p>
            <a:r>
              <a:rPr lang="en-US" sz="2400" b="1" dirty="0">
                <a:solidFill>
                  <a:srgbClr val="007FA3"/>
                </a:solidFill>
              </a:rPr>
              <a:t>Maintenance</a:t>
            </a:r>
            <a:endParaRPr lang="en-US" sz="2400" dirty="0">
              <a:solidFill>
                <a:srgbClr val="007FA3"/>
              </a:solidFill>
            </a:endParaRPr>
          </a:p>
          <a:p>
            <a:pPr lvl="1"/>
            <a:r>
              <a:rPr lang="en-US" sz="2000" dirty="0"/>
              <a:t>The phase in which an information system is systematically repaired and improved</a:t>
            </a:r>
          </a:p>
          <a:p>
            <a:pPr lvl="1"/>
            <a:r>
              <a:rPr lang="en-US" sz="2000" dirty="0"/>
              <a:t>Organization’s needs may change over time requiring changes to the system based on user’s needs</a:t>
            </a:r>
          </a:p>
        </p:txBody>
      </p:sp>
    </p:spTree>
    <p:extLst>
      <p:ext uri="{BB962C8B-B14F-4D97-AF65-F5344CB8AC3E}">
        <p14:creationId xmlns:p14="http://schemas.microsoft.com/office/powerpoint/2010/main" val="2442986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5F7E2-748E-47FD-A3D9-9DF0DB276453}"/>
              </a:ext>
            </a:extLst>
          </p:cNvPr>
          <p:cNvSpPr>
            <a:spLocks noGrp="1"/>
          </p:cNvSpPr>
          <p:nvPr>
            <p:ph type="title"/>
          </p:nvPr>
        </p:nvSpPr>
        <p:spPr/>
        <p:txBody>
          <a:bodyPr/>
          <a:lstStyle/>
          <a:p>
            <a:r>
              <a:rPr lang="en-US" dirty="0">
                <a:latin typeface="+mn-lt"/>
              </a:rPr>
              <a:t>Table 1-1: Products of SDLC Phases</a:t>
            </a:r>
          </a:p>
        </p:txBody>
      </p:sp>
      <p:sp>
        <p:nvSpPr>
          <p:cNvPr id="3" name="Text Placeholder 2">
            <a:extLst>
              <a:ext uri="{FF2B5EF4-FFF2-40B4-BE49-F238E27FC236}">
                <a16:creationId xmlns:a16="http://schemas.microsoft.com/office/drawing/2014/main" id="{855861D2-1566-40BF-AB97-D8EF9B0CF69B}"/>
              </a:ext>
            </a:extLst>
          </p:cNvPr>
          <p:cNvSpPr>
            <a:spLocks noGrp="1"/>
          </p:cNvSpPr>
          <p:nvPr>
            <p:ph type="body" idx="1"/>
          </p:nvPr>
        </p:nvSpPr>
        <p:spPr>
          <a:xfrm>
            <a:off x="457200" y="816429"/>
            <a:ext cx="8229600" cy="398417"/>
          </a:xfrm>
        </p:spPr>
        <p:txBody>
          <a:bodyPr/>
          <a:lstStyle/>
          <a:p>
            <a:r>
              <a:rPr lang="en-US" b="1" dirty="0"/>
              <a:t>1.2 </a:t>
            </a:r>
            <a:r>
              <a:rPr lang="en-US" dirty="0"/>
              <a:t>Describe the information systems development life cycle (SDLC)</a:t>
            </a:r>
          </a:p>
          <a:p>
            <a:endParaRPr lang="en-US" dirty="0"/>
          </a:p>
          <a:p>
            <a:endParaRPr lang="en-US" dirty="0"/>
          </a:p>
        </p:txBody>
      </p:sp>
      <p:graphicFrame>
        <p:nvGraphicFramePr>
          <p:cNvPr id="7" name="Table 6">
            <a:extLst>
              <a:ext uri="{FF2B5EF4-FFF2-40B4-BE49-F238E27FC236}">
                <a16:creationId xmlns:a16="http://schemas.microsoft.com/office/drawing/2014/main" id="{8FD940FF-B5C6-41D4-9AC7-21D2EF578317}"/>
              </a:ext>
            </a:extLst>
          </p:cNvPr>
          <p:cNvGraphicFramePr>
            <a:graphicFrameLocks noGrp="1"/>
          </p:cNvGraphicFramePr>
          <p:nvPr>
            <p:extLst>
              <p:ext uri="{D42A27DB-BD31-4B8C-83A1-F6EECF244321}">
                <p14:modId xmlns:p14="http://schemas.microsoft.com/office/powerpoint/2010/main" val="3015113066"/>
              </p:ext>
            </p:extLst>
          </p:nvPr>
        </p:nvGraphicFramePr>
        <p:xfrm>
          <a:off x="457200" y="1225731"/>
          <a:ext cx="8229599" cy="4815840"/>
        </p:xfrm>
        <a:graphic>
          <a:graphicData uri="http://schemas.openxmlformats.org/drawingml/2006/table">
            <a:tbl>
              <a:tblPr firstRow="1" bandRow="1">
                <a:tableStyleId>{40F9630F-82C1-40B7-BC3A-925EFCFF5E92}</a:tableStyleId>
              </a:tblPr>
              <a:tblGrid>
                <a:gridCol w="1410790">
                  <a:extLst>
                    <a:ext uri="{9D8B030D-6E8A-4147-A177-3AD203B41FA5}">
                      <a16:colId xmlns:a16="http://schemas.microsoft.com/office/drawing/2014/main" val="3913510367"/>
                    </a:ext>
                  </a:extLst>
                </a:gridCol>
                <a:gridCol w="6818809">
                  <a:extLst>
                    <a:ext uri="{9D8B030D-6E8A-4147-A177-3AD203B41FA5}">
                      <a16:colId xmlns:a16="http://schemas.microsoft.com/office/drawing/2014/main" val="1205333672"/>
                    </a:ext>
                  </a:extLst>
                </a:gridCol>
              </a:tblGrid>
              <a:tr h="282891">
                <a:tc>
                  <a:txBody>
                    <a:bodyPr/>
                    <a:lstStyle/>
                    <a:p>
                      <a:r>
                        <a:rPr lang="en-US" dirty="0"/>
                        <a:t>Phase</a:t>
                      </a:r>
                    </a:p>
                  </a:txBody>
                  <a:tcPr/>
                </a:tc>
                <a:tc>
                  <a:txBody>
                    <a:bodyPr/>
                    <a:lstStyle/>
                    <a:p>
                      <a:r>
                        <a:rPr lang="en-US" dirty="0"/>
                        <a:t>Products, Outputs, or Deliverables</a:t>
                      </a:r>
                    </a:p>
                  </a:txBody>
                  <a:tcPr/>
                </a:tc>
                <a:extLst>
                  <a:ext uri="{0D108BD9-81ED-4DB2-BD59-A6C34878D82A}">
                    <a16:rowId xmlns:a16="http://schemas.microsoft.com/office/drawing/2014/main" val="2446447245"/>
                  </a:ext>
                </a:extLst>
              </a:tr>
              <a:tr h="1669056">
                <a:tc>
                  <a:txBody>
                    <a:bodyPr/>
                    <a:lstStyle/>
                    <a:p>
                      <a:r>
                        <a:rPr lang="en-US" dirty="0"/>
                        <a:t>Planning</a:t>
                      </a:r>
                    </a:p>
                  </a:txBody>
                  <a:tcPr/>
                </a:tc>
                <a:tc>
                  <a:txBody>
                    <a:bodyPr/>
                    <a:lstStyle/>
                    <a:p>
                      <a:pPr marL="285750" indent="-285750">
                        <a:buFont typeface="Arial" panose="020B0604020202020204" pitchFamily="34" charset="0"/>
                        <a:buChar char="•"/>
                      </a:pPr>
                      <a:r>
                        <a:rPr lang="en-US" dirty="0"/>
                        <a:t>Priorities for system and projects; an architecture for data, networks, and                  selection hardware, and information systems management are the result of associated systems</a:t>
                      </a:r>
                    </a:p>
                    <a:p>
                      <a:pPr marL="285750" indent="-285750">
                        <a:buFont typeface="Arial" panose="020B0604020202020204" pitchFamily="34" charset="0"/>
                        <a:buChar char="•"/>
                      </a:pPr>
                      <a:r>
                        <a:rPr lang="en-US" dirty="0"/>
                        <a:t>Detailed steps, or work plan, for project</a:t>
                      </a:r>
                    </a:p>
                    <a:p>
                      <a:pPr marL="285750" indent="-285750">
                        <a:buFont typeface="Arial" panose="020B0604020202020204" pitchFamily="34" charset="0"/>
                        <a:buChar char="•"/>
                      </a:pPr>
                      <a:r>
                        <a:rPr lang="en-US" dirty="0"/>
                        <a:t>Specification of system scope and planning and high-level system requirements or features</a:t>
                      </a:r>
                    </a:p>
                    <a:p>
                      <a:pPr marL="285750" indent="-285750">
                        <a:buFont typeface="Arial" panose="020B0604020202020204" pitchFamily="34" charset="0"/>
                        <a:buChar char="•"/>
                      </a:pPr>
                      <a:r>
                        <a:rPr lang="en-US" dirty="0"/>
                        <a:t>Assignment of team members and other resources</a:t>
                      </a:r>
                    </a:p>
                    <a:p>
                      <a:pPr marL="285750" indent="-285750">
                        <a:buFont typeface="Arial" panose="020B0604020202020204" pitchFamily="34" charset="0"/>
                        <a:buChar char="•"/>
                      </a:pPr>
                      <a:r>
                        <a:rPr lang="en-US" dirty="0"/>
                        <a:t>System justification or business case</a:t>
                      </a:r>
                    </a:p>
                  </a:txBody>
                  <a:tcPr/>
                </a:tc>
                <a:extLst>
                  <a:ext uri="{0D108BD9-81ED-4DB2-BD59-A6C34878D82A}">
                    <a16:rowId xmlns:a16="http://schemas.microsoft.com/office/drawing/2014/main" val="180785109"/>
                  </a:ext>
                </a:extLst>
              </a:tr>
              <a:tr h="678938">
                <a:tc>
                  <a:txBody>
                    <a:bodyPr/>
                    <a:lstStyle/>
                    <a:p>
                      <a:r>
                        <a:rPr lang="en-US" dirty="0"/>
                        <a:t>Analysis</a:t>
                      </a:r>
                    </a:p>
                  </a:txBody>
                  <a:tcPr/>
                </a:tc>
                <a:tc>
                  <a:txBody>
                    <a:bodyPr/>
                    <a:lstStyle/>
                    <a:p>
                      <a:pPr marL="285750" indent="-285750">
                        <a:buFont typeface="Arial" panose="020B0604020202020204" pitchFamily="34" charset="0"/>
                        <a:buChar char="•"/>
                      </a:pPr>
                      <a:r>
                        <a:rPr lang="en-US" dirty="0"/>
                        <a:t>Description of current system and where problems or opportunities exist, with a general recommendation on how to fix, enhance, or replace current system</a:t>
                      </a:r>
                    </a:p>
                    <a:p>
                      <a:pPr marL="285750" indent="-285750">
                        <a:buFont typeface="Arial" panose="020B0604020202020204" pitchFamily="34" charset="0"/>
                        <a:buChar char="•"/>
                      </a:pPr>
                      <a:r>
                        <a:rPr lang="en-US" dirty="0"/>
                        <a:t>Explanation of alternative systems and justification for chosen alternative</a:t>
                      </a:r>
                    </a:p>
                  </a:txBody>
                  <a:tcPr/>
                </a:tc>
                <a:extLst>
                  <a:ext uri="{0D108BD9-81ED-4DB2-BD59-A6C34878D82A}">
                    <a16:rowId xmlns:a16="http://schemas.microsoft.com/office/drawing/2014/main" val="2157212180"/>
                  </a:ext>
                </a:extLst>
              </a:tr>
              <a:tr h="1074985">
                <a:tc>
                  <a:txBody>
                    <a:bodyPr/>
                    <a:lstStyle/>
                    <a:p>
                      <a:r>
                        <a:rPr lang="en-US" dirty="0"/>
                        <a:t>Design</a:t>
                      </a:r>
                    </a:p>
                  </a:txBody>
                  <a:tcPr/>
                </a:tc>
                <a:tc>
                  <a:txBody>
                    <a:bodyPr/>
                    <a:lstStyle/>
                    <a:p>
                      <a:pPr marL="285750" indent="-285750">
                        <a:buFont typeface="Arial" panose="020B0604020202020204" pitchFamily="34" charset="0"/>
                        <a:buChar char="•"/>
                      </a:pPr>
                      <a:r>
                        <a:rPr lang="en-US" dirty="0"/>
                        <a:t>Functional, detailed specifications of system elements (data, processes, inputs, and outputs)</a:t>
                      </a:r>
                    </a:p>
                    <a:p>
                      <a:pPr marL="285750" indent="-285750">
                        <a:buFont typeface="Arial" panose="020B0604020202020204" pitchFamily="34" charset="0"/>
                        <a:buChar char="•"/>
                      </a:pPr>
                      <a:r>
                        <a:rPr lang="en-US" dirty="0"/>
                        <a:t>Technical, detailed specifications of all system elements (programs, files, network, system software, etc.)</a:t>
                      </a:r>
                    </a:p>
                    <a:p>
                      <a:pPr marL="285750" indent="-285750">
                        <a:buFont typeface="Arial" panose="020B0604020202020204" pitchFamily="34" charset="0"/>
                        <a:buChar char="•"/>
                      </a:pPr>
                      <a:r>
                        <a:rPr lang="en-US" dirty="0"/>
                        <a:t>Acquisition plan for new technology</a:t>
                      </a:r>
                    </a:p>
                  </a:txBody>
                  <a:tcPr/>
                </a:tc>
                <a:extLst>
                  <a:ext uri="{0D108BD9-81ED-4DB2-BD59-A6C34878D82A}">
                    <a16:rowId xmlns:a16="http://schemas.microsoft.com/office/drawing/2014/main" val="3580711520"/>
                  </a:ext>
                </a:extLst>
              </a:tr>
              <a:tr h="282891">
                <a:tc>
                  <a:txBody>
                    <a:bodyPr/>
                    <a:lstStyle/>
                    <a:p>
                      <a:r>
                        <a:rPr lang="en-US" dirty="0"/>
                        <a:t>Implementation</a:t>
                      </a:r>
                    </a:p>
                  </a:txBody>
                  <a:tcPr/>
                </a:tc>
                <a:tc>
                  <a:txBody>
                    <a:bodyPr/>
                    <a:lstStyle/>
                    <a:p>
                      <a:pPr marL="285750" indent="-285750">
                        <a:buFont typeface="Arial" panose="020B0604020202020204" pitchFamily="34" charset="0"/>
                        <a:buChar char="•"/>
                      </a:pPr>
                      <a:r>
                        <a:rPr lang="en-US" dirty="0"/>
                        <a:t>Code, documentation, training procedures, and support capabilities</a:t>
                      </a:r>
                    </a:p>
                  </a:txBody>
                  <a:tcPr/>
                </a:tc>
                <a:extLst>
                  <a:ext uri="{0D108BD9-81ED-4DB2-BD59-A6C34878D82A}">
                    <a16:rowId xmlns:a16="http://schemas.microsoft.com/office/drawing/2014/main" val="2846746188"/>
                  </a:ext>
                </a:extLst>
              </a:tr>
              <a:tr h="480914">
                <a:tc>
                  <a:txBody>
                    <a:bodyPr/>
                    <a:lstStyle/>
                    <a:p>
                      <a:r>
                        <a:rPr lang="en-US" dirty="0"/>
                        <a:t>Maintenance</a:t>
                      </a:r>
                    </a:p>
                  </a:txBody>
                  <a:tcPr/>
                </a:tc>
                <a:tc>
                  <a:txBody>
                    <a:bodyPr/>
                    <a:lstStyle/>
                    <a:p>
                      <a:pPr marL="285750" indent="-285750">
                        <a:buFont typeface="Arial" panose="020B0604020202020204" pitchFamily="34" charset="0"/>
                        <a:buChar char="•"/>
                      </a:pPr>
                      <a:r>
                        <a:rPr lang="en-US" dirty="0"/>
                        <a:t>New versions or releases of software with associated updates to documentation, training, and support</a:t>
                      </a:r>
                    </a:p>
                  </a:txBody>
                  <a:tcPr/>
                </a:tc>
                <a:extLst>
                  <a:ext uri="{0D108BD9-81ED-4DB2-BD59-A6C34878D82A}">
                    <a16:rowId xmlns:a16="http://schemas.microsoft.com/office/drawing/2014/main" val="4187974076"/>
                  </a:ext>
                </a:extLst>
              </a:tr>
            </a:tbl>
          </a:graphicData>
        </a:graphic>
      </p:graphicFrame>
      <p:sp>
        <p:nvSpPr>
          <p:cNvPr id="8" name="Text Placeholder 2">
            <a:extLst>
              <a:ext uri="{FF2B5EF4-FFF2-40B4-BE49-F238E27FC236}">
                <a16:creationId xmlns:a16="http://schemas.microsoft.com/office/drawing/2014/main" id="{90F203BF-F1F0-453B-A43B-FAE8E1A5D772}"/>
              </a:ext>
            </a:extLst>
          </p:cNvPr>
          <p:cNvSpPr txBox="1">
            <a:spLocks/>
          </p:cNvSpPr>
          <p:nvPr/>
        </p:nvSpPr>
        <p:spPr>
          <a:xfrm>
            <a:off x="457200" y="6129091"/>
            <a:ext cx="8229600" cy="297835"/>
          </a:xfrm>
          <a:prstGeom prst="rect">
            <a:avLst/>
          </a:prstGeom>
          <a:noFill/>
          <a:ln>
            <a:noFill/>
          </a:ln>
        </p:spPr>
        <p:txBody>
          <a:bodyPr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7FA3"/>
              </a:buClr>
              <a:buSzPct val="100000"/>
              <a:buFont typeface="Arial"/>
              <a:buNone/>
              <a:defRPr sz="1200" b="0" i="0" u="none" strike="noStrike" cap="none">
                <a:solidFill>
                  <a:schemeClr val="dk1"/>
                </a:solidFill>
                <a:latin typeface="Arial"/>
                <a:ea typeface="Arial"/>
                <a:cs typeface="Arial"/>
                <a:sym typeface="Arial"/>
              </a:defRPr>
            </a:lvl1pPr>
            <a:lvl2pPr marL="0" marR="0" lvl="1"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2pPr>
            <a:lvl3pPr marL="0" marR="0" lvl="2" indent="0" algn="l" rtl="0">
              <a:lnSpc>
                <a:spcPct val="100000"/>
              </a:lnSpc>
              <a:spcBef>
                <a:spcPts val="0"/>
              </a:spcBef>
              <a:spcAft>
                <a:spcPts val="0"/>
              </a:spcAft>
              <a:buClr>
                <a:srgbClr val="007FA3"/>
              </a:buClr>
              <a:buSzPct val="100000"/>
              <a:buFont typeface="Noto Sans Symbols"/>
              <a:buNone/>
              <a:defRPr sz="1600" b="0" i="0" u="none" strike="noStrike" cap="none">
                <a:solidFill>
                  <a:schemeClr val="dk1"/>
                </a:solidFill>
                <a:latin typeface="Arial"/>
                <a:ea typeface="Arial"/>
                <a:cs typeface="Arial"/>
                <a:sym typeface="Arial"/>
              </a:defRPr>
            </a:lvl3pPr>
            <a:lvl4pPr marL="0" marR="0" lvl="3"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4pPr>
            <a:lvl5pPr marL="0" marR="0" lvl="4"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5pPr>
            <a:lvl6pPr marL="0" marR="0" lvl="5"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6pPr>
            <a:lvl7pPr marL="0" marR="0" lvl="6"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7pPr>
            <a:lvl8pPr marL="0" marR="0" lvl="7"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8pPr>
            <a:lvl9pPr marL="0" marR="0" lvl="8"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9pPr>
          </a:lstStyle>
          <a:p>
            <a:r>
              <a:rPr lang="en-US" b="1" dirty="0"/>
              <a:t>Table 1-1  </a:t>
            </a:r>
            <a:r>
              <a:rPr lang="en-US" dirty="0"/>
              <a:t>Products of SDLC Phases</a:t>
            </a:r>
          </a:p>
        </p:txBody>
      </p:sp>
    </p:spTree>
    <p:extLst>
      <p:ext uri="{BB962C8B-B14F-4D97-AF65-F5344CB8AC3E}">
        <p14:creationId xmlns:p14="http://schemas.microsoft.com/office/powerpoint/2010/main" val="27175777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CA70B-2B45-48CB-B237-BF60A01FF0D6}"/>
              </a:ext>
            </a:extLst>
          </p:cNvPr>
          <p:cNvSpPr>
            <a:spLocks noGrp="1"/>
          </p:cNvSpPr>
          <p:nvPr>
            <p:ph type="title"/>
          </p:nvPr>
        </p:nvSpPr>
        <p:spPr/>
        <p:txBody>
          <a:bodyPr/>
          <a:lstStyle/>
          <a:p>
            <a:r>
              <a:rPr lang="en-US" dirty="0"/>
              <a:t>Analysis-Design-Code-Test Loop</a:t>
            </a:r>
          </a:p>
        </p:txBody>
      </p:sp>
      <p:sp>
        <p:nvSpPr>
          <p:cNvPr id="7" name="Text Placeholder 2">
            <a:extLst>
              <a:ext uri="{FF2B5EF4-FFF2-40B4-BE49-F238E27FC236}">
                <a16:creationId xmlns:a16="http://schemas.microsoft.com/office/drawing/2014/main" id="{87DCBDE0-079F-499B-8032-E4DBA23069FD}"/>
              </a:ext>
            </a:extLst>
          </p:cNvPr>
          <p:cNvSpPr txBox="1">
            <a:spLocks/>
          </p:cNvSpPr>
          <p:nvPr/>
        </p:nvSpPr>
        <p:spPr>
          <a:xfrm>
            <a:off x="457200" y="1189050"/>
            <a:ext cx="8229600" cy="40276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r>
              <a:rPr lang="en-US" sz="1600" b="1" dirty="0">
                <a:solidFill>
                  <a:srgbClr val="007FA3"/>
                </a:solidFill>
              </a:rPr>
              <a:t>1.2 </a:t>
            </a:r>
            <a:r>
              <a:rPr lang="en-US" sz="1600" dirty="0">
                <a:solidFill>
                  <a:srgbClr val="007FA3"/>
                </a:solidFill>
              </a:rPr>
              <a:t>Describe the information systems development life cycle (SDLC)</a:t>
            </a:r>
          </a:p>
          <a:p>
            <a:endParaRPr lang="en-US" dirty="0"/>
          </a:p>
        </p:txBody>
      </p:sp>
      <p:sp>
        <p:nvSpPr>
          <p:cNvPr id="5" name="Content Placeholder 4">
            <a:extLst>
              <a:ext uri="{FF2B5EF4-FFF2-40B4-BE49-F238E27FC236}">
                <a16:creationId xmlns:a16="http://schemas.microsoft.com/office/drawing/2014/main" id="{AF4E2DC0-3C07-439E-BA42-9D44F93BAC5C}"/>
              </a:ext>
            </a:extLst>
          </p:cNvPr>
          <p:cNvSpPr>
            <a:spLocks noGrp="1"/>
          </p:cNvSpPr>
          <p:nvPr>
            <p:ph sz="quarter" idx="13"/>
          </p:nvPr>
        </p:nvSpPr>
        <p:spPr>
          <a:xfrm>
            <a:off x="457200" y="1733266"/>
            <a:ext cx="8229600" cy="3648449"/>
          </a:xfrm>
        </p:spPr>
        <p:txBody>
          <a:bodyPr/>
          <a:lstStyle/>
          <a:p>
            <a:r>
              <a:rPr lang="en-US" sz="2800" dirty="0"/>
              <a:t>The Analysis-Design-Code-Test Loop is an example of traditional practice</a:t>
            </a:r>
          </a:p>
          <a:p>
            <a:endParaRPr lang="en-US" dirty="0"/>
          </a:p>
        </p:txBody>
      </p:sp>
    </p:spTree>
    <p:extLst>
      <p:ext uri="{BB962C8B-B14F-4D97-AF65-F5344CB8AC3E}">
        <p14:creationId xmlns:p14="http://schemas.microsoft.com/office/powerpoint/2010/main" val="18727664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CA70B-2B45-48CB-B237-BF60A01FF0D6}"/>
              </a:ext>
            </a:extLst>
          </p:cNvPr>
          <p:cNvSpPr>
            <a:spLocks noGrp="1"/>
          </p:cNvSpPr>
          <p:nvPr>
            <p:ph type="title"/>
          </p:nvPr>
        </p:nvSpPr>
        <p:spPr/>
        <p:txBody>
          <a:bodyPr/>
          <a:lstStyle/>
          <a:p>
            <a:r>
              <a:rPr lang="en-US" dirty="0"/>
              <a:t>Figure 1-6: Analysis-Design-Code-Test Loop</a:t>
            </a:r>
          </a:p>
        </p:txBody>
      </p:sp>
      <p:pic>
        <p:nvPicPr>
          <p:cNvPr id="6" name="Content Placeholder 5">
            <a:extLst>
              <a:ext uri="{FF2B5EF4-FFF2-40B4-BE49-F238E27FC236}">
                <a16:creationId xmlns:a16="http://schemas.microsoft.com/office/drawing/2014/main" id="{3598F750-1EF5-4B2E-8984-F7F259993F42}"/>
              </a:ext>
            </a:extLst>
          </p:cNvPr>
          <p:cNvPicPr>
            <a:picLocks noGrp="1" noChangeAspect="1"/>
          </p:cNvPicPr>
          <p:nvPr>
            <p:ph sz="quarter" idx="13"/>
          </p:nvPr>
        </p:nvPicPr>
        <p:blipFill>
          <a:blip r:embed="rId2"/>
          <a:stretch>
            <a:fillRect/>
          </a:stretch>
        </p:blipFill>
        <p:spPr>
          <a:xfrm>
            <a:off x="2090330" y="1312650"/>
            <a:ext cx="4963339" cy="3909584"/>
          </a:xfrm>
        </p:spPr>
      </p:pic>
      <p:sp>
        <p:nvSpPr>
          <p:cNvPr id="4" name="Text Placeholder 3">
            <a:extLst>
              <a:ext uri="{FF2B5EF4-FFF2-40B4-BE49-F238E27FC236}">
                <a16:creationId xmlns:a16="http://schemas.microsoft.com/office/drawing/2014/main" id="{9BEACB45-C529-4BAC-9318-073926E452F0}"/>
              </a:ext>
            </a:extLst>
          </p:cNvPr>
          <p:cNvSpPr>
            <a:spLocks noGrp="1"/>
          </p:cNvSpPr>
          <p:nvPr>
            <p:ph type="body" idx="1"/>
          </p:nvPr>
        </p:nvSpPr>
        <p:spPr/>
        <p:txBody>
          <a:bodyPr/>
          <a:lstStyle/>
          <a:p>
            <a:endParaRPr lang="en-US" sz="2600" dirty="0"/>
          </a:p>
        </p:txBody>
      </p:sp>
    </p:spTree>
    <p:extLst>
      <p:ext uri="{BB962C8B-B14F-4D97-AF65-F5344CB8AC3E}">
        <p14:creationId xmlns:p14="http://schemas.microsoft.com/office/powerpoint/2010/main" val="34473079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08E928-D0C4-4C95-A1CB-8B8089BA9760}"/>
              </a:ext>
            </a:extLst>
          </p:cNvPr>
          <p:cNvSpPr>
            <a:spLocks noGrp="1"/>
          </p:cNvSpPr>
          <p:nvPr>
            <p:ph type="title"/>
          </p:nvPr>
        </p:nvSpPr>
        <p:spPr/>
        <p:txBody>
          <a:bodyPr/>
          <a:lstStyle/>
          <a:p>
            <a:r>
              <a:rPr lang="en-US" dirty="0">
                <a:cs typeface="Calibri" panose="020F0502020204030204" pitchFamily="34" charset="0"/>
              </a:rPr>
              <a:t>Heart of Systems Development</a:t>
            </a:r>
            <a:endParaRPr lang="en-US" sz="2000" dirty="0"/>
          </a:p>
        </p:txBody>
      </p:sp>
      <p:sp>
        <p:nvSpPr>
          <p:cNvPr id="10" name="Text Placeholder 2">
            <a:extLst>
              <a:ext uri="{FF2B5EF4-FFF2-40B4-BE49-F238E27FC236}">
                <a16:creationId xmlns:a16="http://schemas.microsoft.com/office/drawing/2014/main" id="{E3EAC154-94DA-4256-A2F6-51DEB1747429}"/>
              </a:ext>
            </a:extLst>
          </p:cNvPr>
          <p:cNvSpPr txBox="1">
            <a:spLocks/>
          </p:cNvSpPr>
          <p:nvPr/>
        </p:nvSpPr>
        <p:spPr>
          <a:xfrm>
            <a:off x="457200" y="1426555"/>
            <a:ext cx="8229600" cy="40276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r>
              <a:rPr lang="en-US" sz="1600" b="1" dirty="0">
                <a:solidFill>
                  <a:srgbClr val="007FA3"/>
                </a:solidFill>
              </a:rPr>
              <a:t>1.2 </a:t>
            </a:r>
            <a:r>
              <a:rPr lang="en-US" sz="1600" dirty="0">
                <a:solidFill>
                  <a:srgbClr val="007FA3"/>
                </a:solidFill>
              </a:rPr>
              <a:t>Describe the information systems development life cycle (SDLC)</a:t>
            </a:r>
          </a:p>
          <a:p>
            <a:endParaRPr lang="en-US" dirty="0"/>
          </a:p>
        </p:txBody>
      </p:sp>
      <p:sp>
        <p:nvSpPr>
          <p:cNvPr id="6" name="Content Placeholder 5">
            <a:extLst>
              <a:ext uri="{FF2B5EF4-FFF2-40B4-BE49-F238E27FC236}">
                <a16:creationId xmlns:a16="http://schemas.microsoft.com/office/drawing/2014/main" id="{A8EB316D-5024-4FFE-89CC-9BDF6A891712}"/>
              </a:ext>
            </a:extLst>
          </p:cNvPr>
          <p:cNvSpPr>
            <a:spLocks noGrp="1"/>
          </p:cNvSpPr>
          <p:nvPr>
            <p:ph sz="quarter" idx="14"/>
          </p:nvPr>
        </p:nvSpPr>
        <p:spPr>
          <a:xfrm>
            <a:off x="457200" y="1943229"/>
            <a:ext cx="8229600" cy="4034490"/>
          </a:xfrm>
        </p:spPr>
        <p:txBody>
          <a:bodyPr/>
          <a:lstStyle/>
          <a:p>
            <a:r>
              <a:rPr lang="en-US" altLang="en-US" sz="2800" dirty="0"/>
              <a:t>Current practice combines analysis, design, and implementation into a single process</a:t>
            </a:r>
          </a:p>
          <a:p>
            <a:endParaRPr lang="en-US" dirty="0"/>
          </a:p>
        </p:txBody>
      </p:sp>
    </p:spTree>
    <p:extLst>
      <p:ext uri="{BB962C8B-B14F-4D97-AF65-F5344CB8AC3E}">
        <p14:creationId xmlns:p14="http://schemas.microsoft.com/office/powerpoint/2010/main" val="5140096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4E21F-D8CE-40A9-8B7C-127932D42E1A}"/>
              </a:ext>
            </a:extLst>
          </p:cNvPr>
          <p:cNvSpPr>
            <a:spLocks noGrp="1"/>
          </p:cNvSpPr>
          <p:nvPr>
            <p:ph type="title"/>
          </p:nvPr>
        </p:nvSpPr>
        <p:spPr/>
        <p:txBody>
          <a:bodyPr/>
          <a:lstStyle/>
          <a:p>
            <a:r>
              <a:rPr lang="en-US" dirty="0"/>
              <a:t>Figure 1-7: Heart of Systems Development</a:t>
            </a:r>
          </a:p>
        </p:txBody>
      </p:sp>
      <p:pic>
        <p:nvPicPr>
          <p:cNvPr id="6" name="Content Placeholder 5">
            <a:extLst>
              <a:ext uri="{FF2B5EF4-FFF2-40B4-BE49-F238E27FC236}">
                <a16:creationId xmlns:a16="http://schemas.microsoft.com/office/drawing/2014/main" id="{B4E2C6D4-9A22-4FD3-A888-107B1A315BE8}"/>
              </a:ext>
            </a:extLst>
          </p:cNvPr>
          <p:cNvPicPr>
            <a:picLocks noGrp="1" noChangeAspect="1"/>
          </p:cNvPicPr>
          <p:nvPr>
            <p:ph sz="quarter" idx="13"/>
          </p:nvPr>
        </p:nvPicPr>
        <p:blipFill>
          <a:blip r:embed="rId2"/>
          <a:stretch>
            <a:fillRect/>
          </a:stretch>
        </p:blipFill>
        <p:spPr>
          <a:xfrm>
            <a:off x="2197680" y="1481138"/>
            <a:ext cx="4748639" cy="3900487"/>
          </a:xfrm>
        </p:spPr>
      </p:pic>
      <p:sp>
        <p:nvSpPr>
          <p:cNvPr id="4" name="Text Placeholder 3">
            <a:extLst>
              <a:ext uri="{FF2B5EF4-FFF2-40B4-BE49-F238E27FC236}">
                <a16:creationId xmlns:a16="http://schemas.microsoft.com/office/drawing/2014/main" id="{C281BE3D-E965-4ECC-BABB-7A3482ED619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218687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08E928-D0C4-4C95-A1CB-8B8089BA9760}"/>
              </a:ext>
            </a:extLst>
          </p:cNvPr>
          <p:cNvSpPr>
            <a:spLocks noGrp="1"/>
          </p:cNvSpPr>
          <p:nvPr>
            <p:ph type="title"/>
          </p:nvPr>
        </p:nvSpPr>
        <p:spPr/>
        <p:txBody>
          <a:bodyPr/>
          <a:lstStyle/>
          <a:p>
            <a:r>
              <a:rPr lang="en-US" dirty="0">
                <a:cs typeface="Calibri" panose="020F0502020204030204" pitchFamily="34" charset="0"/>
              </a:rPr>
              <a:t>The SDLC Traditional Waterfall Problems</a:t>
            </a:r>
            <a:endParaRPr lang="en-US" sz="2000" dirty="0"/>
          </a:p>
        </p:txBody>
      </p:sp>
      <p:sp>
        <p:nvSpPr>
          <p:cNvPr id="7" name="Content Placeholder 6">
            <a:extLst>
              <a:ext uri="{FF2B5EF4-FFF2-40B4-BE49-F238E27FC236}">
                <a16:creationId xmlns:a16="http://schemas.microsoft.com/office/drawing/2014/main" id="{B3EB4CEF-5A3E-4DEF-9A87-83EFA52845A8}"/>
              </a:ext>
            </a:extLst>
          </p:cNvPr>
          <p:cNvSpPr>
            <a:spLocks noGrp="1"/>
          </p:cNvSpPr>
          <p:nvPr>
            <p:ph sz="quarter" idx="14"/>
          </p:nvPr>
        </p:nvSpPr>
        <p:spPr>
          <a:xfrm>
            <a:off x="530942" y="1943228"/>
            <a:ext cx="8229600" cy="3984635"/>
          </a:xfrm>
        </p:spPr>
        <p:txBody>
          <a:bodyPr/>
          <a:lstStyle/>
          <a:p>
            <a:r>
              <a:rPr lang="en-US" altLang="en-US" sz="2800" dirty="0"/>
              <a:t>Once one phase ends another begins, going downhill until complete</a:t>
            </a:r>
          </a:p>
          <a:p>
            <a:r>
              <a:rPr lang="en-US" altLang="en-US" sz="2800" dirty="0"/>
              <a:t>Makes it difficult to go back</a:t>
            </a:r>
          </a:p>
          <a:p>
            <a:r>
              <a:rPr lang="en-US" altLang="en-US" sz="2800" dirty="0"/>
              <a:t>Results in great expense to make changes</a:t>
            </a:r>
          </a:p>
          <a:p>
            <a:r>
              <a:rPr lang="en-US" altLang="en-US" sz="2800" dirty="0"/>
              <a:t>Role of system users or customers narrowly defined</a:t>
            </a:r>
          </a:p>
          <a:p>
            <a:r>
              <a:rPr lang="en-US" altLang="en-US" sz="2800" dirty="0"/>
              <a:t>Focused on deadlines</a:t>
            </a:r>
          </a:p>
          <a:p>
            <a:endParaRPr lang="en-US" altLang="en-US" sz="2000" dirty="0"/>
          </a:p>
          <a:p>
            <a:pPr marL="101600" indent="0">
              <a:buNone/>
            </a:pPr>
            <a:endParaRPr lang="en-US" altLang="en-US" sz="2000" dirty="0"/>
          </a:p>
        </p:txBody>
      </p:sp>
      <p:sp>
        <p:nvSpPr>
          <p:cNvPr id="10" name="Text Placeholder 2">
            <a:extLst>
              <a:ext uri="{FF2B5EF4-FFF2-40B4-BE49-F238E27FC236}">
                <a16:creationId xmlns:a16="http://schemas.microsoft.com/office/drawing/2014/main" id="{E3EAC154-94DA-4256-A2F6-51DEB1747429}"/>
              </a:ext>
            </a:extLst>
          </p:cNvPr>
          <p:cNvSpPr txBox="1">
            <a:spLocks/>
          </p:cNvSpPr>
          <p:nvPr/>
        </p:nvSpPr>
        <p:spPr>
          <a:xfrm>
            <a:off x="457200" y="1426555"/>
            <a:ext cx="8229600" cy="40276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r>
              <a:rPr lang="en-US" sz="1600" b="1" dirty="0">
                <a:solidFill>
                  <a:srgbClr val="007FA3"/>
                </a:solidFill>
              </a:rPr>
              <a:t>1.2 </a:t>
            </a:r>
            <a:r>
              <a:rPr lang="en-US" sz="1600" dirty="0">
                <a:solidFill>
                  <a:srgbClr val="007FA3"/>
                </a:solidFill>
              </a:rPr>
              <a:t>Describe the information systems development life cycle (SDLC)</a:t>
            </a:r>
          </a:p>
          <a:p>
            <a:endParaRPr lang="en-US" dirty="0"/>
          </a:p>
        </p:txBody>
      </p:sp>
      <p:sp>
        <p:nvSpPr>
          <p:cNvPr id="11" name="Text Placeholder 2">
            <a:extLst>
              <a:ext uri="{FF2B5EF4-FFF2-40B4-BE49-F238E27FC236}">
                <a16:creationId xmlns:a16="http://schemas.microsoft.com/office/drawing/2014/main" id="{6AA06106-871B-4F2F-AF02-83588B5C10DA}"/>
              </a:ext>
            </a:extLst>
          </p:cNvPr>
          <p:cNvSpPr txBox="1">
            <a:spLocks/>
          </p:cNvSpPr>
          <p:nvPr/>
        </p:nvSpPr>
        <p:spPr>
          <a:xfrm>
            <a:off x="383458" y="5630028"/>
            <a:ext cx="2908382" cy="297835"/>
          </a:xfrm>
          <a:prstGeom prst="rect">
            <a:avLst/>
          </a:prstGeom>
          <a:noFill/>
          <a:ln>
            <a:noFill/>
          </a:ln>
        </p:spPr>
        <p:txBody>
          <a:bodyPr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7FA3"/>
              </a:buClr>
              <a:buSzPct val="100000"/>
              <a:buFont typeface="Arial"/>
              <a:buNone/>
              <a:defRPr sz="1200" b="0" i="0" u="none" strike="noStrike" cap="none">
                <a:solidFill>
                  <a:schemeClr val="dk1"/>
                </a:solidFill>
                <a:latin typeface="Arial"/>
                <a:ea typeface="Arial"/>
                <a:cs typeface="Arial"/>
                <a:sym typeface="Arial"/>
              </a:defRPr>
            </a:lvl1pPr>
            <a:lvl2pPr marL="0" marR="0" lvl="1"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2pPr>
            <a:lvl3pPr marL="0" marR="0" lvl="2" indent="0" algn="l" rtl="0">
              <a:lnSpc>
                <a:spcPct val="100000"/>
              </a:lnSpc>
              <a:spcBef>
                <a:spcPts val="0"/>
              </a:spcBef>
              <a:spcAft>
                <a:spcPts val="0"/>
              </a:spcAft>
              <a:buClr>
                <a:srgbClr val="007FA3"/>
              </a:buClr>
              <a:buSzPct val="100000"/>
              <a:buFont typeface="Noto Sans Symbols"/>
              <a:buNone/>
              <a:defRPr sz="1600" b="0" i="0" u="none" strike="noStrike" cap="none">
                <a:solidFill>
                  <a:schemeClr val="dk1"/>
                </a:solidFill>
                <a:latin typeface="Arial"/>
                <a:ea typeface="Arial"/>
                <a:cs typeface="Arial"/>
                <a:sym typeface="Arial"/>
              </a:defRPr>
            </a:lvl3pPr>
            <a:lvl4pPr marL="0" marR="0" lvl="3"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4pPr>
            <a:lvl5pPr marL="0" marR="0" lvl="4"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5pPr>
            <a:lvl6pPr marL="0" marR="0" lvl="5"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6pPr>
            <a:lvl7pPr marL="0" marR="0" lvl="6"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7pPr>
            <a:lvl8pPr marL="0" marR="0" lvl="7"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8pPr>
            <a:lvl9pPr marL="0" marR="0" lvl="8"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9pPr>
          </a:lstStyle>
          <a:p>
            <a:endParaRPr lang="en-US" dirty="0"/>
          </a:p>
        </p:txBody>
      </p:sp>
    </p:spTree>
    <p:extLst>
      <p:ext uri="{BB962C8B-B14F-4D97-AF65-F5344CB8AC3E}">
        <p14:creationId xmlns:p14="http://schemas.microsoft.com/office/powerpoint/2010/main" val="4146241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6D0B3-8B3C-46EB-B9B9-92B4C741BBC2}"/>
              </a:ext>
            </a:extLst>
          </p:cNvPr>
          <p:cNvSpPr>
            <a:spLocks noGrp="1"/>
          </p:cNvSpPr>
          <p:nvPr>
            <p:ph type="title"/>
          </p:nvPr>
        </p:nvSpPr>
        <p:spPr/>
        <p:txBody>
          <a:bodyPr/>
          <a:lstStyle/>
          <a:p>
            <a:r>
              <a:rPr lang="en-US" dirty="0"/>
              <a:t>Figure 1-8: Traditional Waterfall SDLC</a:t>
            </a:r>
          </a:p>
        </p:txBody>
      </p:sp>
      <p:pic>
        <p:nvPicPr>
          <p:cNvPr id="6" name="Content Placeholder 5">
            <a:extLst>
              <a:ext uri="{FF2B5EF4-FFF2-40B4-BE49-F238E27FC236}">
                <a16:creationId xmlns:a16="http://schemas.microsoft.com/office/drawing/2014/main" id="{18B1A1F2-41C8-42CA-9CC5-E29CA2A5F152}"/>
              </a:ext>
            </a:extLst>
          </p:cNvPr>
          <p:cNvPicPr>
            <a:picLocks noGrp="1" noChangeAspect="1"/>
          </p:cNvPicPr>
          <p:nvPr>
            <p:ph sz="quarter" idx="13"/>
          </p:nvPr>
        </p:nvPicPr>
        <p:blipFill>
          <a:blip r:embed="rId2"/>
          <a:stretch>
            <a:fillRect/>
          </a:stretch>
        </p:blipFill>
        <p:spPr>
          <a:xfrm>
            <a:off x="2311952" y="1478756"/>
            <a:ext cx="4520095" cy="3900487"/>
          </a:xfrm>
        </p:spPr>
      </p:pic>
      <p:sp>
        <p:nvSpPr>
          <p:cNvPr id="4" name="Text Placeholder 3">
            <a:extLst>
              <a:ext uri="{FF2B5EF4-FFF2-40B4-BE49-F238E27FC236}">
                <a16:creationId xmlns:a16="http://schemas.microsoft.com/office/drawing/2014/main" id="{9A9962AC-4AE2-44EA-8C98-A3B4209091A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601643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08E928-D0C4-4C95-A1CB-8B8089BA9760}"/>
              </a:ext>
            </a:extLst>
          </p:cNvPr>
          <p:cNvSpPr>
            <a:spLocks noGrp="1"/>
          </p:cNvSpPr>
          <p:nvPr>
            <p:ph type="title"/>
          </p:nvPr>
        </p:nvSpPr>
        <p:spPr/>
        <p:txBody>
          <a:bodyPr/>
          <a:lstStyle/>
          <a:p>
            <a:r>
              <a:rPr lang="en-US" dirty="0">
                <a:cs typeface="Calibri" panose="020F0502020204030204" pitchFamily="34" charset="0"/>
              </a:rPr>
              <a:t>Agile Methodologies</a:t>
            </a:r>
            <a:endParaRPr lang="en-US" dirty="0"/>
          </a:p>
        </p:txBody>
      </p:sp>
      <p:sp>
        <p:nvSpPr>
          <p:cNvPr id="10" name="Text Placeholder 2">
            <a:extLst>
              <a:ext uri="{FF2B5EF4-FFF2-40B4-BE49-F238E27FC236}">
                <a16:creationId xmlns:a16="http://schemas.microsoft.com/office/drawing/2014/main" id="{E3EAC154-94DA-4256-A2F6-51DEB1747429}"/>
              </a:ext>
            </a:extLst>
          </p:cNvPr>
          <p:cNvSpPr txBox="1">
            <a:spLocks/>
          </p:cNvSpPr>
          <p:nvPr/>
        </p:nvSpPr>
        <p:spPr>
          <a:xfrm>
            <a:off x="457200" y="1426555"/>
            <a:ext cx="8229600" cy="40276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r>
              <a:rPr lang="en-US" sz="1600" b="1" dirty="0">
                <a:solidFill>
                  <a:srgbClr val="007FA3"/>
                </a:solidFill>
              </a:rPr>
              <a:t>1.3</a:t>
            </a:r>
            <a:r>
              <a:rPr lang="en-US" sz="1600" dirty="0">
                <a:solidFill>
                  <a:srgbClr val="007FA3"/>
                </a:solidFill>
              </a:rPr>
              <a:t> Describe the agile methodologies, eXtreme Programming, and Scrum</a:t>
            </a:r>
          </a:p>
          <a:p>
            <a:endParaRPr lang="en-US" dirty="0"/>
          </a:p>
        </p:txBody>
      </p:sp>
      <p:sp>
        <p:nvSpPr>
          <p:cNvPr id="3" name="Content Placeholder 2">
            <a:extLst>
              <a:ext uri="{FF2B5EF4-FFF2-40B4-BE49-F238E27FC236}">
                <a16:creationId xmlns:a16="http://schemas.microsoft.com/office/drawing/2014/main" id="{26C30B26-B4A4-4BD8-81A5-37C09D752FFA}"/>
              </a:ext>
            </a:extLst>
          </p:cNvPr>
          <p:cNvSpPr>
            <a:spLocks noGrp="1"/>
          </p:cNvSpPr>
          <p:nvPr>
            <p:ph sz="quarter" idx="13"/>
          </p:nvPr>
        </p:nvSpPr>
        <p:spPr>
          <a:xfrm>
            <a:off x="457200" y="1943229"/>
            <a:ext cx="8229600" cy="4083944"/>
          </a:xfrm>
        </p:spPr>
        <p:txBody>
          <a:bodyPr/>
          <a:lstStyle/>
          <a:p>
            <a:r>
              <a:rPr lang="en-US" sz="2800" dirty="0"/>
              <a:t>Agile methodologies share three key principles:</a:t>
            </a:r>
          </a:p>
          <a:p>
            <a:pPr marL="1045718" lvl="1" indent="-457200">
              <a:buFont typeface="+mj-lt"/>
              <a:buAutoNum type="arabicPeriod"/>
            </a:pPr>
            <a:r>
              <a:rPr lang="en-US" sz="2400" dirty="0"/>
              <a:t>A focus on adaptive rather than predictive methodologies</a:t>
            </a:r>
          </a:p>
          <a:p>
            <a:pPr marL="1045718" lvl="1" indent="-457200">
              <a:buFont typeface="+mj-lt"/>
              <a:buAutoNum type="arabicPeriod"/>
            </a:pPr>
            <a:r>
              <a:rPr lang="en-US" sz="2400" dirty="0"/>
              <a:t>A focus on people rather than roles </a:t>
            </a:r>
          </a:p>
          <a:p>
            <a:pPr marL="1045718" lvl="1" indent="-457200">
              <a:buFont typeface="+mj-lt"/>
              <a:buAutoNum type="arabicPeriod"/>
            </a:pPr>
            <a:r>
              <a:rPr lang="en-US" sz="2400" dirty="0"/>
              <a:t>A focus on self-adaptive processes</a:t>
            </a:r>
          </a:p>
          <a:p>
            <a:pPr lvl="1"/>
            <a:endParaRPr lang="en-US" sz="2000" dirty="0"/>
          </a:p>
        </p:txBody>
      </p:sp>
    </p:spTree>
    <p:extLst>
      <p:ext uri="{BB962C8B-B14F-4D97-AF65-F5344CB8AC3E}">
        <p14:creationId xmlns:p14="http://schemas.microsoft.com/office/powerpoint/2010/main" val="13687942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08E928-D0C4-4C95-A1CB-8B8089BA9760}"/>
              </a:ext>
            </a:extLst>
          </p:cNvPr>
          <p:cNvSpPr>
            <a:spLocks noGrp="1"/>
          </p:cNvSpPr>
          <p:nvPr>
            <p:ph type="title"/>
          </p:nvPr>
        </p:nvSpPr>
        <p:spPr/>
        <p:txBody>
          <a:bodyPr/>
          <a:lstStyle/>
          <a:p>
            <a:r>
              <a:rPr lang="en-US" dirty="0">
                <a:cs typeface="Calibri" panose="020F0502020204030204" pitchFamily="34" charset="0"/>
              </a:rPr>
              <a:t>Table 1-2: The Agile Manifesto </a:t>
            </a:r>
            <a:r>
              <a:rPr lang="en-US" sz="2000" dirty="0">
                <a:cs typeface="Calibri" panose="020F0502020204030204" pitchFamily="34" charset="0"/>
              </a:rPr>
              <a:t>(1 of 3)</a:t>
            </a:r>
            <a:endParaRPr lang="en-US" sz="2000" dirty="0"/>
          </a:p>
        </p:txBody>
      </p:sp>
      <p:sp>
        <p:nvSpPr>
          <p:cNvPr id="3" name="Content Placeholder 2">
            <a:extLst>
              <a:ext uri="{FF2B5EF4-FFF2-40B4-BE49-F238E27FC236}">
                <a16:creationId xmlns:a16="http://schemas.microsoft.com/office/drawing/2014/main" id="{26C30B26-B4A4-4BD8-81A5-37C09D752FFA}"/>
              </a:ext>
            </a:extLst>
          </p:cNvPr>
          <p:cNvSpPr>
            <a:spLocks noGrp="1"/>
          </p:cNvSpPr>
          <p:nvPr>
            <p:ph sz="quarter" idx="13"/>
          </p:nvPr>
        </p:nvSpPr>
        <p:spPr>
          <a:xfrm>
            <a:off x="457200" y="1421507"/>
            <a:ext cx="8229600" cy="4403089"/>
          </a:xfrm>
        </p:spPr>
        <p:txBody>
          <a:bodyPr/>
          <a:lstStyle/>
          <a:p>
            <a:r>
              <a:rPr lang="en-US" sz="2200" dirty="0"/>
              <a:t>The agile methodologies group argues that software development methodologies adapted from engineering generally do not fit with real world software development</a:t>
            </a:r>
          </a:p>
          <a:p>
            <a:r>
              <a:rPr lang="en-US" sz="2200" b="1" dirty="0"/>
              <a:t>The Manifesto for Agile Software Development </a:t>
            </a:r>
            <a:r>
              <a:rPr lang="en-US" sz="1800" dirty="0"/>
              <a:t>(Table 1-2)</a:t>
            </a:r>
          </a:p>
          <a:p>
            <a:pPr lvl="1"/>
            <a:r>
              <a:rPr lang="en-US" sz="2000" dirty="0"/>
              <a:t>Seventeen anarchists agree</a:t>
            </a:r>
          </a:p>
          <a:p>
            <a:pPr lvl="1"/>
            <a:r>
              <a:rPr lang="en-US" sz="2000" dirty="0"/>
              <a:t>We are uncovering better ways of developing software by doing it and helping others do it. Through this work we have come to value:</a:t>
            </a:r>
          </a:p>
          <a:p>
            <a:pPr lvl="2"/>
            <a:r>
              <a:rPr lang="en-US" dirty="0">
                <a:solidFill>
                  <a:srgbClr val="7030A0"/>
                </a:solidFill>
              </a:rPr>
              <a:t>Individuals and interactions </a:t>
            </a:r>
            <a:r>
              <a:rPr lang="en-US" dirty="0"/>
              <a:t>over </a:t>
            </a:r>
            <a:r>
              <a:rPr lang="en-US" dirty="0">
                <a:solidFill>
                  <a:srgbClr val="FF0000"/>
                </a:solidFill>
              </a:rPr>
              <a:t>processes and tools</a:t>
            </a:r>
          </a:p>
          <a:p>
            <a:pPr lvl="2"/>
            <a:r>
              <a:rPr lang="en-US" dirty="0">
                <a:solidFill>
                  <a:srgbClr val="7030A0"/>
                </a:solidFill>
              </a:rPr>
              <a:t>Working software </a:t>
            </a:r>
            <a:r>
              <a:rPr lang="en-US" dirty="0"/>
              <a:t>over </a:t>
            </a:r>
            <a:r>
              <a:rPr lang="en-US" dirty="0">
                <a:solidFill>
                  <a:srgbClr val="FF0000"/>
                </a:solidFill>
              </a:rPr>
              <a:t>comprehensive documentation</a:t>
            </a:r>
          </a:p>
          <a:p>
            <a:pPr lvl="2"/>
            <a:r>
              <a:rPr lang="en-US" dirty="0">
                <a:solidFill>
                  <a:srgbClr val="7030A0"/>
                </a:solidFill>
              </a:rPr>
              <a:t>Customer collaboration </a:t>
            </a:r>
            <a:r>
              <a:rPr lang="en-US" dirty="0"/>
              <a:t>over </a:t>
            </a:r>
            <a:r>
              <a:rPr lang="en-US" dirty="0">
                <a:solidFill>
                  <a:srgbClr val="FF0000"/>
                </a:solidFill>
              </a:rPr>
              <a:t>contract negotiation</a:t>
            </a:r>
          </a:p>
          <a:p>
            <a:pPr lvl="2"/>
            <a:r>
              <a:rPr lang="en-US" dirty="0">
                <a:solidFill>
                  <a:srgbClr val="7030A0"/>
                </a:solidFill>
              </a:rPr>
              <a:t>Responding to change </a:t>
            </a:r>
            <a:r>
              <a:rPr lang="en-US" dirty="0"/>
              <a:t>over </a:t>
            </a:r>
            <a:r>
              <a:rPr lang="en-US" dirty="0">
                <a:solidFill>
                  <a:srgbClr val="FF0000"/>
                </a:solidFill>
              </a:rPr>
              <a:t>following a plan</a:t>
            </a:r>
          </a:p>
          <a:p>
            <a:pPr lvl="2"/>
            <a:endParaRPr lang="en-US" sz="2000" dirty="0"/>
          </a:p>
          <a:p>
            <a:pPr lvl="2"/>
            <a:endParaRPr lang="en-US" sz="2200" dirty="0"/>
          </a:p>
        </p:txBody>
      </p:sp>
    </p:spTree>
    <p:extLst>
      <p:ext uri="{BB962C8B-B14F-4D97-AF65-F5344CB8AC3E}">
        <p14:creationId xmlns:p14="http://schemas.microsoft.com/office/powerpoint/2010/main" val="3989893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08E928-D0C4-4C95-A1CB-8B8089BA9760}"/>
              </a:ext>
            </a:extLst>
          </p:cNvPr>
          <p:cNvSpPr>
            <a:spLocks noGrp="1"/>
          </p:cNvSpPr>
          <p:nvPr>
            <p:ph type="title"/>
          </p:nvPr>
        </p:nvSpPr>
        <p:spPr/>
        <p:txBody>
          <a:bodyPr/>
          <a:lstStyle/>
          <a:p>
            <a:r>
              <a:rPr lang="en-US" dirty="0">
                <a:cs typeface="Calibri" panose="020F0502020204030204" pitchFamily="34" charset="0"/>
              </a:rPr>
              <a:t>Table 1-2: The Agile Manifesto </a:t>
            </a:r>
            <a:r>
              <a:rPr lang="en-US" sz="2000" dirty="0">
                <a:cs typeface="Calibri" panose="020F0502020204030204" pitchFamily="34" charset="0"/>
              </a:rPr>
              <a:t>(2 of 3)</a:t>
            </a:r>
            <a:endParaRPr lang="en-US" sz="2000" dirty="0"/>
          </a:p>
        </p:txBody>
      </p:sp>
      <p:sp>
        <p:nvSpPr>
          <p:cNvPr id="3" name="Content Placeholder 2">
            <a:extLst>
              <a:ext uri="{FF2B5EF4-FFF2-40B4-BE49-F238E27FC236}">
                <a16:creationId xmlns:a16="http://schemas.microsoft.com/office/drawing/2014/main" id="{26C30B26-B4A4-4BD8-81A5-37C09D752FFA}"/>
              </a:ext>
            </a:extLst>
          </p:cNvPr>
          <p:cNvSpPr>
            <a:spLocks noGrp="1"/>
          </p:cNvSpPr>
          <p:nvPr>
            <p:ph sz="quarter" idx="13"/>
          </p:nvPr>
        </p:nvSpPr>
        <p:spPr>
          <a:xfrm>
            <a:off x="457200" y="1624246"/>
            <a:ext cx="8229600" cy="4513118"/>
          </a:xfrm>
        </p:spPr>
        <p:txBody>
          <a:bodyPr/>
          <a:lstStyle/>
          <a:p>
            <a:pPr lvl="1"/>
            <a:r>
              <a:rPr lang="en-US" sz="2000" dirty="0"/>
              <a:t>That is, while we value the items on the right, we value the items on the left more. We follow the following principles:</a:t>
            </a:r>
          </a:p>
          <a:p>
            <a:pPr lvl="2"/>
            <a:r>
              <a:rPr lang="en-US" dirty="0"/>
              <a:t>The highest priority is to </a:t>
            </a:r>
            <a:r>
              <a:rPr lang="en-US" dirty="0">
                <a:solidFill>
                  <a:srgbClr val="7030A0"/>
                </a:solidFill>
              </a:rPr>
              <a:t>satisfy the customer </a:t>
            </a:r>
            <a:r>
              <a:rPr lang="en-US" dirty="0"/>
              <a:t>through early and continuous delivery of valuable software.</a:t>
            </a:r>
          </a:p>
          <a:p>
            <a:pPr lvl="2"/>
            <a:r>
              <a:rPr lang="en-US" dirty="0"/>
              <a:t>Welcome </a:t>
            </a:r>
            <a:r>
              <a:rPr lang="en-US" dirty="0">
                <a:solidFill>
                  <a:srgbClr val="7030A0"/>
                </a:solidFill>
              </a:rPr>
              <a:t>changing requirements</a:t>
            </a:r>
            <a:r>
              <a:rPr lang="en-US" dirty="0"/>
              <a:t>, even late in development. Agile processes harness change for the customer’s competitive advantage.</a:t>
            </a:r>
          </a:p>
          <a:p>
            <a:pPr lvl="2"/>
            <a:r>
              <a:rPr lang="en-US" dirty="0"/>
              <a:t>Deliver </a:t>
            </a:r>
            <a:r>
              <a:rPr lang="en-US" dirty="0">
                <a:solidFill>
                  <a:srgbClr val="7030A0"/>
                </a:solidFill>
              </a:rPr>
              <a:t>working software </a:t>
            </a:r>
            <a:r>
              <a:rPr lang="en-US" dirty="0"/>
              <a:t>frequently, from a couple of weeks to a couple of months, with a preference to the shorter timescale.</a:t>
            </a:r>
          </a:p>
          <a:p>
            <a:pPr lvl="2"/>
            <a:r>
              <a:rPr lang="en-US" dirty="0"/>
              <a:t>Businesspeople and developers </a:t>
            </a:r>
            <a:r>
              <a:rPr lang="en-US" dirty="0">
                <a:solidFill>
                  <a:srgbClr val="7030A0"/>
                </a:solidFill>
              </a:rPr>
              <a:t>work together </a:t>
            </a:r>
            <a:r>
              <a:rPr lang="en-US" dirty="0"/>
              <a:t>daily throughout the project.</a:t>
            </a:r>
          </a:p>
          <a:p>
            <a:pPr lvl="2"/>
            <a:r>
              <a:rPr lang="en-US" dirty="0"/>
              <a:t>Build projects around </a:t>
            </a:r>
            <a:r>
              <a:rPr lang="en-US" dirty="0">
                <a:solidFill>
                  <a:srgbClr val="7030A0"/>
                </a:solidFill>
              </a:rPr>
              <a:t>motivated individuals</a:t>
            </a:r>
            <a:r>
              <a:rPr lang="en-US" dirty="0"/>
              <a:t>. Give them the environment and support they need and trust them to get the job done.</a:t>
            </a:r>
          </a:p>
          <a:p>
            <a:pPr lvl="2"/>
            <a:r>
              <a:rPr lang="en-US" dirty="0"/>
              <a:t>The most </a:t>
            </a:r>
            <a:r>
              <a:rPr lang="en-US" dirty="0">
                <a:solidFill>
                  <a:srgbClr val="7030A0"/>
                </a:solidFill>
              </a:rPr>
              <a:t>efficien</a:t>
            </a:r>
            <a:r>
              <a:rPr lang="en-US" dirty="0"/>
              <a:t>t and </a:t>
            </a:r>
            <a:r>
              <a:rPr lang="en-US" dirty="0">
                <a:solidFill>
                  <a:srgbClr val="7030A0"/>
                </a:solidFill>
              </a:rPr>
              <a:t>effective</a:t>
            </a:r>
            <a:r>
              <a:rPr lang="en-US" dirty="0"/>
              <a:t> method of conveying information to and within a development team is </a:t>
            </a:r>
            <a:r>
              <a:rPr lang="en-US" dirty="0">
                <a:solidFill>
                  <a:srgbClr val="7030A0"/>
                </a:solidFill>
              </a:rPr>
              <a:t>face-to-face conversation</a:t>
            </a:r>
            <a:r>
              <a:rPr lang="en-US" dirty="0"/>
              <a:t>.</a:t>
            </a:r>
          </a:p>
          <a:p>
            <a:pPr lvl="2"/>
            <a:r>
              <a:rPr lang="en-US" dirty="0">
                <a:solidFill>
                  <a:srgbClr val="7030A0"/>
                </a:solidFill>
              </a:rPr>
              <a:t>Working software </a:t>
            </a:r>
            <a:r>
              <a:rPr lang="en-US" dirty="0"/>
              <a:t>is the primary measure of progress.</a:t>
            </a:r>
          </a:p>
          <a:p>
            <a:pPr lvl="2"/>
            <a:endParaRPr lang="en-US" dirty="0"/>
          </a:p>
          <a:p>
            <a:pPr lvl="2"/>
            <a:endParaRPr lang="en-US" sz="2200" dirty="0"/>
          </a:p>
        </p:txBody>
      </p:sp>
    </p:spTree>
    <p:extLst>
      <p:ext uri="{BB962C8B-B14F-4D97-AF65-F5344CB8AC3E}">
        <p14:creationId xmlns:p14="http://schemas.microsoft.com/office/powerpoint/2010/main" val="31698036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08E928-D0C4-4C95-A1CB-8B8089BA9760}"/>
              </a:ext>
            </a:extLst>
          </p:cNvPr>
          <p:cNvSpPr>
            <a:spLocks noGrp="1"/>
          </p:cNvSpPr>
          <p:nvPr>
            <p:ph type="title"/>
          </p:nvPr>
        </p:nvSpPr>
        <p:spPr>
          <a:xfrm>
            <a:off x="457200" y="215372"/>
            <a:ext cx="8229600" cy="640972"/>
          </a:xfrm>
        </p:spPr>
        <p:txBody>
          <a:bodyPr/>
          <a:lstStyle/>
          <a:p>
            <a:r>
              <a:rPr lang="en-US" dirty="0">
                <a:cs typeface="Calibri" panose="020F0502020204030204" pitchFamily="34" charset="0"/>
              </a:rPr>
              <a:t>Table 1-2: The Agile Manifesto </a:t>
            </a:r>
            <a:r>
              <a:rPr lang="en-US" sz="2000" dirty="0">
                <a:cs typeface="Calibri" panose="020F0502020204030204" pitchFamily="34" charset="0"/>
              </a:rPr>
              <a:t>(3 of 3)</a:t>
            </a:r>
            <a:endParaRPr lang="en-US" sz="2000" dirty="0"/>
          </a:p>
        </p:txBody>
      </p:sp>
      <p:sp>
        <p:nvSpPr>
          <p:cNvPr id="3" name="Content Placeholder 2">
            <a:extLst>
              <a:ext uri="{FF2B5EF4-FFF2-40B4-BE49-F238E27FC236}">
                <a16:creationId xmlns:a16="http://schemas.microsoft.com/office/drawing/2014/main" id="{26C30B26-B4A4-4BD8-81A5-37C09D752FFA}"/>
              </a:ext>
            </a:extLst>
          </p:cNvPr>
          <p:cNvSpPr>
            <a:spLocks noGrp="1"/>
          </p:cNvSpPr>
          <p:nvPr>
            <p:ph sz="quarter" idx="13"/>
          </p:nvPr>
        </p:nvSpPr>
        <p:spPr>
          <a:xfrm>
            <a:off x="0" y="1022365"/>
            <a:ext cx="8229600" cy="3709726"/>
          </a:xfrm>
        </p:spPr>
        <p:txBody>
          <a:bodyPr/>
          <a:lstStyle/>
          <a:p>
            <a:pPr lvl="2"/>
            <a:r>
              <a:rPr lang="en-US" sz="2000" dirty="0"/>
              <a:t>Continuous attention to </a:t>
            </a:r>
            <a:r>
              <a:rPr lang="en-US" sz="2000" dirty="0">
                <a:solidFill>
                  <a:srgbClr val="7030A0"/>
                </a:solidFill>
              </a:rPr>
              <a:t>technical excellence </a:t>
            </a:r>
            <a:r>
              <a:rPr lang="en-US" sz="2000" dirty="0"/>
              <a:t>and </a:t>
            </a:r>
            <a:r>
              <a:rPr lang="en-US" sz="2000" dirty="0">
                <a:solidFill>
                  <a:srgbClr val="7030A0"/>
                </a:solidFill>
              </a:rPr>
              <a:t>good design </a:t>
            </a:r>
            <a:r>
              <a:rPr lang="en-US" sz="2000" dirty="0"/>
              <a:t>enhances </a:t>
            </a:r>
            <a:r>
              <a:rPr lang="en-US" sz="2000" dirty="0" smtClean="0"/>
              <a:t>agility (easily) .</a:t>
            </a:r>
            <a:endParaRPr lang="en-US" sz="2000" dirty="0"/>
          </a:p>
          <a:p>
            <a:pPr lvl="2"/>
            <a:r>
              <a:rPr lang="en-US" sz="2000" dirty="0"/>
              <a:t>Agile processes promote </a:t>
            </a:r>
            <a:r>
              <a:rPr lang="en-US" sz="2000" dirty="0">
                <a:solidFill>
                  <a:srgbClr val="7030A0"/>
                </a:solidFill>
              </a:rPr>
              <a:t>sustainable development</a:t>
            </a:r>
            <a:r>
              <a:rPr lang="en-US" sz="2000" dirty="0"/>
              <a:t>. The sponsors, developers, and users should be able to maintain a constant pace indefinitely.</a:t>
            </a:r>
          </a:p>
          <a:p>
            <a:pPr lvl="2"/>
            <a:r>
              <a:rPr lang="en-US" sz="2000" dirty="0">
                <a:solidFill>
                  <a:srgbClr val="7030A0"/>
                </a:solidFill>
              </a:rPr>
              <a:t>Simplicity</a:t>
            </a:r>
            <a:r>
              <a:rPr lang="en-US" sz="2000" dirty="0"/>
              <a:t>—the art of maximizing the amount of work not done—is essential.</a:t>
            </a:r>
          </a:p>
          <a:p>
            <a:pPr lvl="2"/>
            <a:r>
              <a:rPr lang="en-US" sz="2000" dirty="0"/>
              <a:t>The best architectures, requirements, and designs emerge from </a:t>
            </a:r>
            <a:r>
              <a:rPr lang="en-US" sz="2000" dirty="0">
                <a:solidFill>
                  <a:srgbClr val="7030A0"/>
                </a:solidFill>
              </a:rPr>
              <a:t>self-organizing</a:t>
            </a:r>
            <a:r>
              <a:rPr lang="en-US" sz="2000" dirty="0"/>
              <a:t> teams.</a:t>
            </a:r>
          </a:p>
          <a:p>
            <a:pPr lvl="2"/>
            <a:r>
              <a:rPr lang="en-US" sz="2000" dirty="0"/>
              <a:t>At regular intervals, the team </a:t>
            </a:r>
            <a:r>
              <a:rPr lang="en-US" sz="2000" dirty="0">
                <a:solidFill>
                  <a:srgbClr val="7030A0"/>
                </a:solidFill>
              </a:rPr>
              <a:t>reflects</a:t>
            </a:r>
            <a:r>
              <a:rPr lang="en-US" sz="2000" dirty="0"/>
              <a:t> on how to become more effective, then tunes and adjusts its behavior accordingly.</a:t>
            </a:r>
          </a:p>
          <a:p>
            <a:pPr lvl="2"/>
            <a:endParaRPr lang="en-US" sz="2200" dirty="0"/>
          </a:p>
        </p:txBody>
      </p:sp>
      <p:sp>
        <p:nvSpPr>
          <p:cNvPr id="6" name="Text Placeholder 2">
            <a:extLst>
              <a:ext uri="{FF2B5EF4-FFF2-40B4-BE49-F238E27FC236}">
                <a16:creationId xmlns:a16="http://schemas.microsoft.com/office/drawing/2014/main" id="{D9BC2AB0-C0FD-46E1-8C82-F099258F69D9}"/>
              </a:ext>
            </a:extLst>
          </p:cNvPr>
          <p:cNvSpPr txBox="1">
            <a:spLocks/>
          </p:cNvSpPr>
          <p:nvPr/>
        </p:nvSpPr>
        <p:spPr>
          <a:xfrm>
            <a:off x="508379" y="5191515"/>
            <a:ext cx="8127242" cy="968388"/>
          </a:xfrm>
          <a:prstGeom prst="rect">
            <a:avLst/>
          </a:prstGeom>
          <a:noFill/>
          <a:ln>
            <a:noFill/>
          </a:ln>
        </p:spPr>
        <p:txBody>
          <a:bodyPr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7FA3"/>
              </a:buClr>
              <a:buSzPct val="100000"/>
              <a:buFont typeface="Arial"/>
              <a:buNone/>
              <a:defRPr sz="1200" b="0" i="0" u="none" strike="noStrike" cap="none">
                <a:solidFill>
                  <a:schemeClr val="dk1"/>
                </a:solidFill>
                <a:latin typeface="Arial"/>
                <a:ea typeface="Arial"/>
                <a:cs typeface="Arial"/>
                <a:sym typeface="Arial"/>
              </a:defRPr>
            </a:lvl1pPr>
            <a:lvl2pPr marL="0" marR="0" lvl="1"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2pPr>
            <a:lvl3pPr marL="0" marR="0" lvl="2" indent="0" algn="l" rtl="0">
              <a:lnSpc>
                <a:spcPct val="100000"/>
              </a:lnSpc>
              <a:spcBef>
                <a:spcPts val="0"/>
              </a:spcBef>
              <a:spcAft>
                <a:spcPts val="0"/>
              </a:spcAft>
              <a:buClr>
                <a:srgbClr val="007FA3"/>
              </a:buClr>
              <a:buSzPct val="100000"/>
              <a:buFont typeface="Noto Sans Symbols"/>
              <a:buNone/>
              <a:defRPr sz="1600" b="0" i="0" u="none" strike="noStrike" cap="none">
                <a:solidFill>
                  <a:schemeClr val="dk1"/>
                </a:solidFill>
                <a:latin typeface="Arial"/>
                <a:ea typeface="Arial"/>
                <a:cs typeface="Arial"/>
                <a:sym typeface="Arial"/>
              </a:defRPr>
            </a:lvl3pPr>
            <a:lvl4pPr marL="0" marR="0" lvl="3"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4pPr>
            <a:lvl5pPr marL="0" marR="0" lvl="4"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5pPr>
            <a:lvl6pPr marL="0" marR="0" lvl="5"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6pPr>
            <a:lvl7pPr marL="0" marR="0" lvl="6"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7pPr>
            <a:lvl8pPr marL="0" marR="0" lvl="7"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8pPr>
            <a:lvl9pPr marL="0" marR="0" lvl="8"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9pPr>
          </a:lstStyle>
          <a:p>
            <a:r>
              <a:rPr lang="en-US" sz="1400" dirty="0"/>
              <a:t>--Kent Beck, Mike Beedle, Are van Bennekum, Alistair Cockburn, Ward Cunningham, Martin Fowler, James Grenning, Jim Highsmith, Andrew Hunt, Ron Jefferies, Jon Kern, Brian Marick, Robert C. Martin, Steve Mellor, Ken Schwaber, Jeff Sutherland, Dave Thomas    (</a:t>
            </a:r>
            <a:r>
              <a:rPr lang="en-US" sz="1400" i="1" dirty="0"/>
              <a:t>www.AgileAlliance.org</a:t>
            </a:r>
            <a:r>
              <a:rPr lang="en-US" sz="1400" dirty="0"/>
              <a:t>)</a:t>
            </a:r>
          </a:p>
          <a:p>
            <a:endParaRPr lang="en-US" dirty="0"/>
          </a:p>
        </p:txBody>
      </p:sp>
    </p:spTree>
    <p:extLst>
      <p:ext uri="{BB962C8B-B14F-4D97-AF65-F5344CB8AC3E}">
        <p14:creationId xmlns:p14="http://schemas.microsoft.com/office/powerpoint/2010/main" val="31033879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08E928-D0C4-4C95-A1CB-8B8089BA9760}"/>
              </a:ext>
            </a:extLst>
          </p:cNvPr>
          <p:cNvSpPr>
            <a:spLocks noGrp="1"/>
          </p:cNvSpPr>
          <p:nvPr>
            <p:ph type="title"/>
          </p:nvPr>
        </p:nvSpPr>
        <p:spPr/>
        <p:txBody>
          <a:bodyPr/>
          <a:lstStyle/>
          <a:p>
            <a:r>
              <a:rPr lang="en-US" dirty="0">
                <a:cs typeface="Calibri" panose="020F0502020204030204" pitchFamily="34" charset="0"/>
              </a:rPr>
              <a:t>Agile Methodologies—Not for Every Project</a:t>
            </a:r>
            <a:endParaRPr lang="en-US" sz="2000" dirty="0"/>
          </a:p>
        </p:txBody>
      </p:sp>
      <p:sp>
        <p:nvSpPr>
          <p:cNvPr id="10" name="Text Placeholder 2">
            <a:extLst>
              <a:ext uri="{FF2B5EF4-FFF2-40B4-BE49-F238E27FC236}">
                <a16:creationId xmlns:a16="http://schemas.microsoft.com/office/drawing/2014/main" id="{E3EAC154-94DA-4256-A2F6-51DEB1747429}"/>
              </a:ext>
            </a:extLst>
          </p:cNvPr>
          <p:cNvSpPr txBox="1">
            <a:spLocks/>
          </p:cNvSpPr>
          <p:nvPr/>
        </p:nvSpPr>
        <p:spPr>
          <a:xfrm>
            <a:off x="457200" y="1426555"/>
            <a:ext cx="8229600" cy="40276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r>
              <a:rPr lang="en-US" sz="1600" b="1" dirty="0">
                <a:solidFill>
                  <a:srgbClr val="007FA3"/>
                </a:solidFill>
              </a:rPr>
              <a:t>1.3</a:t>
            </a:r>
            <a:r>
              <a:rPr lang="en-US" sz="1600" dirty="0">
                <a:solidFill>
                  <a:srgbClr val="007FA3"/>
                </a:solidFill>
              </a:rPr>
              <a:t> Describe the agile methodologies, eXtreme Programming, and Scrum</a:t>
            </a:r>
          </a:p>
          <a:p>
            <a:endParaRPr lang="en-US" dirty="0"/>
          </a:p>
        </p:txBody>
      </p:sp>
      <p:sp>
        <p:nvSpPr>
          <p:cNvPr id="3" name="Content Placeholder 2">
            <a:extLst>
              <a:ext uri="{FF2B5EF4-FFF2-40B4-BE49-F238E27FC236}">
                <a16:creationId xmlns:a16="http://schemas.microsoft.com/office/drawing/2014/main" id="{26C30B26-B4A4-4BD8-81A5-37C09D752FFA}"/>
              </a:ext>
            </a:extLst>
          </p:cNvPr>
          <p:cNvSpPr>
            <a:spLocks noGrp="1"/>
          </p:cNvSpPr>
          <p:nvPr>
            <p:ph sz="quarter" idx="13"/>
          </p:nvPr>
        </p:nvSpPr>
        <p:spPr>
          <a:xfrm>
            <a:off x="457200" y="1943228"/>
            <a:ext cx="8229600" cy="4405321"/>
          </a:xfrm>
        </p:spPr>
        <p:txBody>
          <a:bodyPr/>
          <a:lstStyle/>
          <a:p>
            <a:r>
              <a:rPr lang="en-US" sz="2800" dirty="0"/>
              <a:t>Agile methodologies are not for everyone</a:t>
            </a:r>
          </a:p>
          <a:p>
            <a:r>
              <a:rPr lang="en-US" sz="2800" dirty="0"/>
              <a:t>Fowler recommends an agile process if your project involves</a:t>
            </a:r>
          </a:p>
          <a:p>
            <a:pPr lvl="1"/>
            <a:r>
              <a:rPr lang="en-US" sz="2400" dirty="0"/>
              <a:t>unpredictable or dynamic requirements</a:t>
            </a:r>
          </a:p>
          <a:p>
            <a:pPr lvl="1"/>
            <a:r>
              <a:rPr lang="en-US" sz="2400" dirty="0"/>
              <a:t>responsible and motivated developers</a:t>
            </a:r>
          </a:p>
          <a:p>
            <a:pPr lvl="1"/>
            <a:r>
              <a:rPr lang="en-US" sz="2400" dirty="0"/>
              <a:t>customers who understand the process and will get involved</a:t>
            </a:r>
          </a:p>
        </p:txBody>
      </p:sp>
    </p:spTree>
    <p:extLst>
      <p:ext uri="{BB962C8B-B14F-4D97-AF65-F5344CB8AC3E}">
        <p14:creationId xmlns:p14="http://schemas.microsoft.com/office/powerpoint/2010/main" val="21180028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08E928-D0C4-4C95-A1CB-8B8089BA9760}"/>
              </a:ext>
            </a:extLst>
          </p:cNvPr>
          <p:cNvSpPr>
            <a:spLocks noGrp="1"/>
          </p:cNvSpPr>
          <p:nvPr>
            <p:ph type="title"/>
          </p:nvPr>
        </p:nvSpPr>
        <p:spPr/>
        <p:txBody>
          <a:bodyPr/>
          <a:lstStyle/>
          <a:p>
            <a:r>
              <a:rPr lang="en-US" sz="2400" dirty="0">
                <a:cs typeface="Calibri" panose="020F0502020204030204" pitchFamily="34" charset="0"/>
              </a:rPr>
              <a:t>Table 1-3: Five Critical Factors that Distinguish Agile and Traditional Approaches to System Development</a:t>
            </a:r>
            <a:endParaRPr lang="en-US" sz="2400" dirty="0"/>
          </a:p>
        </p:txBody>
      </p:sp>
      <p:sp>
        <p:nvSpPr>
          <p:cNvPr id="10" name="Text Placeholder 2">
            <a:extLst>
              <a:ext uri="{FF2B5EF4-FFF2-40B4-BE49-F238E27FC236}">
                <a16:creationId xmlns:a16="http://schemas.microsoft.com/office/drawing/2014/main" id="{E3EAC154-94DA-4256-A2F6-51DEB1747429}"/>
              </a:ext>
            </a:extLst>
          </p:cNvPr>
          <p:cNvSpPr txBox="1">
            <a:spLocks/>
          </p:cNvSpPr>
          <p:nvPr/>
        </p:nvSpPr>
        <p:spPr>
          <a:xfrm>
            <a:off x="457200" y="1426555"/>
            <a:ext cx="8229600" cy="40276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r>
              <a:rPr lang="en-US" sz="1600" b="1" dirty="0">
                <a:solidFill>
                  <a:srgbClr val="007FA3"/>
                </a:solidFill>
              </a:rPr>
              <a:t>1.3</a:t>
            </a:r>
            <a:r>
              <a:rPr lang="en-US" sz="1600" dirty="0">
                <a:solidFill>
                  <a:srgbClr val="007FA3"/>
                </a:solidFill>
              </a:rPr>
              <a:t> Describe the agile methodologies, eXtreme Programming, and Scrum</a:t>
            </a:r>
          </a:p>
          <a:p>
            <a:endParaRPr lang="en-US" dirty="0"/>
          </a:p>
        </p:txBody>
      </p:sp>
      <p:graphicFrame>
        <p:nvGraphicFramePr>
          <p:cNvPr id="2" name="Table 1">
            <a:extLst>
              <a:ext uri="{FF2B5EF4-FFF2-40B4-BE49-F238E27FC236}">
                <a16:creationId xmlns:a16="http://schemas.microsoft.com/office/drawing/2014/main" id="{0FA8A10F-BB32-4724-894C-8197D28997EC}"/>
              </a:ext>
            </a:extLst>
          </p:cNvPr>
          <p:cNvGraphicFramePr>
            <a:graphicFrameLocks noGrp="1"/>
          </p:cNvGraphicFramePr>
          <p:nvPr>
            <p:extLst>
              <p:ext uri="{D42A27DB-BD31-4B8C-83A1-F6EECF244321}">
                <p14:modId xmlns:p14="http://schemas.microsoft.com/office/powerpoint/2010/main" val="4216065534"/>
              </p:ext>
            </p:extLst>
          </p:nvPr>
        </p:nvGraphicFramePr>
        <p:xfrm>
          <a:off x="457200" y="1829324"/>
          <a:ext cx="8229600" cy="3628047"/>
        </p:xfrm>
        <a:graphic>
          <a:graphicData uri="http://schemas.openxmlformats.org/drawingml/2006/table">
            <a:tbl>
              <a:tblPr firstRow="1" bandRow="1">
                <a:tableStyleId>{40F9630F-82C1-40B7-BC3A-925EFCFF5E92}</a:tableStyleId>
              </a:tblPr>
              <a:tblGrid>
                <a:gridCol w="940527">
                  <a:extLst>
                    <a:ext uri="{9D8B030D-6E8A-4147-A177-3AD203B41FA5}">
                      <a16:colId xmlns:a16="http://schemas.microsoft.com/office/drawing/2014/main" val="3015904489"/>
                    </a:ext>
                  </a:extLst>
                </a:gridCol>
                <a:gridCol w="3526970">
                  <a:extLst>
                    <a:ext uri="{9D8B030D-6E8A-4147-A177-3AD203B41FA5}">
                      <a16:colId xmlns:a16="http://schemas.microsoft.com/office/drawing/2014/main" val="1846120971"/>
                    </a:ext>
                  </a:extLst>
                </a:gridCol>
                <a:gridCol w="3762103">
                  <a:extLst>
                    <a:ext uri="{9D8B030D-6E8A-4147-A177-3AD203B41FA5}">
                      <a16:colId xmlns:a16="http://schemas.microsoft.com/office/drawing/2014/main" val="1727528950"/>
                    </a:ext>
                  </a:extLst>
                </a:gridCol>
              </a:tblGrid>
              <a:tr h="400589">
                <a:tc>
                  <a:txBody>
                    <a:bodyPr/>
                    <a:lstStyle/>
                    <a:p>
                      <a:r>
                        <a:rPr lang="en-US" dirty="0"/>
                        <a:t>Factor</a:t>
                      </a:r>
                    </a:p>
                  </a:txBody>
                  <a:tcPr/>
                </a:tc>
                <a:tc>
                  <a:txBody>
                    <a:bodyPr/>
                    <a:lstStyle/>
                    <a:p>
                      <a:r>
                        <a:rPr lang="en-US" dirty="0"/>
                        <a:t>Agile Methods</a:t>
                      </a:r>
                    </a:p>
                  </a:txBody>
                  <a:tcPr/>
                </a:tc>
                <a:tc>
                  <a:txBody>
                    <a:bodyPr/>
                    <a:lstStyle/>
                    <a:p>
                      <a:r>
                        <a:rPr lang="en-US" dirty="0"/>
                        <a:t>Traditional Methods</a:t>
                      </a:r>
                    </a:p>
                  </a:txBody>
                  <a:tcPr/>
                </a:tc>
                <a:extLst>
                  <a:ext uri="{0D108BD9-81ED-4DB2-BD59-A6C34878D82A}">
                    <a16:rowId xmlns:a16="http://schemas.microsoft.com/office/drawing/2014/main" val="1298189210"/>
                  </a:ext>
                </a:extLst>
              </a:tr>
              <a:tr h="484258">
                <a:tc>
                  <a:txBody>
                    <a:bodyPr/>
                    <a:lstStyle/>
                    <a:p>
                      <a:r>
                        <a:rPr lang="en-US" sz="1200" dirty="0"/>
                        <a:t>Size</a:t>
                      </a:r>
                    </a:p>
                  </a:txBody>
                  <a:tcPr/>
                </a:tc>
                <a:tc>
                  <a:txBody>
                    <a:bodyPr/>
                    <a:lstStyle/>
                    <a:p>
                      <a:r>
                        <a:rPr lang="en-US" sz="1200" dirty="0"/>
                        <a:t>Well matched to </a:t>
                      </a:r>
                      <a:r>
                        <a:rPr lang="en-US" sz="1200" dirty="0">
                          <a:solidFill>
                            <a:srgbClr val="FF0000"/>
                          </a:solidFill>
                        </a:rPr>
                        <a:t>small</a:t>
                      </a:r>
                      <a:r>
                        <a:rPr lang="en-US" sz="1200" dirty="0"/>
                        <a:t> products and teams Reliance on tacit knowledge limits scalability</a:t>
                      </a:r>
                    </a:p>
                  </a:txBody>
                  <a:tcPr/>
                </a:tc>
                <a:tc>
                  <a:txBody>
                    <a:bodyPr/>
                    <a:lstStyle/>
                    <a:p>
                      <a:r>
                        <a:rPr lang="en-US" sz="1200" dirty="0"/>
                        <a:t>Methods evolved to handle </a:t>
                      </a:r>
                      <a:r>
                        <a:rPr lang="en-US" sz="1200" dirty="0">
                          <a:solidFill>
                            <a:srgbClr val="FF0000"/>
                          </a:solidFill>
                        </a:rPr>
                        <a:t>large</a:t>
                      </a:r>
                      <a:r>
                        <a:rPr lang="en-US" sz="1200" dirty="0"/>
                        <a:t> products and teams Hard to tailor down to small products</a:t>
                      </a:r>
                    </a:p>
                  </a:txBody>
                  <a:tcPr/>
                </a:tc>
                <a:extLst>
                  <a:ext uri="{0D108BD9-81ED-4DB2-BD59-A6C34878D82A}">
                    <a16:rowId xmlns:a16="http://schemas.microsoft.com/office/drawing/2014/main" val="528770911"/>
                  </a:ext>
                </a:extLst>
              </a:tr>
              <a:tr h="410034">
                <a:tc>
                  <a:txBody>
                    <a:bodyPr/>
                    <a:lstStyle/>
                    <a:p>
                      <a:r>
                        <a:rPr lang="en-US" sz="1200" dirty="0"/>
                        <a:t>Criticality</a:t>
                      </a:r>
                    </a:p>
                  </a:txBody>
                  <a:tcPr/>
                </a:tc>
                <a:tc>
                  <a:txBody>
                    <a:bodyPr/>
                    <a:lstStyle/>
                    <a:p>
                      <a:r>
                        <a:rPr lang="en-US" sz="1200" dirty="0">
                          <a:solidFill>
                            <a:srgbClr val="FF0000"/>
                          </a:solidFill>
                        </a:rPr>
                        <a:t>Untested on safety-critical </a:t>
                      </a:r>
                      <a:r>
                        <a:rPr lang="en-US" sz="1200" dirty="0"/>
                        <a:t>products</a:t>
                      </a:r>
                    </a:p>
                    <a:p>
                      <a:r>
                        <a:rPr lang="en-US" sz="1200" dirty="0"/>
                        <a:t>Potential difficulties with simple design and lack of documentation</a:t>
                      </a:r>
                    </a:p>
                  </a:txBody>
                  <a:tcPr/>
                </a:tc>
                <a:tc>
                  <a:txBody>
                    <a:bodyPr/>
                    <a:lstStyle/>
                    <a:p>
                      <a:r>
                        <a:rPr lang="en-US" sz="1200" dirty="0"/>
                        <a:t>Methods evolved to </a:t>
                      </a:r>
                      <a:r>
                        <a:rPr lang="en-US" sz="1200" dirty="0">
                          <a:solidFill>
                            <a:srgbClr val="FF0000"/>
                          </a:solidFill>
                        </a:rPr>
                        <a:t>handle highly critical </a:t>
                      </a:r>
                      <a:r>
                        <a:rPr lang="en-US" sz="1200" dirty="0"/>
                        <a:t>products Hard to tailor down to products that are not critical.</a:t>
                      </a:r>
                    </a:p>
                  </a:txBody>
                  <a:tcPr/>
                </a:tc>
                <a:extLst>
                  <a:ext uri="{0D108BD9-81ED-4DB2-BD59-A6C34878D82A}">
                    <a16:rowId xmlns:a16="http://schemas.microsoft.com/office/drawing/2014/main" val="272540597"/>
                  </a:ext>
                </a:extLst>
              </a:tr>
              <a:tr h="566788">
                <a:tc>
                  <a:txBody>
                    <a:bodyPr/>
                    <a:lstStyle/>
                    <a:p>
                      <a:r>
                        <a:rPr lang="en-US" sz="1200" dirty="0"/>
                        <a:t>Dynamism</a:t>
                      </a:r>
                    </a:p>
                  </a:txBody>
                  <a:tcPr/>
                </a:tc>
                <a:tc>
                  <a:txBody>
                    <a:bodyPr/>
                    <a:lstStyle/>
                    <a:p>
                      <a:r>
                        <a:rPr lang="en-US" sz="1200" dirty="0">
                          <a:solidFill>
                            <a:srgbClr val="FF0000"/>
                          </a:solidFill>
                        </a:rPr>
                        <a:t>Simple design </a:t>
                      </a:r>
                      <a:r>
                        <a:rPr lang="en-US" sz="1200" dirty="0"/>
                        <a:t>and continuous refactoring</a:t>
                      </a:r>
                    </a:p>
                    <a:p>
                      <a:r>
                        <a:rPr lang="en-US" sz="1200" dirty="0"/>
                        <a:t>are excellent </a:t>
                      </a:r>
                      <a:r>
                        <a:rPr lang="en-US" sz="1200" dirty="0">
                          <a:solidFill>
                            <a:srgbClr val="FF0000"/>
                          </a:solidFill>
                        </a:rPr>
                        <a:t>for highly dynamic </a:t>
                      </a:r>
                      <a:r>
                        <a:rPr lang="en-US" sz="1200" dirty="0"/>
                        <a:t>environments but a source of potentially expensive rework for highly stable environments</a:t>
                      </a:r>
                    </a:p>
                  </a:txBody>
                  <a:tcPr/>
                </a:tc>
                <a:tc>
                  <a:txBody>
                    <a:bodyPr/>
                    <a:lstStyle/>
                    <a:p>
                      <a:r>
                        <a:rPr lang="en-US" sz="1200" dirty="0">
                          <a:solidFill>
                            <a:srgbClr val="FF0000"/>
                          </a:solidFill>
                        </a:rPr>
                        <a:t>Detailed plans </a:t>
                      </a:r>
                      <a:r>
                        <a:rPr lang="en-US" sz="1200" dirty="0"/>
                        <a:t>and Big Design Up Front, excellent for </a:t>
                      </a:r>
                      <a:r>
                        <a:rPr lang="en-US" sz="1200" dirty="0">
                          <a:solidFill>
                            <a:srgbClr val="FF0000"/>
                          </a:solidFill>
                        </a:rPr>
                        <a:t>highly stable </a:t>
                      </a:r>
                      <a:r>
                        <a:rPr lang="en-US" sz="1200" dirty="0"/>
                        <a:t>environment but a source of expensive rework for highly dynamic environments</a:t>
                      </a:r>
                    </a:p>
                  </a:txBody>
                  <a:tcPr/>
                </a:tc>
                <a:extLst>
                  <a:ext uri="{0D108BD9-81ED-4DB2-BD59-A6C34878D82A}">
                    <a16:rowId xmlns:a16="http://schemas.microsoft.com/office/drawing/2014/main" val="2011339918"/>
                  </a:ext>
                </a:extLst>
              </a:tr>
              <a:tr h="396971">
                <a:tc>
                  <a:txBody>
                    <a:bodyPr/>
                    <a:lstStyle/>
                    <a:p>
                      <a:r>
                        <a:rPr lang="en-US" sz="1200" dirty="0"/>
                        <a:t>Personnel</a:t>
                      </a:r>
                    </a:p>
                  </a:txBody>
                  <a:tcPr/>
                </a:tc>
                <a:tc>
                  <a:txBody>
                    <a:bodyPr/>
                    <a:lstStyle/>
                    <a:p>
                      <a:r>
                        <a:rPr lang="en-US" sz="1200" dirty="0"/>
                        <a:t>Requires </a:t>
                      </a:r>
                      <a:r>
                        <a:rPr lang="en-US" sz="1200" dirty="0">
                          <a:solidFill>
                            <a:srgbClr val="FF0000"/>
                          </a:solidFill>
                        </a:rPr>
                        <a:t>continuous presence </a:t>
                      </a:r>
                      <a:r>
                        <a:rPr lang="en-US" sz="1200" dirty="0"/>
                        <a:t>of a critical mass of scarce experts </a:t>
                      </a:r>
                    </a:p>
                    <a:p>
                      <a:r>
                        <a:rPr lang="en-US" sz="1200" dirty="0"/>
                        <a:t>Risky to use non-agile people</a:t>
                      </a:r>
                    </a:p>
                  </a:txBody>
                  <a:tcPr/>
                </a:tc>
                <a:tc>
                  <a:txBody>
                    <a:bodyPr/>
                    <a:lstStyle/>
                    <a:p>
                      <a:r>
                        <a:rPr lang="en-US" sz="1200" dirty="0"/>
                        <a:t>Needs a critical mass of scarce experts during </a:t>
                      </a:r>
                      <a:r>
                        <a:rPr lang="en-US" sz="1200" dirty="0">
                          <a:solidFill>
                            <a:srgbClr val="FF0000"/>
                          </a:solidFill>
                        </a:rPr>
                        <a:t>project definition </a:t>
                      </a:r>
                      <a:r>
                        <a:rPr lang="en-US" sz="1200" dirty="0"/>
                        <a:t>but can work with fewer later in the project, unless the environment is highly dynamic</a:t>
                      </a:r>
                    </a:p>
                  </a:txBody>
                  <a:tcPr/>
                </a:tc>
                <a:extLst>
                  <a:ext uri="{0D108BD9-81ED-4DB2-BD59-A6C34878D82A}">
                    <a16:rowId xmlns:a16="http://schemas.microsoft.com/office/drawing/2014/main" val="2179645938"/>
                  </a:ext>
                </a:extLst>
              </a:tr>
              <a:tr h="400589">
                <a:tc>
                  <a:txBody>
                    <a:bodyPr/>
                    <a:lstStyle/>
                    <a:p>
                      <a:r>
                        <a:rPr lang="en-US" sz="1200" dirty="0"/>
                        <a:t>Culture</a:t>
                      </a:r>
                    </a:p>
                  </a:txBody>
                  <a:tcPr/>
                </a:tc>
                <a:tc>
                  <a:txBody>
                    <a:bodyPr/>
                    <a:lstStyle/>
                    <a:p>
                      <a:r>
                        <a:rPr lang="en-US" sz="1200" dirty="0"/>
                        <a:t>Thrives in a culture where people feel comfortable and empowered by having many </a:t>
                      </a:r>
                      <a:r>
                        <a:rPr lang="en-US" sz="1200" dirty="0">
                          <a:solidFill>
                            <a:srgbClr val="FF0000"/>
                          </a:solidFill>
                        </a:rPr>
                        <a:t>degrees of freedom </a:t>
                      </a:r>
                      <a:r>
                        <a:rPr lang="en-US" sz="1200" dirty="0"/>
                        <a:t>(thriving on chaos)</a:t>
                      </a:r>
                    </a:p>
                  </a:txBody>
                  <a:tcPr/>
                </a:tc>
                <a:tc>
                  <a:txBody>
                    <a:bodyPr/>
                    <a:lstStyle/>
                    <a:p>
                      <a:r>
                        <a:rPr lang="en-US" sz="1200" dirty="0"/>
                        <a:t>Thrives in a culture where people feel comfortable and empowered by having their roles defined by </a:t>
                      </a:r>
                      <a:r>
                        <a:rPr lang="en-US" sz="1200" dirty="0">
                          <a:solidFill>
                            <a:srgbClr val="FF0000"/>
                          </a:solidFill>
                        </a:rPr>
                        <a:t>clear practices and procedures </a:t>
                      </a:r>
                      <a:r>
                        <a:rPr lang="en-US" sz="1200" dirty="0"/>
                        <a:t>(thriving on order)</a:t>
                      </a:r>
                    </a:p>
                  </a:txBody>
                  <a:tcPr/>
                </a:tc>
                <a:extLst>
                  <a:ext uri="{0D108BD9-81ED-4DB2-BD59-A6C34878D82A}">
                    <a16:rowId xmlns:a16="http://schemas.microsoft.com/office/drawing/2014/main" val="4232829128"/>
                  </a:ext>
                </a:extLst>
              </a:tr>
            </a:tbl>
          </a:graphicData>
        </a:graphic>
      </p:graphicFrame>
      <p:sp>
        <p:nvSpPr>
          <p:cNvPr id="6" name="Text Placeholder 2">
            <a:extLst>
              <a:ext uri="{FF2B5EF4-FFF2-40B4-BE49-F238E27FC236}">
                <a16:creationId xmlns:a16="http://schemas.microsoft.com/office/drawing/2014/main" id="{61DBF3C7-7D1D-437C-8648-AB62C94137F8}"/>
              </a:ext>
            </a:extLst>
          </p:cNvPr>
          <p:cNvSpPr txBox="1">
            <a:spLocks/>
          </p:cNvSpPr>
          <p:nvPr/>
        </p:nvSpPr>
        <p:spPr>
          <a:xfrm>
            <a:off x="457200" y="5859285"/>
            <a:ext cx="8229600" cy="278597"/>
          </a:xfrm>
          <a:prstGeom prst="rect">
            <a:avLst/>
          </a:prstGeom>
          <a:noFill/>
          <a:ln>
            <a:noFill/>
          </a:ln>
        </p:spPr>
        <p:txBody>
          <a:bodyPr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7FA3"/>
              </a:buClr>
              <a:buSzPct val="100000"/>
              <a:buFont typeface="Arial"/>
              <a:buNone/>
              <a:defRPr sz="1200" b="0" i="0" u="none" strike="noStrike" cap="none">
                <a:solidFill>
                  <a:schemeClr val="dk1"/>
                </a:solidFill>
                <a:latin typeface="Arial"/>
                <a:ea typeface="Arial"/>
                <a:cs typeface="Arial"/>
                <a:sym typeface="Arial"/>
              </a:defRPr>
            </a:lvl1pPr>
            <a:lvl2pPr marL="0" marR="0" lvl="1"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2pPr>
            <a:lvl3pPr marL="0" marR="0" lvl="2" indent="0" algn="l" rtl="0">
              <a:lnSpc>
                <a:spcPct val="100000"/>
              </a:lnSpc>
              <a:spcBef>
                <a:spcPts val="0"/>
              </a:spcBef>
              <a:spcAft>
                <a:spcPts val="0"/>
              </a:spcAft>
              <a:buClr>
                <a:srgbClr val="007FA3"/>
              </a:buClr>
              <a:buSzPct val="100000"/>
              <a:buFont typeface="Noto Sans Symbols"/>
              <a:buNone/>
              <a:defRPr sz="1600" b="0" i="0" u="none" strike="noStrike" cap="none">
                <a:solidFill>
                  <a:schemeClr val="dk1"/>
                </a:solidFill>
                <a:latin typeface="Arial"/>
                <a:ea typeface="Arial"/>
                <a:cs typeface="Arial"/>
                <a:sym typeface="Arial"/>
              </a:defRPr>
            </a:lvl3pPr>
            <a:lvl4pPr marL="0" marR="0" lvl="3"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4pPr>
            <a:lvl5pPr marL="0" marR="0" lvl="4"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5pPr>
            <a:lvl6pPr marL="0" marR="0" lvl="5"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6pPr>
            <a:lvl7pPr marL="0" marR="0" lvl="6"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7pPr>
            <a:lvl8pPr marL="0" marR="0" lvl="7"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8pPr>
            <a:lvl9pPr marL="0" marR="0" lvl="8" indent="0" algn="l" rtl="0">
              <a:lnSpc>
                <a:spcPct val="100000"/>
              </a:lnSpc>
              <a:spcBef>
                <a:spcPts val="0"/>
              </a:spcBef>
              <a:spcAft>
                <a:spcPts val="0"/>
              </a:spcAft>
              <a:buClr>
                <a:srgbClr val="007FA3"/>
              </a:buClr>
              <a:buSzPct val="100000"/>
              <a:buFont typeface="Arial"/>
              <a:buNone/>
              <a:defRPr sz="1600" b="0" i="0" u="none" strike="noStrike" cap="none">
                <a:solidFill>
                  <a:schemeClr val="dk1"/>
                </a:solidFill>
                <a:latin typeface="Arial"/>
                <a:ea typeface="Arial"/>
                <a:cs typeface="Arial"/>
                <a:sym typeface="Arial"/>
              </a:defRPr>
            </a:lvl9pPr>
          </a:lstStyle>
          <a:p>
            <a:r>
              <a:rPr lang="en-US" b="1" dirty="0"/>
              <a:t>Table 1-3:  </a:t>
            </a:r>
            <a:r>
              <a:rPr lang="en-US" dirty="0"/>
              <a:t>Five Critical Factors that Distinguish Agile and Traditional Approaches to System Development</a:t>
            </a:r>
          </a:p>
        </p:txBody>
      </p:sp>
    </p:spTree>
    <p:extLst>
      <p:ext uri="{BB962C8B-B14F-4D97-AF65-F5344CB8AC3E}">
        <p14:creationId xmlns:p14="http://schemas.microsoft.com/office/powerpoint/2010/main" val="20468571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08E928-D0C4-4C95-A1CB-8B8089BA9760}"/>
              </a:ext>
            </a:extLst>
          </p:cNvPr>
          <p:cNvSpPr>
            <a:spLocks noGrp="1"/>
          </p:cNvSpPr>
          <p:nvPr>
            <p:ph type="title"/>
          </p:nvPr>
        </p:nvSpPr>
        <p:spPr>
          <a:xfrm>
            <a:off x="457200" y="215371"/>
            <a:ext cx="8229600" cy="688143"/>
          </a:xfrm>
        </p:spPr>
        <p:txBody>
          <a:bodyPr/>
          <a:lstStyle/>
          <a:p>
            <a:r>
              <a:rPr lang="en-US" dirty="0">
                <a:cs typeface="Calibri" panose="020F0502020204030204" pitchFamily="34" charset="0"/>
              </a:rPr>
              <a:t>eXtreme Programming </a:t>
            </a:r>
            <a:r>
              <a:rPr lang="en-US" sz="2000" dirty="0">
                <a:cs typeface="Calibri" panose="020F0502020204030204" pitchFamily="34" charset="0"/>
              </a:rPr>
              <a:t>(1 of 2)</a:t>
            </a:r>
            <a:endParaRPr lang="en-US" sz="2000" dirty="0"/>
          </a:p>
        </p:txBody>
      </p:sp>
      <p:sp>
        <p:nvSpPr>
          <p:cNvPr id="10" name="Text Placeholder 2">
            <a:extLst>
              <a:ext uri="{FF2B5EF4-FFF2-40B4-BE49-F238E27FC236}">
                <a16:creationId xmlns:a16="http://schemas.microsoft.com/office/drawing/2014/main" id="{E3EAC154-94DA-4256-A2F6-51DEB1747429}"/>
              </a:ext>
            </a:extLst>
          </p:cNvPr>
          <p:cNvSpPr txBox="1">
            <a:spLocks/>
          </p:cNvSpPr>
          <p:nvPr/>
        </p:nvSpPr>
        <p:spPr>
          <a:xfrm>
            <a:off x="457200" y="914913"/>
            <a:ext cx="8229600" cy="40276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r>
              <a:rPr lang="en-US" sz="1600" b="1" dirty="0">
                <a:solidFill>
                  <a:srgbClr val="007FA3"/>
                </a:solidFill>
              </a:rPr>
              <a:t>1.3</a:t>
            </a:r>
            <a:r>
              <a:rPr lang="en-US" sz="1600" dirty="0">
                <a:solidFill>
                  <a:srgbClr val="007FA3"/>
                </a:solidFill>
              </a:rPr>
              <a:t> Describe the agile methodologies, eXtreme Programming, and Scrum</a:t>
            </a:r>
          </a:p>
          <a:p>
            <a:endParaRPr lang="en-US" dirty="0"/>
          </a:p>
        </p:txBody>
      </p:sp>
      <p:sp>
        <p:nvSpPr>
          <p:cNvPr id="3" name="Content Placeholder 2">
            <a:extLst>
              <a:ext uri="{FF2B5EF4-FFF2-40B4-BE49-F238E27FC236}">
                <a16:creationId xmlns:a16="http://schemas.microsoft.com/office/drawing/2014/main" id="{26C30B26-B4A4-4BD8-81A5-37C09D752FFA}"/>
              </a:ext>
            </a:extLst>
          </p:cNvPr>
          <p:cNvSpPr>
            <a:spLocks noGrp="1"/>
          </p:cNvSpPr>
          <p:nvPr>
            <p:ph sz="quarter" idx="13"/>
          </p:nvPr>
        </p:nvSpPr>
        <p:spPr>
          <a:xfrm>
            <a:off x="457200" y="1529560"/>
            <a:ext cx="8229600" cy="4490240"/>
          </a:xfrm>
        </p:spPr>
        <p:txBody>
          <a:bodyPr/>
          <a:lstStyle/>
          <a:p>
            <a:r>
              <a:rPr lang="en-US" sz="2400" dirty="0"/>
              <a:t>Short, incremental development cycles</a:t>
            </a:r>
          </a:p>
          <a:p>
            <a:r>
              <a:rPr lang="en-US" sz="2400" dirty="0"/>
              <a:t>Focus on automated tests written by programmers</a:t>
            </a:r>
          </a:p>
          <a:p>
            <a:r>
              <a:rPr lang="en-US" sz="2400" dirty="0"/>
              <a:t>Emphasis on two-person programming teams</a:t>
            </a:r>
          </a:p>
          <a:p>
            <a:r>
              <a:rPr lang="en-US" sz="2400" dirty="0"/>
              <a:t>Customers to monitor the development process</a:t>
            </a:r>
          </a:p>
          <a:p>
            <a:r>
              <a:rPr lang="en-US" sz="2400" dirty="0"/>
              <a:t>Relevant parts of eXtreme Programming that relate to design specifications are</a:t>
            </a:r>
          </a:p>
          <a:p>
            <a:pPr marL="1073150" lvl="1" indent="-514350">
              <a:buFont typeface="+mj-lt"/>
              <a:buAutoNum type="arabicPeriod"/>
            </a:pPr>
            <a:r>
              <a:rPr lang="en-US" sz="2000" dirty="0"/>
              <a:t>How planning, analysis, design, and construction are all fused into a single phase of activity</a:t>
            </a:r>
          </a:p>
          <a:p>
            <a:pPr marL="1073150" lvl="1" indent="-514350">
              <a:buFont typeface="+mj-lt"/>
              <a:buAutoNum type="arabicPeriod"/>
            </a:pPr>
            <a:r>
              <a:rPr lang="en-US" sz="2000" dirty="0"/>
              <a:t>Its unique way of capturing and presenting system requirement and design specifications</a:t>
            </a:r>
          </a:p>
        </p:txBody>
      </p:sp>
    </p:spTree>
    <p:extLst>
      <p:ext uri="{BB962C8B-B14F-4D97-AF65-F5344CB8AC3E}">
        <p14:creationId xmlns:p14="http://schemas.microsoft.com/office/powerpoint/2010/main" val="41084442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08E928-D0C4-4C95-A1CB-8B8089BA9760}"/>
              </a:ext>
            </a:extLst>
          </p:cNvPr>
          <p:cNvSpPr>
            <a:spLocks noGrp="1"/>
          </p:cNvSpPr>
          <p:nvPr>
            <p:ph type="title"/>
          </p:nvPr>
        </p:nvSpPr>
        <p:spPr/>
        <p:txBody>
          <a:bodyPr/>
          <a:lstStyle/>
          <a:p>
            <a:r>
              <a:rPr lang="en-US" dirty="0">
                <a:cs typeface="Calibri" panose="020F0502020204030204" pitchFamily="34" charset="0"/>
              </a:rPr>
              <a:t>eXtreme Programming </a:t>
            </a:r>
            <a:r>
              <a:rPr lang="en-US" sz="2000" dirty="0">
                <a:cs typeface="Calibri" panose="020F0502020204030204" pitchFamily="34" charset="0"/>
              </a:rPr>
              <a:t>(2 of 2)</a:t>
            </a:r>
            <a:endParaRPr lang="en-US" sz="2000" dirty="0"/>
          </a:p>
        </p:txBody>
      </p:sp>
      <p:sp>
        <p:nvSpPr>
          <p:cNvPr id="10" name="Text Placeholder 2">
            <a:extLst>
              <a:ext uri="{FF2B5EF4-FFF2-40B4-BE49-F238E27FC236}">
                <a16:creationId xmlns:a16="http://schemas.microsoft.com/office/drawing/2014/main" id="{E3EAC154-94DA-4256-A2F6-51DEB1747429}"/>
              </a:ext>
            </a:extLst>
          </p:cNvPr>
          <p:cNvSpPr txBox="1">
            <a:spLocks/>
          </p:cNvSpPr>
          <p:nvPr/>
        </p:nvSpPr>
        <p:spPr>
          <a:xfrm>
            <a:off x="457200" y="1426555"/>
            <a:ext cx="8229600" cy="40276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r>
              <a:rPr lang="en-US" sz="1600" b="1" dirty="0">
                <a:solidFill>
                  <a:srgbClr val="007FA3"/>
                </a:solidFill>
              </a:rPr>
              <a:t>1.3</a:t>
            </a:r>
            <a:r>
              <a:rPr lang="en-US" sz="1600" dirty="0">
                <a:solidFill>
                  <a:srgbClr val="007FA3"/>
                </a:solidFill>
              </a:rPr>
              <a:t> Describe the agile methodologies, eXtreme Programming, and Scrum</a:t>
            </a:r>
          </a:p>
          <a:p>
            <a:endParaRPr lang="en-US" dirty="0"/>
          </a:p>
        </p:txBody>
      </p:sp>
      <p:sp>
        <p:nvSpPr>
          <p:cNvPr id="3" name="Content Placeholder 2">
            <a:extLst>
              <a:ext uri="{FF2B5EF4-FFF2-40B4-BE49-F238E27FC236}">
                <a16:creationId xmlns:a16="http://schemas.microsoft.com/office/drawing/2014/main" id="{26C30B26-B4A4-4BD8-81A5-37C09D752FFA}"/>
              </a:ext>
            </a:extLst>
          </p:cNvPr>
          <p:cNvSpPr>
            <a:spLocks noGrp="1"/>
          </p:cNvSpPr>
          <p:nvPr>
            <p:ph sz="quarter" idx="13"/>
          </p:nvPr>
        </p:nvSpPr>
        <p:spPr>
          <a:xfrm>
            <a:off x="457200" y="1943228"/>
            <a:ext cx="8229600" cy="4405321"/>
          </a:xfrm>
        </p:spPr>
        <p:txBody>
          <a:bodyPr/>
          <a:lstStyle/>
          <a:p>
            <a:r>
              <a:rPr lang="en-US" sz="2800" dirty="0"/>
              <a:t>Coding and testing are related parts of the same process</a:t>
            </a:r>
          </a:p>
          <a:p>
            <a:r>
              <a:rPr lang="en-US" sz="2800" dirty="0">
                <a:solidFill>
                  <a:srgbClr val="7030A0"/>
                </a:solidFill>
              </a:rPr>
              <a:t>Advantages </a:t>
            </a:r>
            <a:r>
              <a:rPr lang="en-US" sz="2800" dirty="0"/>
              <a:t>include</a:t>
            </a:r>
          </a:p>
          <a:p>
            <a:pPr lvl="1"/>
            <a:r>
              <a:rPr lang="en-US" sz="2400" dirty="0"/>
              <a:t>Increased communications among developers</a:t>
            </a:r>
          </a:p>
          <a:p>
            <a:pPr lvl="1"/>
            <a:r>
              <a:rPr lang="en-US" sz="2400" dirty="0"/>
              <a:t>Higher levels of productivity</a:t>
            </a:r>
          </a:p>
          <a:p>
            <a:pPr lvl="1"/>
            <a:r>
              <a:rPr lang="en-US" sz="2400" dirty="0"/>
              <a:t>Higher quality code</a:t>
            </a:r>
          </a:p>
          <a:p>
            <a:pPr lvl="1"/>
            <a:r>
              <a:rPr lang="en-US" sz="2400" dirty="0"/>
              <a:t>Reinforcement of other practices in eXtreme Programming</a:t>
            </a:r>
          </a:p>
          <a:p>
            <a:pPr lvl="2"/>
            <a:r>
              <a:rPr lang="en-US" sz="2400" dirty="0"/>
              <a:t>Include code-and-test discipline</a:t>
            </a:r>
          </a:p>
        </p:txBody>
      </p:sp>
    </p:spTree>
    <p:extLst>
      <p:ext uri="{BB962C8B-B14F-4D97-AF65-F5344CB8AC3E}">
        <p14:creationId xmlns:p14="http://schemas.microsoft.com/office/powerpoint/2010/main" val="23443065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08E928-D0C4-4C95-A1CB-8B8089BA9760}"/>
              </a:ext>
            </a:extLst>
          </p:cNvPr>
          <p:cNvSpPr>
            <a:spLocks noGrp="1"/>
          </p:cNvSpPr>
          <p:nvPr>
            <p:ph type="title"/>
          </p:nvPr>
        </p:nvSpPr>
        <p:spPr>
          <a:xfrm>
            <a:off x="457200" y="215371"/>
            <a:ext cx="8229600" cy="764343"/>
          </a:xfrm>
        </p:spPr>
        <p:txBody>
          <a:bodyPr/>
          <a:lstStyle/>
          <a:p>
            <a:r>
              <a:rPr lang="en-US" dirty="0">
                <a:cs typeface="Calibri" panose="020F0502020204030204" pitchFamily="34" charset="0"/>
              </a:rPr>
              <a:t>Scrum </a:t>
            </a:r>
            <a:r>
              <a:rPr lang="en-US" sz="2000" dirty="0">
                <a:cs typeface="Calibri" panose="020F0502020204030204" pitchFamily="34" charset="0"/>
              </a:rPr>
              <a:t>(1 of 3)</a:t>
            </a:r>
            <a:endParaRPr lang="en-US" sz="2000" dirty="0"/>
          </a:p>
        </p:txBody>
      </p:sp>
      <p:sp>
        <p:nvSpPr>
          <p:cNvPr id="10" name="Text Placeholder 2">
            <a:extLst>
              <a:ext uri="{FF2B5EF4-FFF2-40B4-BE49-F238E27FC236}">
                <a16:creationId xmlns:a16="http://schemas.microsoft.com/office/drawing/2014/main" id="{E3EAC154-94DA-4256-A2F6-51DEB1747429}"/>
              </a:ext>
            </a:extLst>
          </p:cNvPr>
          <p:cNvSpPr txBox="1">
            <a:spLocks/>
          </p:cNvSpPr>
          <p:nvPr/>
        </p:nvSpPr>
        <p:spPr>
          <a:xfrm>
            <a:off x="457200" y="1143524"/>
            <a:ext cx="8229600" cy="40276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r>
              <a:rPr lang="en-US" sz="1600" b="1" dirty="0">
                <a:solidFill>
                  <a:srgbClr val="007FA3"/>
                </a:solidFill>
              </a:rPr>
              <a:t>1.3</a:t>
            </a:r>
            <a:r>
              <a:rPr lang="en-US" sz="1600" dirty="0">
                <a:solidFill>
                  <a:srgbClr val="007FA3"/>
                </a:solidFill>
              </a:rPr>
              <a:t> Describe the agile methodologies, eXtreme Programming, and Scrum</a:t>
            </a:r>
          </a:p>
          <a:p>
            <a:endParaRPr lang="en-US" dirty="0"/>
          </a:p>
        </p:txBody>
      </p:sp>
      <p:sp>
        <p:nvSpPr>
          <p:cNvPr id="3" name="Content Placeholder 2">
            <a:extLst>
              <a:ext uri="{FF2B5EF4-FFF2-40B4-BE49-F238E27FC236}">
                <a16:creationId xmlns:a16="http://schemas.microsoft.com/office/drawing/2014/main" id="{26C30B26-B4A4-4BD8-81A5-37C09D752FFA}"/>
              </a:ext>
            </a:extLst>
          </p:cNvPr>
          <p:cNvSpPr>
            <a:spLocks noGrp="1"/>
          </p:cNvSpPr>
          <p:nvPr>
            <p:ph sz="quarter" idx="13"/>
          </p:nvPr>
        </p:nvSpPr>
        <p:spPr>
          <a:xfrm>
            <a:off x="457200" y="1703737"/>
            <a:ext cx="8229600" cy="4405321"/>
          </a:xfrm>
        </p:spPr>
        <p:txBody>
          <a:bodyPr/>
          <a:lstStyle/>
          <a:p>
            <a:r>
              <a:rPr lang="en-US" sz="2800" dirty="0"/>
              <a:t>Originated in 1995 by Sutherland and Schwaber</a:t>
            </a:r>
          </a:p>
          <a:p>
            <a:r>
              <a:rPr lang="en-US" sz="2800" dirty="0"/>
              <a:t>Most popular methodology for agile (58%)</a:t>
            </a:r>
          </a:p>
          <a:p>
            <a:r>
              <a:rPr lang="en-US" sz="2800" dirty="0"/>
              <a:t>Scrum framework includes</a:t>
            </a:r>
          </a:p>
          <a:p>
            <a:pPr lvl="1"/>
            <a:r>
              <a:rPr lang="en-US" sz="2400" dirty="0"/>
              <a:t>Scrum teams with associated roles, events, artifacts, and rules</a:t>
            </a:r>
          </a:p>
          <a:p>
            <a:pPr lvl="1"/>
            <a:r>
              <a:rPr lang="en-US" sz="2400" dirty="0"/>
              <a:t>Each team consists of three roles</a:t>
            </a:r>
          </a:p>
          <a:p>
            <a:pPr lvl="2"/>
            <a:r>
              <a:rPr lang="en-US" sz="2000" dirty="0"/>
              <a:t>Product owner</a:t>
            </a:r>
          </a:p>
          <a:p>
            <a:pPr lvl="2"/>
            <a:r>
              <a:rPr lang="en-US" sz="2000" dirty="0"/>
              <a:t>Development team</a:t>
            </a:r>
          </a:p>
          <a:p>
            <a:pPr lvl="2"/>
            <a:r>
              <a:rPr lang="en-US" sz="2000" dirty="0"/>
              <a:t>Scrum master</a:t>
            </a:r>
          </a:p>
        </p:txBody>
      </p:sp>
    </p:spTree>
    <p:extLst>
      <p:ext uri="{BB962C8B-B14F-4D97-AF65-F5344CB8AC3E}">
        <p14:creationId xmlns:p14="http://schemas.microsoft.com/office/powerpoint/2010/main" val="34006551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08E928-D0C4-4C95-A1CB-8B8089BA9760}"/>
              </a:ext>
            </a:extLst>
          </p:cNvPr>
          <p:cNvSpPr>
            <a:spLocks noGrp="1"/>
          </p:cNvSpPr>
          <p:nvPr>
            <p:ph type="title"/>
          </p:nvPr>
        </p:nvSpPr>
        <p:spPr>
          <a:xfrm>
            <a:off x="457200" y="313346"/>
            <a:ext cx="8229600" cy="666372"/>
          </a:xfrm>
        </p:spPr>
        <p:txBody>
          <a:bodyPr/>
          <a:lstStyle/>
          <a:p>
            <a:r>
              <a:rPr lang="en-US" dirty="0">
                <a:cs typeface="Calibri" panose="020F0502020204030204" pitchFamily="34" charset="0"/>
              </a:rPr>
              <a:t>Scrum </a:t>
            </a:r>
            <a:r>
              <a:rPr lang="en-US" sz="2000" dirty="0">
                <a:cs typeface="Calibri" panose="020F0502020204030204" pitchFamily="34" charset="0"/>
              </a:rPr>
              <a:t>(2 of 3)</a:t>
            </a:r>
            <a:endParaRPr lang="en-US" sz="2000" dirty="0"/>
          </a:p>
        </p:txBody>
      </p:sp>
      <p:sp>
        <p:nvSpPr>
          <p:cNvPr id="10" name="Text Placeholder 2">
            <a:extLst>
              <a:ext uri="{FF2B5EF4-FFF2-40B4-BE49-F238E27FC236}">
                <a16:creationId xmlns:a16="http://schemas.microsoft.com/office/drawing/2014/main" id="{E3EAC154-94DA-4256-A2F6-51DEB1747429}"/>
              </a:ext>
            </a:extLst>
          </p:cNvPr>
          <p:cNvSpPr txBox="1">
            <a:spLocks/>
          </p:cNvSpPr>
          <p:nvPr/>
        </p:nvSpPr>
        <p:spPr>
          <a:xfrm>
            <a:off x="457200" y="1002009"/>
            <a:ext cx="8229600" cy="40276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r>
              <a:rPr lang="en-US" sz="1600" b="1" dirty="0">
                <a:solidFill>
                  <a:srgbClr val="007FA3"/>
                </a:solidFill>
              </a:rPr>
              <a:t>1.3</a:t>
            </a:r>
            <a:r>
              <a:rPr lang="en-US" sz="1600" dirty="0">
                <a:solidFill>
                  <a:srgbClr val="007FA3"/>
                </a:solidFill>
              </a:rPr>
              <a:t> Describe the agile methodologies, eXtreme Programming, and Scrum</a:t>
            </a:r>
          </a:p>
          <a:p>
            <a:endParaRPr lang="en-US" dirty="0"/>
          </a:p>
        </p:txBody>
      </p:sp>
      <p:sp>
        <p:nvSpPr>
          <p:cNvPr id="3" name="Content Placeholder 2">
            <a:extLst>
              <a:ext uri="{FF2B5EF4-FFF2-40B4-BE49-F238E27FC236}">
                <a16:creationId xmlns:a16="http://schemas.microsoft.com/office/drawing/2014/main" id="{26C30B26-B4A4-4BD8-81A5-37C09D752FFA}"/>
              </a:ext>
            </a:extLst>
          </p:cNvPr>
          <p:cNvSpPr>
            <a:spLocks noGrp="1"/>
          </p:cNvSpPr>
          <p:nvPr>
            <p:ph sz="quarter" idx="13"/>
          </p:nvPr>
        </p:nvSpPr>
        <p:spPr>
          <a:xfrm>
            <a:off x="457200" y="1486027"/>
            <a:ext cx="8229600" cy="4405321"/>
          </a:xfrm>
        </p:spPr>
        <p:txBody>
          <a:bodyPr/>
          <a:lstStyle/>
          <a:p>
            <a:r>
              <a:rPr lang="en-US" sz="2800" dirty="0"/>
              <a:t>Scrum designed for speed and multiple functional product releases</a:t>
            </a:r>
          </a:p>
          <a:p>
            <a:r>
              <a:rPr lang="en-US" sz="2800" dirty="0"/>
              <a:t>Primary unit is the </a:t>
            </a:r>
            <a:r>
              <a:rPr lang="en-US" sz="2800" dirty="0">
                <a:solidFill>
                  <a:srgbClr val="7030A0"/>
                </a:solidFill>
              </a:rPr>
              <a:t>Sprint </a:t>
            </a:r>
            <a:r>
              <a:rPr lang="en-US" sz="2800" dirty="0"/>
              <a:t>(runs two weeks to a month)</a:t>
            </a:r>
          </a:p>
          <a:p>
            <a:pPr lvl="1"/>
            <a:r>
              <a:rPr lang="en-US" sz="2400" dirty="0"/>
              <a:t>Starts with an eight-hour planning meeting</a:t>
            </a:r>
          </a:p>
          <a:p>
            <a:pPr lvl="2"/>
            <a:r>
              <a:rPr lang="en-US" sz="2000" dirty="0"/>
              <a:t>What needs to be delivered by the end of the sprint</a:t>
            </a:r>
          </a:p>
          <a:p>
            <a:pPr lvl="2"/>
            <a:r>
              <a:rPr lang="en-US" sz="2000" dirty="0"/>
              <a:t>How will the team accomplish that work</a:t>
            </a:r>
          </a:p>
          <a:p>
            <a:pPr lvl="1"/>
            <a:r>
              <a:rPr lang="en-US" sz="2400" dirty="0"/>
              <a:t>Daily Standup: A 15-minute meeting held to evaluate progress made within the past 24 hours and what needs to be done</a:t>
            </a:r>
          </a:p>
          <a:p>
            <a:pPr lvl="2"/>
            <a:endParaRPr lang="en-US" sz="2000" dirty="0"/>
          </a:p>
        </p:txBody>
      </p:sp>
    </p:spTree>
    <p:extLst>
      <p:ext uri="{BB962C8B-B14F-4D97-AF65-F5344CB8AC3E}">
        <p14:creationId xmlns:p14="http://schemas.microsoft.com/office/powerpoint/2010/main" val="2291424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08E928-D0C4-4C95-A1CB-8B8089BA9760}"/>
              </a:ext>
            </a:extLst>
          </p:cNvPr>
          <p:cNvSpPr>
            <a:spLocks noGrp="1"/>
          </p:cNvSpPr>
          <p:nvPr>
            <p:ph type="title"/>
          </p:nvPr>
        </p:nvSpPr>
        <p:spPr>
          <a:xfrm>
            <a:off x="457200" y="259441"/>
            <a:ext cx="8229600" cy="666372"/>
          </a:xfrm>
        </p:spPr>
        <p:txBody>
          <a:bodyPr/>
          <a:lstStyle/>
          <a:p>
            <a:r>
              <a:rPr lang="en-US" dirty="0">
                <a:cs typeface="Calibri" panose="020F0502020204030204" pitchFamily="34" charset="0"/>
              </a:rPr>
              <a:t>Scrum </a:t>
            </a:r>
            <a:r>
              <a:rPr lang="en-US" sz="2000" dirty="0">
                <a:cs typeface="Calibri" panose="020F0502020204030204" pitchFamily="34" charset="0"/>
              </a:rPr>
              <a:t>(3 of 3)</a:t>
            </a:r>
            <a:endParaRPr lang="en-US" sz="2000" dirty="0"/>
          </a:p>
        </p:txBody>
      </p:sp>
      <p:sp>
        <p:nvSpPr>
          <p:cNvPr id="10" name="Text Placeholder 2">
            <a:extLst>
              <a:ext uri="{FF2B5EF4-FFF2-40B4-BE49-F238E27FC236}">
                <a16:creationId xmlns:a16="http://schemas.microsoft.com/office/drawing/2014/main" id="{E3EAC154-94DA-4256-A2F6-51DEB1747429}"/>
              </a:ext>
            </a:extLst>
          </p:cNvPr>
          <p:cNvSpPr txBox="1">
            <a:spLocks/>
          </p:cNvSpPr>
          <p:nvPr/>
        </p:nvSpPr>
        <p:spPr>
          <a:xfrm>
            <a:off x="457200" y="914927"/>
            <a:ext cx="8229600" cy="40276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r>
              <a:rPr lang="en-US" sz="1600" b="1" dirty="0">
                <a:solidFill>
                  <a:srgbClr val="007FA3"/>
                </a:solidFill>
              </a:rPr>
              <a:t>1.3</a:t>
            </a:r>
            <a:r>
              <a:rPr lang="en-US" sz="1600" dirty="0">
                <a:solidFill>
                  <a:srgbClr val="007FA3"/>
                </a:solidFill>
              </a:rPr>
              <a:t> Describe the agile methodologies, eXtreme Programming, and Scrum</a:t>
            </a:r>
          </a:p>
          <a:p>
            <a:endParaRPr lang="en-US" dirty="0"/>
          </a:p>
        </p:txBody>
      </p:sp>
      <p:sp>
        <p:nvSpPr>
          <p:cNvPr id="3" name="Content Placeholder 2">
            <a:extLst>
              <a:ext uri="{FF2B5EF4-FFF2-40B4-BE49-F238E27FC236}">
                <a16:creationId xmlns:a16="http://schemas.microsoft.com/office/drawing/2014/main" id="{26C30B26-B4A4-4BD8-81A5-37C09D752FFA}"/>
              </a:ext>
            </a:extLst>
          </p:cNvPr>
          <p:cNvSpPr>
            <a:spLocks noGrp="1"/>
          </p:cNvSpPr>
          <p:nvPr>
            <p:ph sz="quarter" idx="13"/>
          </p:nvPr>
        </p:nvSpPr>
        <p:spPr>
          <a:xfrm>
            <a:off x="457200" y="1377170"/>
            <a:ext cx="8229600" cy="4405321"/>
          </a:xfrm>
        </p:spPr>
        <p:txBody>
          <a:bodyPr/>
          <a:lstStyle/>
          <a:p>
            <a:pPr lvl="1"/>
            <a:r>
              <a:rPr lang="en-US" sz="2400" dirty="0"/>
              <a:t>At the end of the sprint, two additional meetings</a:t>
            </a:r>
          </a:p>
          <a:p>
            <a:pPr lvl="2"/>
            <a:r>
              <a:rPr lang="en-US" sz="2000" dirty="0">
                <a:solidFill>
                  <a:srgbClr val="7030A0"/>
                </a:solidFill>
              </a:rPr>
              <a:t>The Sprint Review</a:t>
            </a:r>
            <a:r>
              <a:rPr lang="en-US" sz="2000" dirty="0"/>
              <a:t>: (4 hours) focusing on the product, what has been accomplished, and what needs to be done</a:t>
            </a:r>
          </a:p>
          <a:p>
            <a:pPr lvl="2"/>
            <a:r>
              <a:rPr lang="en-US" sz="2000" dirty="0">
                <a:solidFill>
                  <a:srgbClr val="7030A0"/>
                </a:solidFill>
              </a:rPr>
              <a:t>The Sprint Retrospective</a:t>
            </a:r>
            <a:r>
              <a:rPr lang="en-US" sz="2000" dirty="0"/>
              <a:t>: (3 hours) focusing on team performance and how it can improve</a:t>
            </a:r>
          </a:p>
          <a:p>
            <a:pPr lvl="1"/>
            <a:r>
              <a:rPr lang="en-US" sz="2400" dirty="0"/>
              <a:t>Three primary artifacts in the Scrum process</a:t>
            </a:r>
          </a:p>
          <a:p>
            <a:pPr marL="1473200" lvl="2" indent="-457200">
              <a:buFont typeface="+mj-lt"/>
              <a:buAutoNum type="arabicPeriod"/>
            </a:pPr>
            <a:r>
              <a:rPr lang="en-US" sz="2000" dirty="0">
                <a:solidFill>
                  <a:srgbClr val="7030A0"/>
                </a:solidFill>
              </a:rPr>
              <a:t>Product Backlog</a:t>
            </a:r>
            <a:r>
              <a:rPr lang="en-US" sz="2000" dirty="0"/>
              <a:t>: Listing of potential requirements</a:t>
            </a:r>
          </a:p>
          <a:p>
            <a:pPr marL="1473200" lvl="2" indent="-457200">
              <a:buFont typeface="+mj-lt"/>
              <a:buAutoNum type="arabicPeriod"/>
            </a:pPr>
            <a:r>
              <a:rPr lang="en-US" sz="2000" dirty="0">
                <a:solidFill>
                  <a:srgbClr val="7030A0"/>
                </a:solidFill>
              </a:rPr>
              <a:t>Sprint Backlog</a:t>
            </a:r>
            <a:r>
              <a:rPr lang="en-US" sz="2000" dirty="0"/>
              <a:t>: Listing of only items to be addressed in a particular sprint</a:t>
            </a:r>
          </a:p>
          <a:p>
            <a:pPr marL="1473200" lvl="2" indent="-457200">
              <a:buFont typeface="+mj-lt"/>
              <a:buAutoNum type="arabicPeriod"/>
            </a:pPr>
            <a:r>
              <a:rPr lang="en-US" sz="2000" dirty="0">
                <a:solidFill>
                  <a:srgbClr val="7030A0"/>
                </a:solidFill>
              </a:rPr>
              <a:t>Increment</a:t>
            </a:r>
            <a:r>
              <a:rPr lang="en-US" sz="2000" dirty="0"/>
              <a:t>: Represents the sum of all the Product Backlog items completed during a sprint.</a:t>
            </a:r>
          </a:p>
        </p:txBody>
      </p:sp>
    </p:spTree>
    <p:extLst>
      <p:ext uri="{BB962C8B-B14F-4D97-AF65-F5344CB8AC3E}">
        <p14:creationId xmlns:p14="http://schemas.microsoft.com/office/powerpoint/2010/main" val="13035454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08E928-D0C4-4C95-A1CB-8B8089BA9760}"/>
              </a:ext>
            </a:extLst>
          </p:cNvPr>
          <p:cNvSpPr>
            <a:spLocks noGrp="1"/>
          </p:cNvSpPr>
          <p:nvPr>
            <p:ph type="title"/>
          </p:nvPr>
        </p:nvSpPr>
        <p:spPr>
          <a:xfrm>
            <a:off x="457200" y="215372"/>
            <a:ext cx="8229600" cy="742572"/>
          </a:xfrm>
        </p:spPr>
        <p:txBody>
          <a:bodyPr/>
          <a:lstStyle/>
          <a:p>
            <a:r>
              <a:rPr lang="en-US" dirty="0">
                <a:cs typeface="Calibri" panose="020F0502020204030204" pitchFamily="34" charset="0"/>
              </a:rPr>
              <a:t>Agile in Practice</a:t>
            </a:r>
            <a:endParaRPr lang="en-US" sz="2000" dirty="0"/>
          </a:p>
        </p:txBody>
      </p:sp>
      <p:sp>
        <p:nvSpPr>
          <p:cNvPr id="10" name="Text Placeholder 2">
            <a:extLst>
              <a:ext uri="{FF2B5EF4-FFF2-40B4-BE49-F238E27FC236}">
                <a16:creationId xmlns:a16="http://schemas.microsoft.com/office/drawing/2014/main" id="{E3EAC154-94DA-4256-A2F6-51DEB1747429}"/>
              </a:ext>
            </a:extLst>
          </p:cNvPr>
          <p:cNvSpPr txBox="1">
            <a:spLocks/>
          </p:cNvSpPr>
          <p:nvPr/>
        </p:nvSpPr>
        <p:spPr>
          <a:xfrm>
            <a:off x="457200" y="991125"/>
            <a:ext cx="8229600" cy="40276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r>
              <a:rPr lang="en-US" sz="1600" b="1" dirty="0">
                <a:solidFill>
                  <a:srgbClr val="007FA3"/>
                </a:solidFill>
              </a:rPr>
              <a:t>1.3</a:t>
            </a:r>
            <a:r>
              <a:rPr lang="en-US" sz="1600" dirty="0">
                <a:solidFill>
                  <a:srgbClr val="007FA3"/>
                </a:solidFill>
              </a:rPr>
              <a:t> Describe the agile methodologies, eXtreme Programming, and Scrum</a:t>
            </a:r>
          </a:p>
          <a:p>
            <a:endParaRPr lang="en-US" dirty="0"/>
          </a:p>
        </p:txBody>
      </p:sp>
      <p:sp>
        <p:nvSpPr>
          <p:cNvPr id="3" name="Content Placeholder 2">
            <a:extLst>
              <a:ext uri="{FF2B5EF4-FFF2-40B4-BE49-F238E27FC236}">
                <a16:creationId xmlns:a16="http://schemas.microsoft.com/office/drawing/2014/main" id="{26C30B26-B4A4-4BD8-81A5-37C09D752FFA}"/>
              </a:ext>
            </a:extLst>
          </p:cNvPr>
          <p:cNvSpPr>
            <a:spLocks noGrp="1"/>
          </p:cNvSpPr>
          <p:nvPr>
            <p:ph sz="quarter" idx="13"/>
          </p:nvPr>
        </p:nvSpPr>
        <p:spPr>
          <a:xfrm>
            <a:off x="457200" y="1529571"/>
            <a:ext cx="8229600" cy="4577315"/>
          </a:xfrm>
        </p:spPr>
        <p:txBody>
          <a:bodyPr/>
          <a:lstStyle/>
          <a:p>
            <a:r>
              <a:rPr lang="en-US" sz="2800" dirty="0"/>
              <a:t>Three primary factors critical for success</a:t>
            </a:r>
          </a:p>
          <a:p>
            <a:pPr lvl="1"/>
            <a:r>
              <a:rPr lang="en-US" sz="2400" dirty="0">
                <a:solidFill>
                  <a:srgbClr val="7030A0"/>
                </a:solidFill>
              </a:rPr>
              <a:t>Delivery strategy</a:t>
            </a:r>
            <a:r>
              <a:rPr lang="en-US" sz="2400" dirty="0"/>
              <a:t>: Continuous delivery of working software in short time scales</a:t>
            </a:r>
          </a:p>
          <a:p>
            <a:pPr lvl="1"/>
            <a:r>
              <a:rPr lang="en-US" sz="2400" dirty="0"/>
              <a:t>Following </a:t>
            </a:r>
            <a:r>
              <a:rPr lang="en-US" sz="2400" dirty="0">
                <a:solidFill>
                  <a:srgbClr val="7030A0"/>
                </a:solidFill>
              </a:rPr>
              <a:t>agile </a:t>
            </a:r>
            <a:r>
              <a:rPr lang="en-US" sz="2400" dirty="0"/>
              <a:t>software engineering </a:t>
            </a:r>
            <a:r>
              <a:rPr lang="en-US" sz="2400" dirty="0">
                <a:solidFill>
                  <a:srgbClr val="7030A0"/>
                </a:solidFill>
              </a:rPr>
              <a:t>practices</a:t>
            </a:r>
          </a:p>
          <a:p>
            <a:pPr lvl="1"/>
            <a:r>
              <a:rPr lang="en-US" sz="2400" dirty="0">
                <a:solidFill>
                  <a:srgbClr val="7030A0"/>
                </a:solidFill>
              </a:rPr>
              <a:t>Team capability</a:t>
            </a:r>
            <a:r>
              <a:rPr lang="en-US" sz="2400" dirty="0"/>
              <a:t>: Agile principle of building projects around motivated individuals</a:t>
            </a:r>
          </a:p>
          <a:p>
            <a:r>
              <a:rPr lang="en-US" sz="2800" dirty="0"/>
              <a:t>Agile development offers managers and programmers more choice in their efforts to produce good systems that come in on time and under budget</a:t>
            </a:r>
          </a:p>
        </p:txBody>
      </p:sp>
    </p:spTree>
    <p:extLst>
      <p:ext uri="{BB962C8B-B14F-4D97-AF65-F5344CB8AC3E}">
        <p14:creationId xmlns:p14="http://schemas.microsoft.com/office/powerpoint/2010/main" val="4005867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08E928-D0C4-4C95-A1CB-8B8089BA9760}"/>
              </a:ext>
            </a:extLst>
          </p:cNvPr>
          <p:cNvSpPr>
            <a:spLocks noGrp="1"/>
          </p:cNvSpPr>
          <p:nvPr>
            <p:ph type="title"/>
          </p:nvPr>
        </p:nvSpPr>
        <p:spPr>
          <a:xfrm>
            <a:off x="457200" y="215371"/>
            <a:ext cx="8229600" cy="1097279"/>
          </a:xfrm>
        </p:spPr>
        <p:txBody>
          <a:bodyPr/>
          <a:lstStyle/>
          <a:p>
            <a:r>
              <a:rPr lang="en-US" dirty="0">
                <a:cs typeface="Calibri" panose="020F0502020204030204" pitchFamily="34" charset="0"/>
              </a:rPr>
              <a:t>Object-Oriented Analysis and Design (OOAD)</a:t>
            </a:r>
            <a:endParaRPr lang="en-US" sz="2000" dirty="0"/>
          </a:p>
        </p:txBody>
      </p:sp>
      <p:sp>
        <p:nvSpPr>
          <p:cNvPr id="10" name="Text Placeholder 2">
            <a:extLst>
              <a:ext uri="{FF2B5EF4-FFF2-40B4-BE49-F238E27FC236}">
                <a16:creationId xmlns:a16="http://schemas.microsoft.com/office/drawing/2014/main" id="{E3EAC154-94DA-4256-A2F6-51DEB1747429}"/>
              </a:ext>
            </a:extLst>
          </p:cNvPr>
          <p:cNvSpPr txBox="1">
            <a:spLocks/>
          </p:cNvSpPr>
          <p:nvPr/>
        </p:nvSpPr>
        <p:spPr>
          <a:xfrm>
            <a:off x="457200" y="1350353"/>
            <a:ext cx="8229600" cy="40276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r>
              <a:rPr lang="en-US" sz="1600" b="1" dirty="0">
                <a:solidFill>
                  <a:srgbClr val="007FA3"/>
                </a:solidFill>
              </a:rPr>
              <a:t>1.4 </a:t>
            </a:r>
            <a:r>
              <a:rPr lang="en-US" sz="1600" dirty="0">
                <a:solidFill>
                  <a:srgbClr val="007FA3"/>
                </a:solidFill>
              </a:rPr>
              <a:t>Explain object-oriented analysis and design and the Rational Unified Process (RUP)</a:t>
            </a:r>
          </a:p>
          <a:p>
            <a:endParaRPr lang="en-US" dirty="0"/>
          </a:p>
        </p:txBody>
      </p:sp>
      <p:sp>
        <p:nvSpPr>
          <p:cNvPr id="3" name="Content Placeholder 2">
            <a:extLst>
              <a:ext uri="{FF2B5EF4-FFF2-40B4-BE49-F238E27FC236}">
                <a16:creationId xmlns:a16="http://schemas.microsoft.com/office/drawing/2014/main" id="{26C30B26-B4A4-4BD8-81A5-37C09D752FFA}"/>
              </a:ext>
            </a:extLst>
          </p:cNvPr>
          <p:cNvSpPr>
            <a:spLocks noGrp="1"/>
          </p:cNvSpPr>
          <p:nvPr>
            <p:ph sz="quarter" idx="13"/>
          </p:nvPr>
        </p:nvSpPr>
        <p:spPr>
          <a:xfrm>
            <a:off x="457200" y="1856140"/>
            <a:ext cx="8229600" cy="4405321"/>
          </a:xfrm>
        </p:spPr>
        <p:txBody>
          <a:bodyPr/>
          <a:lstStyle/>
          <a:p>
            <a:r>
              <a:rPr lang="en-US" sz="2400" dirty="0"/>
              <a:t>Based on </a:t>
            </a:r>
            <a:r>
              <a:rPr lang="en-US" sz="2400" b="1" dirty="0">
                <a:solidFill>
                  <a:srgbClr val="7030A0"/>
                </a:solidFill>
              </a:rPr>
              <a:t>objects</a:t>
            </a:r>
            <a:r>
              <a:rPr lang="en-US" sz="2400" dirty="0"/>
              <a:t> rather than data or processes</a:t>
            </a:r>
          </a:p>
          <a:p>
            <a:r>
              <a:rPr lang="en-US" sz="2400" dirty="0"/>
              <a:t>Combines data and processes (called </a:t>
            </a:r>
            <a:r>
              <a:rPr lang="en-US" sz="2400" i="1" dirty="0"/>
              <a:t>methods</a:t>
            </a:r>
            <a:r>
              <a:rPr lang="en-US" sz="2400" dirty="0"/>
              <a:t>) into single entities call objects</a:t>
            </a:r>
          </a:p>
          <a:p>
            <a:r>
              <a:rPr lang="en-US" sz="2400" b="1" dirty="0">
                <a:solidFill>
                  <a:srgbClr val="007FA3"/>
                </a:solidFill>
              </a:rPr>
              <a:t>Object</a:t>
            </a:r>
            <a:r>
              <a:rPr lang="en-US" sz="2400" dirty="0"/>
              <a:t>: A structure that encapsulates attributes and methods that operate on those attributes</a:t>
            </a:r>
          </a:p>
          <a:p>
            <a:r>
              <a:rPr lang="en-US" sz="2400" b="1" dirty="0">
                <a:solidFill>
                  <a:srgbClr val="007FA3"/>
                </a:solidFill>
              </a:rPr>
              <a:t>Inheritance</a:t>
            </a:r>
            <a:r>
              <a:rPr lang="en-US" sz="2400" dirty="0"/>
              <a:t>: Hierarchical arrangement of classes enabling subclasses to inherit properties of superclasses</a:t>
            </a:r>
          </a:p>
          <a:p>
            <a:r>
              <a:rPr lang="en-US" sz="2400" b="1" dirty="0">
                <a:solidFill>
                  <a:srgbClr val="007FA3"/>
                </a:solidFill>
              </a:rPr>
              <a:t>Object</a:t>
            </a:r>
            <a:r>
              <a:rPr lang="en-US" sz="2400" b="1" dirty="0"/>
              <a:t> </a:t>
            </a:r>
            <a:r>
              <a:rPr lang="en-US" sz="2400" b="1" dirty="0">
                <a:solidFill>
                  <a:srgbClr val="007FA3"/>
                </a:solidFill>
              </a:rPr>
              <a:t>Class</a:t>
            </a:r>
            <a:r>
              <a:rPr lang="en-US" sz="2400" dirty="0"/>
              <a:t>: Logical grouping of objects that have the same attributes and behaviors</a:t>
            </a:r>
          </a:p>
          <a:p>
            <a:endParaRPr lang="en-US" sz="2800" dirty="0"/>
          </a:p>
          <a:p>
            <a:endParaRPr lang="en-US" sz="2800" dirty="0"/>
          </a:p>
        </p:txBody>
      </p:sp>
    </p:spTree>
    <p:extLst>
      <p:ext uri="{BB962C8B-B14F-4D97-AF65-F5344CB8AC3E}">
        <p14:creationId xmlns:p14="http://schemas.microsoft.com/office/powerpoint/2010/main" val="31501977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08E928-D0C4-4C95-A1CB-8B8089BA9760}"/>
              </a:ext>
            </a:extLst>
          </p:cNvPr>
          <p:cNvSpPr>
            <a:spLocks noGrp="1"/>
          </p:cNvSpPr>
          <p:nvPr>
            <p:ph type="title"/>
          </p:nvPr>
        </p:nvSpPr>
        <p:spPr>
          <a:xfrm>
            <a:off x="457200" y="215372"/>
            <a:ext cx="8229600" cy="753458"/>
          </a:xfrm>
        </p:spPr>
        <p:txBody>
          <a:bodyPr/>
          <a:lstStyle/>
          <a:p>
            <a:r>
              <a:rPr lang="en-US" dirty="0">
                <a:cs typeface="Calibri" panose="020F0502020204030204" pitchFamily="34" charset="0"/>
              </a:rPr>
              <a:t>Relational Unified Process (RUP)</a:t>
            </a:r>
            <a:endParaRPr lang="en-US" sz="2000" dirty="0"/>
          </a:p>
        </p:txBody>
      </p:sp>
      <p:sp>
        <p:nvSpPr>
          <p:cNvPr id="10" name="Text Placeholder 2">
            <a:extLst>
              <a:ext uri="{FF2B5EF4-FFF2-40B4-BE49-F238E27FC236}">
                <a16:creationId xmlns:a16="http://schemas.microsoft.com/office/drawing/2014/main" id="{E3EAC154-94DA-4256-A2F6-51DEB1747429}"/>
              </a:ext>
            </a:extLst>
          </p:cNvPr>
          <p:cNvSpPr txBox="1">
            <a:spLocks/>
          </p:cNvSpPr>
          <p:nvPr/>
        </p:nvSpPr>
        <p:spPr>
          <a:xfrm>
            <a:off x="457200" y="991121"/>
            <a:ext cx="8229600" cy="40276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r>
              <a:rPr lang="en-US" sz="1600" b="1" dirty="0">
                <a:solidFill>
                  <a:srgbClr val="007FA3"/>
                </a:solidFill>
              </a:rPr>
              <a:t>1.4 </a:t>
            </a:r>
            <a:r>
              <a:rPr lang="en-US" sz="1600" dirty="0">
                <a:solidFill>
                  <a:srgbClr val="007FA3"/>
                </a:solidFill>
              </a:rPr>
              <a:t>Explain object-oriented analysis and design and the Rational Unified Process (RUP)</a:t>
            </a:r>
          </a:p>
          <a:p>
            <a:endParaRPr lang="en-US" dirty="0"/>
          </a:p>
        </p:txBody>
      </p:sp>
      <p:sp>
        <p:nvSpPr>
          <p:cNvPr id="3" name="Content Placeholder 2">
            <a:extLst>
              <a:ext uri="{FF2B5EF4-FFF2-40B4-BE49-F238E27FC236}">
                <a16:creationId xmlns:a16="http://schemas.microsoft.com/office/drawing/2014/main" id="{26C30B26-B4A4-4BD8-81A5-37C09D752FFA}"/>
              </a:ext>
            </a:extLst>
          </p:cNvPr>
          <p:cNvSpPr>
            <a:spLocks noGrp="1"/>
          </p:cNvSpPr>
          <p:nvPr>
            <p:ph sz="quarter" idx="13"/>
          </p:nvPr>
        </p:nvSpPr>
        <p:spPr>
          <a:xfrm>
            <a:off x="457200" y="1518684"/>
            <a:ext cx="8229600" cy="4405321"/>
          </a:xfrm>
        </p:spPr>
        <p:txBody>
          <a:bodyPr/>
          <a:lstStyle/>
          <a:p>
            <a:r>
              <a:rPr lang="en-US" sz="2800" b="1" dirty="0">
                <a:solidFill>
                  <a:srgbClr val="007FA3"/>
                </a:solidFill>
              </a:rPr>
              <a:t>Relational Unified Process (RUP)</a:t>
            </a:r>
            <a:r>
              <a:rPr lang="en-US" sz="2800" dirty="0">
                <a:solidFill>
                  <a:srgbClr val="007FA3"/>
                </a:solidFill>
              </a:rPr>
              <a:t> </a:t>
            </a:r>
            <a:r>
              <a:rPr lang="en-US" sz="2800" dirty="0"/>
              <a:t>is an object-oriented systems development methodology</a:t>
            </a:r>
          </a:p>
          <a:p>
            <a:r>
              <a:rPr lang="en-US" sz="2800" dirty="0"/>
              <a:t>Based on an iterative, incremental approach to systems development</a:t>
            </a:r>
          </a:p>
          <a:p>
            <a:r>
              <a:rPr lang="en-US" sz="2800" dirty="0"/>
              <a:t>RUPs four phases (each can be further divided)</a:t>
            </a:r>
          </a:p>
          <a:p>
            <a:pPr lvl="1"/>
            <a:r>
              <a:rPr lang="en-US" sz="2400" dirty="0"/>
              <a:t>Inception</a:t>
            </a:r>
          </a:p>
          <a:p>
            <a:pPr lvl="1"/>
            <a:r>
              <a:rPr lang="en-US" sz="2400" dirty="0"/>
              <a:t>Elaboration </a:t>
            </a:r>
          </a:p>
          <a:p>
            <a:pPr lvl="1"/>
            <a:r>
              <a:rPr lang="en-US" sz="2400" dirty="0"/>
              <a:t>Construction</a:t>
            </a:r>
          </a:p>
          <a:p>
            <a:pPr lvl="1"/>
            <a:r>
              <a:rPr lang="en-US" sz="2400" dirty="0"/>
              <a:t>Transition</a:t>
            </a:r>
          </a:p>
          <a:p>
            <a:endParaRPr lang="en-US" sz="2800" dirty="0"/>
          </a:p>
          <a:p>
            <a:endParaRPr lang="en-US" sz="2800" dirty="0"/>
          </a:p>
        </p:txBody>
      </p:sp>
    </p:spTree>
    <p:extLst>
      <p:ext uri="{BB962C8B-B14F-4D97-AF65-F5344CB8AC3E}">
        <p14:creationId xmlns:p14="http://schemas.microsoft.com/office/powerpoint/2010/main" val="30435959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669CF-99CC-492C-969E-531852BA94E7}"/>
              </a:ext>
            </a:extLst>
          </p:cNvPr>
          <p:cNvSpPr>
            <a:spLocks noGrp="1"/>
          </p:cNvSpPr>
          <p:nvPr>
            <p:ph type="title"/>
          </p:nvPr>
        </p:nvSpPr>
        <p:spPr/>
        <p:txBody>
          <a:bodyPr/>
          <a:lstStyle/>
          <a:p>
            <a:r>
              <a:rPr lang="en-US" dirty="0"/>
              <a:t>Figure 1-9: Phases of OOAD-Based Development</a:t>
            </a:r>
          </a:p>
        </p:txBody>
      </p:sp>
      <p:pic>
        <p:nvPicPr>
          <p:cNvPr id="6" name="Content Placeholder 5">
            <a:extLst>
              <a:ext uri="{FF2B5EF4-FFF2-40B4-BE49-F238E27FC236}">
                <a16:creationId xmlns:a16="http://schemas.microsoft.com/office/drawing/2014/main" id="{FCD969E6-DA15-41A1-B0CF-9B351B7C61C8}"/>
              </a:ext>
            </a:extLst>
          </p:cNvPr>
          <p:cNvPicPr>
            <a:picLocks noGrp="1" noChangeAspect="1"/>
          </p:cNvPicPr>
          <p:nvPr>
            <p:ph sz="quarter" idx="13"/>
          </p:nvPr>
        </p:nvPicPr>
        <p:blipFill>
          <a:blip r:embed="rId2"/>
          <a:stretch>
            <a:fillRect/>
          </a:stretch>
        </p:blipFill>
        <p:spPr>
          <a:xfrm>
            <a:off x="2022463" y="1481138"/>
            <a:ext cx="5099074" cy="3900487"/>
          </a:xfrm>
        </p:spPr>
      </p:pic>
      <p:sp>
        <p:nvSpPr>
          <p:cNvPr id="4" name="Text Placeholder 3">
            <a:extLst>
              <a:ext uri="{FF2B5EF4-FFF2-40B4-BE49-F238E27FC236}">
                <a16:creationId xmlns:a16="http://schemas.microsoft.com/office/drawing/2014/main" id="{6F3F1140-8640-40E6-AD97-C8090ABA95E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2865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08E928-D0C4-4C95-A1CB-8B8089BA9760}"/>
              </a:ext>
            </a:extLst>
          </p:cNvPr>
          <p:cNvSpPr>
            <a:spLocks noGrp="1"/>
          </p:cNvSpPr>
          <p:nvPr>
            <p:ph type="title"/>
          </p:nvPr>
        </p:nvSpPr>
        <p:spPr>
          <a:xfrm>
            <a:off x="457200" y="215371"/>
            <a:ext cx="8229600" cy="1097279"/>
          </a:xfrm>
        </p:spPr>
        <p:txBody>
          <a:bodyPr/>
          <a:lstStyle/>
          <a:p>
            <a:r>
              <a:rPr lang="en-US" dirty="0">
                <a:cs typeface="Calibri" panose="020F0502020204030204" pitchFamily="34" charset="0"/>
              </a:rPr>
              <a:t>Our Approach to Systems Development</a:t>
            </a:r>
            <a:endParaRPr lang="en-US" sz="2000" dirty="0"/>
          </a:p>
        </p:txBody>
      </p:sp>
      <p:sp>
        <p:nvSpPr>
          <p:cNvPr id="10" name="Text Placeholder 2">
            <a:extLst>
              <a:ext uri="{FF2B5EF4-FFF2-40B4-BE49-F238E27FC236}">
                <a16:creationId xmlns:a16="http://schemas.microsoft.com/office/drawing/2014/main" id="{E3EAC154-94DA-4256-A2F6-51DEB1747429}"/>
              </a:ext>
            </a:extLst>
          </p:cNvPr>
          <p:cNvSpPr txBox="1">
            <a:spLocks/>
          </p:cNvSpPr>
          <p:nvPr/>
        </p:nvSpPr>
        <p:spPr>
          <a:xfrm>
            <a:off x="457200" y="1426555"/>
            <a:ext cx="8229600" cy="40276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r>
              <a:rPr lang="en-US" sz="1600" b="1" dirty="0">
                <a:solidFill>
                  <a:srgbClr val="007FA3"/>
                </a:solidFill>
              </a:rPr>
              <a:t>1.4 </a:t>
            </a:r>
            <a:r>
              <a:rPr lang="en-US" sz="1600" dirty="0">
                <a:solidFill>
                  <a:srgbClr val="007FA3"/>
                </a:solidFill>
              </a:rPr>
              <a:t>Explain object-oriented analysis and design and the Rational Unified Process (RUP)</a:t>
            </a:r>
          </a:p>
          <a:p>
            <a:endParaRPr lang="en-US" dirty="0"/>
          </a:p>
        </p:txBody>
      </p:sp>
      <p:sp>
        <p:nvSpPr>
          <p:cNvPr id="3" name="Content Placeholder 2">
            <a:extLst>
              <a:ext uri="{FF2B5EF4-FFF2-40B4-BE49-F238E27FC236}">
                <a16:creationId xmlns:a16="http://schemas.microsoft.com/office/drawing/2014/main" id="{26C30B26-B4A4-4BD8-81A5-37C09D752FFA}"/>
              </a:ext>
            </a:extLst>
          </p:cNvPr>
          <p:cNvSpPr>
            <a:spLocks noGrp="1"/>
          </p:cNvSpPr>
          <p:nvPr>
            <p:ph sz="quarter" idx="13"/>
          </p:nvPr>
        </p:nvSpPr>
        <p:spPr>
          <a:xfrm>
            <a:off x="457200" y="1943228"/>
            <a:ext cx="8229600" cy="4405321"/>
          </a:xfrm>
        </p:spPr>
        <p:txBody>
          <a:bodyPr/>
          <a:lstStyle/>
          <a:p>
            <a:r>
              <a:rPr lang="en-US" sz="2800" dirty="0"/>
              <a:t>Criticisms of the SDLC include</a:t>
            </a:r>
          </a:p>
          <a:p>
            <a:pPr lvl="1"/>
            <a:r>
              <a:rPr lang="en-US" sz="2400" dirty="0">
                <a:solidFill>
                  <a:srgbClr val="7030A0"/>
                </a:solidFill>
              </a:rPr>
              <a:t>Forced timed phases </a:t>
            </a:r>
            <a:r>
              <a:rPr lang="en-US" sz="2400" dirty="0"/>
              <a:t>on intangible and dynamic processes were doomed to fail</a:t>
            </a:r>
          </a:p>
          <a:p>
            <a:pPr lvl="1"/>
            <a:r>
              <a:rPr lang="en-US" sz="2400" dirty="0"/>
              <a:t>Life-cycle reliance has resulted in </a:t>
            </a:r>
            <a:r>
              <a:rPr lang="en-US" sz="2400" dirty="0">
                <a:solidFill>
                  <a:srgbClr val="7030A0"/>
                </a:solidFill>
              </a:rPr>
              <a:t>massive </a:t>
            </a:r>
            <a:r>
              <a:rPr lang="en-US" sz="2400" dirty="0"/>
              <a:t>amounts of </a:t>
            </a:r>
            <a:r>
              <a:rPr lang="en-US" sz="2400" dirty="0">
                <a:solidFill>
                  <a:srgbClr val="7030A0"/>
                </a:solidFill>
              </a:rPr>
              <a:t>process and documentation</a:t>
            </a:r>
          </a:p>
          <a:p>
            <a:pPr lvl="1"/>
            <a:r>
              <a:rPr lang="en-US" sz="2400" dirty="0"/>
              <a:t>Cycles are not necessarily waterfalls</a:t>
            </a:r>
          </a:p>
          <a:p>
            <a:endParaRPr lang="en-US" sz="2800" dirty="0"/>
          </a:p>
        </p:txBody>
      </p:sp>
    </p:spTree>
    <p:extLst>
      <p:ext uri="{BB962C8B-B14F-4D97-AF65-F5344CB8AC3E}">
        <p14:creationId xmlns:p14="http://schemas.microsoft.com/office/powerpoint/2010/main" val="18981723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6E049-7427-4606-8C30-689E8F3555FC}"/>
              </a:ext>
            </a:extLst>
          </p:cNvPr>
          <p:cNvSpPr>
            <a:spLocks noGrp="1"/>
          </p:cNvSpPr>
          <p:nvPr>
            <p:ph type="title"/>
          </p:nvPr>
        </p:nvSpPr>
        <p:spPr>
          <a:xfrm>
            <a:off x="457200" y="215372"/>
            <a:ext cx="8229600" cy="720800"/>
          </a:xfrm>
        </p:spPr>
        <p:txBody>
          <a:bodyPr/>
          <a:lstStyle/>
          <a:p>
            <a:r>
              <a:rPr lang="en-US" sz="3600" dirty="0">
                <a:latin typeface="+mj-lt"/>
              </a:rPr>
              <a:t>Summary</a:t>
            </a:r>
          </a:p>
        </p:txBody>
      </p:sp>
      <p:sp>
        <p:nvSpPr>
          <p:cNvPr id="3" name="Text Placeholder 2">
            <a:extLst>
              <a:ext uri="{FF2B5EF4-FFF2-40B4-BE49-F238E27FC236}">
                <a16:creationId xmlns:a16="http://schemas.microsoft.com/office/drawing/2014/main" id="{CC4E876A-FFAC-4759-ACB3-A4D811F4F11E}"/>
              </a:ext>
            </a:extLst>
          </p:cNvPr>
          <p:cNvSpPr>
            <a:spLocks noGrp="1"/>
          </p:cNvSpPr>
          <p:nvPr>
            <p:ph type="body" idx="1"/>
          </p:nvPr>
        </p:nvSpPr>
        <p:spPr>
          <a:xfrm>
            <a:off x="457200" y="1208314"/>
            <a:ext cx="8229600" cy="4525963"/>
          </a:xfrm>
        </p:spPr>
        <p:txBody>
          <a:bodyPr/>
          <a:lstStyle/>
          <a:p>
            <a:r>
              <a:rPr lang="en-US" sz="3200" dirty="0"/>
              <a:t>In this chapter you learned how to:</a:t>
            </a:r>
          </a:p>
          <a:p>
            <a:pPr lvl="1"/>
            <a:r>
              <a:rPr lang="en-US" sz="2800" dirty="0"/>
              <a:t>Define information systems analysis and design</a:t>
            </a:r>
          </a:p>
          <a:p>
            <a:pPr lvl="1"/>
            <a:r>
              <a:rPr lang="en-US" sz="2800" dirty="0"/>
              <a:t>Describe the information systems development life cycle (SDLC)</a:t>
            </a:r>
          </a:p>
          <a:p>
            <a:pPr lvl="1"/>
            <a:r>
              <a:rPr lang="en-US" sz="2800" dirty="0"/>
              <a:t>Describe Agile Methodologies, eXtreme Programming, and Scrum</a:t>
            </a:r>
          </a:p>
          <a:p>
            <a:pPr lvl="1"/>
            <a:r>
              <a:rPr lang="en-US" sz="2800" dirty="0"/>
              <a:t>Explain object-oriented analysis and design and the Relational Unified Process (RUP)</a:t>
            </a:r>
          </a:p>
        </p:txBody>
      </p:sp>
    </p:spTree>
    <p:extLst>
      <p:ext uri="{BB962C8B-B14F-4D97-AF65-F5344CB8AC3E}">
        <p14:creationId xmlns:p14="http://schemas.microsoft.com/office/powerpoint/2010/main" val="1417446068"/>
      </p:ext>
    </p:extLst>
  </p:cSld>
  <p:clrMapOvr>
    <a:masterClrMapping/>
  </p:clrMapOvr>
</p:sld>
</file>

<file path=ppt/theme/theme1.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9F6E20F3-750B-49B2-BE7D-C13A9C7D0782}" vid="{ADD31DD8-A34F-4747-B149-FFB7B6BEED24}"/>
    </a:ext>
  </a:extLst>
</a:theme>
</file>

<file path=ppt/theme/theme2.xml><?xml version="1.0" encoding="utf-8"?>
<a:theme xmlns:a="http://schemas.openxmlformats.org/drawingml/2006/main" name="508 Lecture">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9F6E20F3-750B-49B2-BE7D-C13A9C7D0782}" vid="{9AF50C20-58DA-48F3-BC4E-65866E886C9D}"/>
    </a:ext>
  </a:extLst>
</a:theme>
</file>

<file path=ppt/theme/theme3.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4.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Valacich Template</Template>
  <TotalTime>1850</TotalTime>
  <Words>2594</Words>
  <Application>Microsoft Office PowerPoint</Application>
  <PresentationFormat>On-screen Show (4:3)</PresentationFormat>
  <Paragraphs>279</Paragraphs>
  <Slides>39</Slides>
  <Notes>1</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39</vt:i4>
      </vt:variant>
    </vt:vector>
  </HeadingPairs>
  <TitlesOfParts>
    <vt:vector size="49" baseType="lpstr">
      <vt:lpstr>Arial</vt:lpstr>
      <vt:lpstr>Calibri</vt:lpstr>
      <vt:lpstr>Century Gothic</vt:lpstr>
      <vt:lpstr>Noto Sans Symbols</vt:lpstr>
      <vt:lpstr>Times New Roman</vt:lpstr>
      <vt:lpstr>Verdana</vt:lpstr>
      <vt:lpstr>Wingdings 3</vt:lpstr>
      <vt:lpstr>1_508 Lecture</vt:lpstr>
      <vt:lpstr>508 Lecture</vt:lpstr>
      <vt:lpstr>Wisp</vt:lpstr>
      <vt:lpstr> </vt:lpstr>
      <vt:lpstr>Learning Objectives</vt:lpstr>
      <vt:lpstr>Introduction</vt:lpstr>
      <vt:lpstr>Figure 1-1: An Organizational Approach to Systems Analysis and Design Is Driven by Methodologies, Techniques, and Tools</vt:lpstr>
      <vt:lpstr>A Modern Approach to Systems Analysis and Design (1 of 3) </vt:lpstr>
      <vt:lpstr>A Modern Approach to Systems Analysis and Design (2 of 3) </vt:lpstr>
      <vt:lpstr>A Modern Approach to Systems Analysis and Design (3 of 3) </vt:lpstr>
      <vt:lpstr>Developing Information Systems and the Systems Development Life Cycle </vt:lpstr>
      <vt:lpstr>Systems Development Life Cycle</vt:lpstr>
      <vt:lpstr>Figure 1-2: Systems Development Life Cycle</vt:lpstr>
      <vt:lpstr>Evolutionary Model</vt:lpstr>
      <vt:lpstr>Figure 1-3: Evolutionary Model</vt:lpstr>
      <vt:lpstr>Phases of the SDLC (1 of 3) </vt:lpstr>
      <vt:lpstr>Phases of the SDLC (2 of 3) </vt:lpstr>
      <vt:lpstr>Phases of the SDLC (3 of 3) </vt:lpstr>
      <vt:lpstr>Table 1-1: Products of SDLC Phases</vt:lpstr>
      <vt:lpstr>Analysis-Design-Code-Test Loop</vt:lpstr>
      <vt:lpstr>Figure 1-6: Analysis-Design-Code-Test Loop</vt:lpstr>
      <vt:lpstr>Heart of Systems Development</vt:lpstr>
      <vt:lpstr>Figure 1-7: Heart of Systems Development</vt:lpstr>
      <vt:lpstr>The SDLC Traditional Waterfall Problems</vt:lpstr>
      <vt:lpstr>Figure 1-8: Traditional Waterfall SDLC</vt:lpstr>
      <vt:lpstr>Agile Methodologies</vt:lpstr>
      <vt:lpstr>Table 1-2: The Agile Manifesto (1 of 3)</vt:lpstr>
      <vt:lpstr>Table 1-2: The Agile Manifesto (2 of 3)</vt:lpstr>
      <vt:lpstr>Table 1-2: The Agile Manifesto (3 of 3)</vt:lpstr>
      <vt:lpstr>Agile Methodologies—Not for Every Project</vt:lpstr>
      <vt:lpstr>Table 1-3: Five Critical Factors that Distinguish Agile and Traditional Approaches to System Development</vt:lpstr>
      <vt:lpstr>eXtreme Programming (1 of 2)</vt:lpstr>
      <vt:lpstr>eXtreme Programming (2 of 2)</vt:lpstr>
      <vt:lpstr>Scrum (1 of 3)</vt:lpstr>
      <vt:lpstr>Scrum (2 of 3)</vt:lpstr>
      <vt:lpstr>Scrum (3 of 3)</vt:lpstr>
      <vt:lpstr>Agile in Practice</vt:lpstr>
      <vt:lpstr>Object-Oriented Analysis and Design (OOAD)</vt:lpstr>
      <vt:lpstr>Relational Unified Process (RUP)</vt:lpstr>
      <vt:lpstr>Figure 1-9: Phases of OOAD-Based Development</vt:lpstr>
      <vt:lpstr>Our Approach to Systems Development</vt:lpstr>
      <vt:lpstr>Summary</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Systems Analysis and Design</dc:title>
  <dc:subject>Systems Analysis and Design</dc:subject>
  <dc:creator>Harold Wise</dc:creator>
  <cp:keywords/>
  <cp:lastModifiedBy>fazmidar</cp:lastModifiedBy>
  <cp:revision>121</cp:revision>
  <dcterms:created xsi:type="dcterms:W3CDTF">2018-12-06T04:01:35Z</dcterms:created>
  <dcterms:modified xsi:type="dcterms:W3CDTF">2022-10-11T05:19:40Z</dcterms:modified>
</cp:coreProperties>
</file>